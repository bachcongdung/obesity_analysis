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20"/>
  </p:notesMasterIdLst>
  <p:sldIdLst>
    <p:sldId id="256" r:id="rId2"/>
    <p:sldId id="257" r:id="rId3"/>
    <p:sldId id="258" r:id="rId4"/>
    <p:sldId id="259" r:id="rId5"/>
    <p:sldId id="268" r:id="rId6"/>
    <p:sldId id="260" r:id="rId7"/>
    <p:sldId id="269" r:id="rId8"/>
    <p:sldId id="270" r:id="rId9"/>
    <p:sldId id="271" r:id="rId10"/>
    <p:sldId id="272" r:id="rId11"/>
    <p:sldId id="262" r:id="rId12"/>
    <p:sldId id="263" r:id="rId13"/>
    <p:sldId id="273" r:id="rId14"/>
    <p:sldId id="274" r:id="rId15"/>
    <p:sldId id="264" r:id="rId16"/>
    <p:sldId id="265" r:id="rId17"/>
    <p:sldId id="266" r:id="rId18"/>
    <p:sldId id="267" r:id="rId19"/>
  </p:sldIdLst>
  <p:sldSz cx="18288000" cy="10287000"/>
  <p:notesSz cx="6858000" cy="9144000"/>
  <p:embeddedFontLst>
    <p:embeddedFont>
      <p:font typeface="Aileron Bold" panose="020B0604020202020204" charset="0"/>
      <p:regular r:id="rId21"/>
    </p:embeddedFont>
    <p:embeddedFont>
      <p:font typeface="Poppins" panose="00000500000000000000" pitchFamily="2" charset="0"/>
      <p:regular r:id="rId22"/>
      <p:bold r:id="rId23"/>
      <p:italic r:id="rId24"/>
      <p:boldItalic r:id="rId25"/>
    </p:embeddedFont>
    <p:embeddedFont>
      <p:font typeface="Poppins Bold" panose="00000800000000000000" charset="0"/>
      <p:regular r:id="rId26"/>
    </p:embeddedFont>
    <p:embeddedFont>
      <p:font typeface="Poppins Medium" panose="00000600000000000000" pitchFamily="2" charset="0"/>
      <p:regular r:id="rId27"/>
      <p:italic r:id="rId2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autoAdjust="0"/>
    <p:restoredTop sz="64443" autoAdjust="0"/>
  </p:normalViewPr>
  <p:slideViewPr>
    <p:cSldViewPr>
      <p:cViewPr>
        <p:scale>
          <a:sx n="50" d="100"/>
          <a:sy n="50" d="100"/>
        </p:scale>
        <p:origin x="1392" y="102"/>
      </p:cViewPr>
      <p:guideLst>
        <p:guide orient="horz" pos="2160"/>
        <p:guide pos="2880"/>
      </p:guideLst>
    </p:cSldViewPr>
  </p:slideViewPr>
  <p:outlineViewPr>
    <p:cViewPr>
      <p:scale>
        <a:sx n="33" d="100"/>
        <a:sy n="33" d="100"/>
      </p:scale>
      <p:origin x="0" y="0"/>
    </p:cViewPr>
  </p:outlineViewPr>
  <p:notesTextViewPr>
    <p:cViewPr>
      <p:scale>
        <a:sx n="125" d="100"/>
        <a:sy n="125"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6.fntdata"/><Relationship Id="rId3" Type="http://schemas.openxmlformats.org/officeDocument/2006/relationships/slide" Target="slides/slide2.xml"/><Relationship Id="rId21" Type="http://schemas.openxmlformats.org/officeDocument/2006/relationships/font" Target="fonts/font1.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5.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4.fntdata"/><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3.fntdata"/><Relationship Id="rId28" Type="http://schemas.openxmlformats.org/officeDocument/2006/relationships/font" Target="fonts/font8.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2.fntdata"/><Relationship Id="rId27" Type="http://schemas.openxmlformats.org/officeDocument/2006/relationships/font" Target="fonts/font7.fntdata"/><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1FCFA53-D771-4F45-B5E4-B5E20C8ABC1C}" type="datetimeFigureOut">
              <a:rPr lang="en-US" smtClean="0"/>
              <a:t>6/8/2026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7D68180-1FB7-4BAA-9E5C-24E7ABEFC190}" type="slidenum">
              <a:rPr lang="en-US" smtClean="0"/>
              <a:t>‹#›</a:t>
            </a:fld>
            <a:endParaRPr lang="en-US"/>
          </a:p>
        </p:txBody>
      </p:sp>
    </p:spTree>
    <p:extLst>
      <p:ext uri="{BB962C8B-B14F-4D97-AF65-F5344CB8AC3E}">
        <p14:creationId xmlns:p14="http://schemas.microsoft.com/office/powerpoint/2010/main" val="104122954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lvl="0" indent="0" algn="l">
              <a:lnSpc>
                <a:spcPts val="3212"/>
              </a:lnSpc>
              <a:spcBef>
                <a:spcPct val="0"/>
              </a:spcBef>
            </a:pPr>
            <a:r>
              <a:rPr lang="en-US" sz="1200" b="1" u="none" strike="noStrike">
                <a:solidFill>
                  <a:srgbClr val="0453B9"/>
                </a:solidFill>
                <a:latin typeface="Poppins Bold"/>
                <a:ea typeface="Poppins Bold"/>
                <a:cs typeface="Poppins Bold"/>
                <a:sym typeface="Poppins Bold"/>
              </a:rPr>
              <a:t>-Thực nghiệm trên 20,758 đối tượng từ tập dữ liệu chuẩn hóa Kaggle đã chỉ ra lỗ hổng chí mạng của chỉ số BMI truyền thống với tỷ lệ chẩn đoán sai lệch lên tới 35.34% (khoảng 7300 người).Công thức tính BMI  (Cân nặng / Chiều cao²) hoàn toàn “mù” trước việc phân biệt cơ-mỡ    </a:t>
            </a:r>
          </a:p>
          <a:p>
            <a:pPr marL="0" lvl="0" indent="0" algn="l">
              <a:lnSpc>
                <a:spcPts val="3212"/>
              </a:lnSpc>
              <a:spcBef>
                <a:spcPct val="0"/>
              </a:spcBef>
            </a:pPr>
            <a:r>
              <a:rPr lang="en-US" sz="1200" b="1" u="none" strike="noStrike">
                <a:solidFill>
                  <a:srgbClr val="0453B9"/>
                </a:solidFill>
                <a:latin typeface="Poppins Bold"/>
                <a:ea typeface="Poppins Bold"/>
                <a:cs typeface="Poppins Bold"/>
                <a:sym typeface="Poppins Bold"/>
              </a:rPr>
              <a:t> -Đặc biệt với những người béo phì độ 2-3 thì bmi cho kết quả sai lệch hoản toàn với thực tế</a:t>
            </a:r>
          </a:p>
        </p:txBody>
      </p:sp>
      <p:sp>
        <p:nvSpPr>
          <p:cNvPr id="4" name="Slide Number Placeholder 3"/>
          <p:cNvSpPr>
            <a:spLocks noGrp="1"/>
          </p:cNvSpPr>
          <p:nvPr>
            <p:ph type="sldNum" sz="quarter" idx="5"/>
          </p:nvPr>
        </p:nvSpPr>
        <p:spPr/>
        <p:txBody>
          <a:bodyPr/>
          <a:lstStyle/>
          <a:p>
            <a:fld id="{27D68180-1FB7-4BAA-9E5C-24E7ABEFC190}" type="slidenum">
              <a:rPr lang="en-US" smtClean="0"/>
              <a:t>3</a:t>
            </a:fld>
            <a:endParaRPr lang="en-US"/>
          </a:p>
        </p:txBody>
      </p:sp>
    </p:spTree>
    <p:extLst>
      <p:ext uri="{BB962C8B-B14F-4D97-AF65-F5344CB8AC3E}">
        <p14:creationId xmlns:p14="http://schemas.microsoft.com/office/powerpoint/2010/main" val="211991872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FAVC: Frequent consumption of high caloric food </a:t>
            </a:r>
            <a:r>
              <a:rPr lang="en-US" i="1"/>
              <a:t>- Có thường xuyên ăn thực phẩm nhiều calo không</a:t>
            </a:r>
          </a:p>
          <a:p>
            <a:pPr marL="171450" indent="-171450">
              <a:buFontTx/>
              <a:buChar char="-"/>
            </a:pPr>
            <a:r>
              <a:rPr lang="en-US"/>
              <a:t>FCVC: Frequency of consumption of vegetables </a:t>
            </a:r>
            <a:r>
              <a:rPr lang="en-US" i="1"/>
              <a:t>- Tần suất ăn rau trong bữa ăn. Giá trị càng cao nghĩa là ăn rau càng thường xuyên</a:t>
            </a:r>
          </a:p>
          <a:p>
            <a:pPr marL="171450" indent="-171450">
              <a:buFontTx/>
              <a:buChar char="-"/>
            </a:pPr>
            <a:r>
              <a:rPr lang="en-US"/>
              <a:t>NCP: Number of main meals </a:t>
            </a:r>
            <a:r>
              <a:rPr lang="en-US" i="1"/>
              <a:t>- Số bữa ăn chính trong ngày</a:t>
            </a:r>
          </a:p>
          <a:p>
            <a:pPr marL="171450" indent="-171450">
              <a:buFontTx/>
              <a:buChar char="-"/>
            </a:pPr>
            <a:r>
              <a:rPr lang="en-US"/>
              <a:t>CAEC: Consumption of food between meals </a:t>
            </a:r>
            <a:r>
              <a:rPr lang="en-US" i="1"/>
              <a:t>- Thói quen ăn vặt giữa các bữa</a:t>
            </a:r>
          </a:p>
          <a:p>
            <a:pPr marL="171450" indent="-171450">
              <a:buFontTx/>
              <a:buChar char="-"/>
            </a:pPr>
            <a:r>
              <a:rPr lang="en-US"/>
              <a:t>SMOKE: Smoking habit </a:t>
            </a:r>
            <a:r>
              <a:rPr lang="en-US" i="1"/>
              <a:t>- Có hút thuốc hay không</a:t>
            </a:r>
          </a:p>
          <a:p>
            <a:pPr marL="171450" indent="-171450">
              <a:buFontTx/>
              <a:buChar char="-"/>
            </a:pPr>
            <a:r>
              <a:rPr lang="en-US"/>
              <a:t>CH2O: Consumption of water daily </a:t>
            </a:r>
            <a:r>
              <a:rPr lang="en-US" i="1"/>
              <a:t>- Lượng nước uống hằng ngày. Giá trị càng cao nghĩa là uống nước nhiều hơn.</a:t>
            </a:r>
          </a:p>
          <a:p>
            <a:pPr marL="171450" indent="-171450">
              <a:buFontTx/>
              <a:buChar char="-"/>
            </a:pPr>
            <a:r>
              <a:rPr lang="en-US"/>
              <a:t>SCC: Calories consumption monitoring </a:t>
            </a:r>
            <a:r>
              <a:rPr lang="en-US" i="1"/>
              <a:t>- Có theo dõi/lưu ý lượng calo tiêu thụ không</a:t>
            </a:r>
          </a:p>
          <a:p>
            <a:pPr marL="171450" indent="-171450">
              <a:buFontTx/>
              <a:buChar char="-"/>
            </a:pPr>
            <a:r>
              <a:rPr lang="en-US"/>
              <a:t>FAF: Physical activity frequency </a:t>
            </a:r>
            <a:r>
              <a:rPr lang="en-US" i="1"/>
              <a:t>- Tần suất hoạt động thể chất, tập luyện. Giá trị càng cao nghĩa là vận động nhiều hơn</a:t>
            </a:r>
          </a:p>
          <a:p>
            <a:pPr marL="171450" indent="-171450">
              <a:buFontTx/>
              <a:buChar char="-"/>
            </a:pPr>
            <a:r>
              <a:rPr lang="en-US"/>
              <a:t>TUE: Time using technology devices </a:t>
            </a:r>
            <a:r>
              <a:rPr lang="en-US" i="1"/>
              <a:t>- Thời gian sử dụng thiết bị công nghệ như điện thoại, máy tính, TV</a:t>
            </a:r>
          </a:p>
          <a:p>
            <a:pPr marL="171450" indent="-171450">
              <a:buFontTx/>
              <a:buChar char="-"/>
            </a:pPr>
            <a:r>
              <a:rPr lang="en-US"/>
              <a:t>CALC: Consumption of alcohol </a:t>
            </a:r>
            <a:r>
              <a:rPr lang="en-US" i="1"/>
              <a:t>- Tần suất uống rượu/bia: </a:t>
            </a:r>
            <a:r>
              <a:rPr lang="en-US" sz="1200" i="1" kern="1200">
                <a:solidFill>
                  <a:schemeClr val="tx1"/>
                </a:solidFill>
                <a:latin typeface="+mn-lt"/>
                <a:ea typeface="+mn-ea"/>
                <a:cs typeface="+mn-cs"/>
              </a:rPr>
              <a:t>no</a:t>
            </a:r>
            <a:r>
              <a:rPr lang="en-US" i="1"/>
              <a:t>, </a:t>
            </a:r>
            <a:r>
              <a:rPr lang="en-US" sz="1200" i="1" kern="1200">
                <a:solidFill>
                  <a:schemeClr val="tx1"/>
                </a:solidFill>
                <a:latin typeface="+mn-lt"/>
                <a:ea typeface="+mn-ea"/>
                <a:cs typeface="+mn-cs"/>
              </a:rPr>
              <a:t>Sometimes</a:t>
            </a:r>
            <a:r>
              <a:rPr lang="en-US" i="1"/>
              <a:t>, </a:t>
            </a:r>
            <a:r>
              <a:rPr lang="en-US" sz="1200" i="1" kern="1200">
                <a:solidFill>
                  <a:schemeClr val="tx1"/>
                </a:solidFill>
                <a:latin typeface="+mn-lt"/>
                <a:ea typeface="+mn-ea"/>
                <a:cs typeface="+mn-cs"/>
              </a:rPr>
              <a:t>Frequently</a:t>
            </a:r>
            <a:endParaRPr lang="en-US" i="1"/>
          </a:p>
          <a:p>
            <a:pPr marL="171450" indent="-171450">
              <a:buFontTx/>
              <a:buChar char="-"/>
            </a:pPr>
            <a:r>
              <a:rPr lang="en-US"/>
              <a:t>MTRANS: Transportation used </a:t>
            </a:r>
            <a:r>
              <a:rPr lang="en-US" i="1"/>
              <a:t>- Phương tiện di chuyển chính: </a:t>
            </a:r>
            <a:r>
              <a:rPr lang="en-US" sz="1200" i="1" kern="1200">
                <a:solidFill>
                  <a:schemeClr val="tx1"/>
                </a:solidFill>
                <a:latin typeface="+mn-lt"/>
                <a:ea typeface="+mn-ea"/>
                <a:cs typeface="+mn-cs"/>
              </a:rPr>
              <a:t>Public_Transportation</a:t>
            </a:r>
            <a:r>
              <a:rPr lang="en-US" i="1"/>
              <a:t>, </a:t>
            </a:r>
            <a:r>
              <a:rPr lang="en-US" sz="1200" i="1" kern="1200">
                <a:solidFill>
                  <a:schemeClr val="tx1"/>
                </a:solidFill>
                <a:latin typeface="+mn-lt"/>
                <a:ea typeface="+mn-ea"/>
                <a:cs typeface="+mn-cs"/>
              </a:rPr>
              <a:t>Automobile</a:t>
            </a:r>
            <a:r>
              <a:rPr lang="en-US" i="1"/>
              <a:t>, </a:t>
            </a:r>
            <a:r>
              <a:rPr lang="en-US" sz="1200" i="1" kern="1200">
                <a:solidFill>
                  <a:schemeClr val="tx1"/>
                </a:solidFill>
                <a:latin typeface="+mn-lt"/>
                <a:ea typeface="+mn-ea"/>
                <a:cs typeface="+mn-cs"/>
              </a:rPr>
              <a:t>Walking</a:t>
            </a:r>
            <a:r>
              <a:rPr lang="en-US" i="1"/>
              <a:t>, </a:t>
            </a:r>
            <a:r>
              <a:rPr lang="en-US" sz="1200" i="1" kern="1200">
                <a:solidFill>
                  <a:schemeClr val="tx1"/>
                </a:solidFill>
                <a:latin typeface="+mn-lt"/>
                <a:ea typeface="+mn-ea"/>
                <a:cs typeface="+mn-cs"/>
              </a:rPr>
              <a:t>Bike</a:t>
            </a:r>
            <a:endParaRPr lang="en-US" i="1"/>
          </a:p>
          <a:p>
            <a:pPr marL="171450" indent="-171450">
              <a:buFontTx/>
              <a:buChar char="-"/>
            </a:pPr>
            <a:r>
              <a:rPr lang="en-US"/>
              <a:t>Nobeyesdad: Obesity level </a:t>
            </a:r>
            <a:r>
              <a:rPr lang="en-US" i="1"/>
              <a:t>- Mức độ thể trạng/béo phì của người đó. Đây là cột mục tiêu của mô hình</a:t>
            </a:r>
          </a:p>
        </p:txBody>
      </p:sp>
      <p:sp>
        <p:nvSpPr>
          <p:cNvPr id="4" name="Slide Number Placeholder 3"/>
          <p:cNvSpPr>
            <a:spLocks noGrp="1"/>
          </p:cNvSpPr>
          <p:nvPr>
            <p:ph type="sldNum" sz="quarter" idx="5"/>
          </p:nvPr>
        </p:nvSpPr>
        <p:spPr/>
        <p:txBody>
          <a:bodyPr/>
          <a:lstStyle/>
          <a:p>
            <a:fld id="{27D68180-1FB7-4BAA-9E5C-24E7ABEFC190}" type="slidenum">
              <a:rPr lang="en-US" smtClean="0"/>
              <a:t>4</a:t>
            </a:fld>
            <a:endParaRPr lang="en-US"/>
          </a:p>
        </p:txBody>
      </p:sp>
    </p:spTree>
    <p:extLst>
      <p:ext uri="{BB962C8B-B14F-4D97-AF65-F5344CB8AC3E}">
        <p14:creationId xmlns:p14="http://schemas.microsoft.com/office/powerpoint/2010/main" val="214863498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9E5916-0F40-52D8-9798-2BD5DEBF462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AF18EE4-0DF1-5EF8-9697-F721EE4F6CB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0107053-D99F-B8A0-1CB8-E40CFF24505A}"/>
              </a:ext>
            </a:extLst>
          </p:cNvPr>
          <p:cNvSpPr>
            <a:spLocks noGrp="1"/>
          </p:cNvSpPr>
          <p:nvPr>
            <p:ph type="body" idx="1"/>
          </p:nvPr>
        </p:nvSpPr>
        <p:spPr/>
        <p:txBody>
          <a:bodyPr/>
          <a:lstStyle/>
          <a:p>
            <a:pPr marL="171450" indent="-171450">
              <a:buFontTx/>
              <a:buChar char="-"/>
            </a:pPr>
            <a:r>
              <a:rPr lang="en-US"/>
              <a:t>FAVC: Frequent consumption of high caloric food</a:t>
            </a:r>
          </a:p>
          <a:p>
            <a:pPr marL="171450" indent="-171450">
              <a:buFontTx/>
              <a:buChar char="-"/>
            </a:pPr>
            <a:r>
              <a:rPr lang="en-US"/>
              <a:t>FCVC: Frequency of consumption of vegetables</a:t>
            </a:r>
          </a:p>
          <a:p>
            <a:pPr marL="171450" indent="-171450">
              <a:buFontTx/>
              <a:buChar char="-"/>
            </a:pPr>
            <a:r>
              <a:rPr lang="en-US"/>
              <a:t>NCP: Number of main meals</a:t>
            </a:r>
          </a:p>
          <a:p>
            <a:pPr marL="171450" indent="-171450">
              <a:buFontTx/>
              <a:buChar char="-"/>
            </a:pPr>
            <a:r>
              <a:rPr lang="en-US"/>
              <a:t>CAEC: Consumption of food between meals</a:t>
            </a:r>
          </a:p>
          <a:p>
            <a:pPr marL="171450" indent="-171450">
              <a:buFontTx/>
              <a:buChar char="-"/>
            </a:pPr>
            <a:r>
              <a:rPr lang="en-US"/>
              <a:t>SMOKE: Smoking habit</a:t>
            </a:r>
          </a:p>
          <a:p>
            <a:pPr marL="171450" indent="-171450">
              <a:buFontTx/>
              <a:buChar char="-"/>
            </a:pPr>
            <a:r>
              <a:rPr lang="en-US"/>
              <a:t>CH2O: Consumption of water daily</a:t>
            </a:r>
          </a:p>
          <a:p>
            <a:pPr marL="171450" indent="-171450">
              <a:buFontTx/>
              <a:buChar char="-"/>
            </a:pPr>
            <a:r>
              <a:rPr lang="en-US"/>
              <a:t>SCC: Calories consumption monitoring</a:t>
            </a:r>
          </a:p>
          <a:p>
            <a:pPr marL="171450" indent="-171450">
              <a:buFontTx/>
              <a:buChar char="-"/>
            </a:pPr>
            <a:r>
              <a:rPr lang="en-US"/>
              <a:t>FAF: Physical activity frequency</a:t>
            </a:r>
          </a:p>
          <a:p>
            <a:pPr marL="171450" indent="-171450">
              <a:buFontTx/>
              <a:buChar char="-"/>
            </a:pPr>
            <a:r>
              <a:rPr lang="en-US"/>
              <a:t>TUE: Time using technology devices</a:t>
            </a:r>
          </a:p>
          <a:p>
            <a:pPr marL="171450" indent="-171450">
              <a:buFontTx/>
              <a:buChar char="-"/>
            </a:pPr>
            <a:r>
              <a:rPr lang="en-US"/>
              <a:t>CALC: Consumption of alcohol</a:t>
            </a:r>
          </a:p>
          <a:p>
            <a:pPr marL="171450" indent="-171450">
              <a:buFontTx/>
              <a:buChar char="-"/>
            </a:pPr>
            <a:r>
              <a:rPr lang="en-US"/>
              <a:t>MTRANS: Transportation used</a:t>
            </a:r>
          </a:p>
          <a:p>
            <a:pPr marL="171450" indent="-171450">
              <a:buFontTx/>
              <a:buChar char="-"/>
            </a:pPr>
            <a:r>
              <a:rPr lang="en-US"/>
              <a:t>Nobeyesdad: Obesity level</a:t>
            </a:r>
          </a:p>
        </p:txBody>
      </p:sp>
      <p:sp>
        <p:nvSpPr>
          <p:cNvPr id="4" name="Slide Number Placeholder 3">
            <a:extLst>
              <a:ext uri="{FF2B5EF4-FFF2-40B4-BE49-F238E27FC236}">
                <a16:creationId xmlns:a16="http://schemas.microsoft.com/office/drawing/2014/main" id="{71C219FC-3715-0B72-BF78-A3F8A4EDA1A0}"/>
              </a:ext>
            </a:extLst>
          </p:cNvPr>
          <p:cNvSpPr>
            <a:spLocks noGrp="1"/>
          </p:cNvSpPr>
          <p:nvPr>
            <p:ph type="sldNum" sz="quarter" idx="5"/>
          </p:nvPr>
        </p:nvSpPr>
        <p:spPr/>
        <p:txBody>
          <a:bodyPr/>
          <a:lstStyle/>
          <a:p>
            <a:fld id="{27D68180-1FB7-4BAA-9E5C-24E7ABEFC190}" type="slidenum">
              <a:rPr lang="en-US" smtClean="0"/>
              <a:t>5</a:t>
            </a:fld>
            <a:endParaRPr lang="en-US"/>
          </a:p>
        </p:txBody>
      </p:sp>
    </p:spTree>
    <p:extLst>
      <p:ext uri="{BB962C8B-B14F-4D97-AF65-F5344CB8AC3E}">
        <p14:creationId xmlns:p14="http://schemas.microsoft.com/office/powerpoint/2010/main" val="32212270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Đặc điểm nổi bật của dữ liệu</a:t>
            </a:r>
          </a:p>
          <a:p>
            <a:endParaRPr lang="en-US"/>
          </a:p>
          <a:p>
            <a:r>
              <a:rPr lang="en-US"/>
              <a:t>Chia dữ liệu thành 3 nhóm chính:</a:t>
            </a:r>
          </a:p>
          <a:p>
            <a:pPr lvl="1"/>
            <a:r>
              <a:rPr lang="en-US" b="1"/>
              <a:t>Cơ địa</a:t>
            </a:r>
            <a:r>
              <a:rPr lang="en-US"/>
              <a:t>: tuổi, cân nặng, chiều cao. </a:t>
            </a:r>
          </a:p>
          <a:p>
            <a:pPr lvl="1"/>
            <a:r>
              <a:rPr lang="en-US" b="1"/>
              <a:t>Dinh dưỡng &amp; sinh hoạt</a:t>
            </a:r>
            <a:r>
              <a:rPr lang="en-US"/>
              <a:t>: ăn đồ nhiều calo, vận động. </a:t>
            </a:r>
          </a:p>
          <a:p>
            <a:pPr lvl="1"/>
            <a:r>
              <a:rPr lang="en-US" b="1"/>
              <a:t>Di truyền</a:t>
            </a:r>
            <a:r>
              <a:rPr lang="en-US"/>
              <a:t>: tiền sử gia đình thừa cân. </a:t>
            </a:r>
          </a:p>
          <a:p>
            <a:pPr lvl="1"/>
            <a:r>
              <a:rPr lang="en-US" b="1"/>
              <a:t>Nhãn dự đoán</a:t>
            </a:r>
            <a:r>
              <a:rPr lang="en-US"/>
              <a:t>: 7 mức độ thể trạng/béo phì.</a:t>
            </a:r>
          </a:p>
          <a:p>
            <a:endParaRPr lang="en-US"/>
          </a:p>
          <a:p>
            <a:r>
              <a:rPr lang="en-US"/>
              <a:t>Độ tuổi trung bình trong tập dữ liệu khoảng 23.84 tuổi, cho thấy dữ liệu tập trung nhiều ở nhóm người trẻ. Cân nặng trung bình khoảng 87.89 kg, trong khi giá trị lớn nhất lên tới 165.06 kg, cho thấy dữ liệu có nhiều trường hợp thừa cân và béo phì.</a:t>
            </a:r>
          </a:p>
        </p:txBody>
      </p:sp>
      <p:sp>
        <p:nvSpPr>
          <p:cNvPr id="4" name="Slide Number Placeholder 3"/>
          <p:cNvSpPr>
            <a:spLocks noGrp="1"/>
          </p:cNvSpPr>
          <p:nvPr>
            <p:ph type="sldNum" sz="quarter" idx="5"/>
          </p:nvPr>
        </p:nvSpPr>
        <p:spPr/>
        <p:txBody>
          <a:bodyPr/>
          <a:lstStyle/>
          <a:p>
            <a:fld id="{27D68180-1FB7-4BAA-9E5C-24E7ABEFC190}" type="slidenum">
              <a:rPr lang="en-US" smtClean="0"/>
              <a:t>6</a:t>
            </a:fld>
            <a:endParaRPr lang="en-US"/>
          </a:p>
        </p:txBody>
      </p:sp>
    </p:spTree>
    <p:extLst>
      <p:ext uri="{BB962C8B-B14F-4D97-AF65-F5344CB8AC3E}">
        <p14:creationId xmlns:p14="http://schemas.microsoft.com/office/powerpoint/2010/main" val="244445032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58FE20E-E476-BB5F-9AF4-FA6279A055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AED2FB-1D50-4165-A6E5-3AAD21AB140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CBEBEFD-A8EC-EFBC-8C74-19BDE38ED4FB}"/>
              </a:ext>
            </a:extLst>
          </p:cNvPr>
          <p:cNvSpPr>
            <a:spLocks noGrp="1"/>
          </p:cNvSpPr>
          <p:nvPr>
            <p:ph type="body" idx="1"/>
          </p:nvPr>
        </p:nvSpPr>
        <p:spPr/>
        <p:txBody>
          <a:bodyPr/>
          <a:lstStyle/>
          <a:p>
            <a:r>
              <a:rPr lang="en-US"/>
              <a:t>Biểu đồ tròn thể hiện FAVC – thói quen ăn thực phẩm nhiều calo</a:t>
            </a:r>
          </a:p>
          <a:p>
            <a:r>
              <a:rPr lang="en-US"/>
              <a:t>Về dinh dưỡng, có tới 91.4% người trong tập dữ liệu thường xuyên ăn thực phẩm nhiều calo. Đây là một đặc điểm rất đáng chú ý vì chế độ ăn nhiều calo có thể liên quan đến nguy cơ thừa cân và béo phì.</a:t>
            </a:r>
          </a:p>
          <a:p>
            <a:endParaRPr lang="en-US"/>
          </a:p>
          <a:p>
            <a:r>
              <a:rPr lang="en-US"/>
              <a:t>Biều đồ hộp là FAF – tần suất vận động</a:t>
            </a:r>
          </a:p>
          <a:p>
            <a:r>
              <a:rPr lang="en-US"/>
              <a:t>Bên cạnh đó, tần suất vận động thể chất có sự phân bố khá rộng. Điều này cho thấy mức độ vận động giữa các cá nhân khác nhau, và đây cũng là một yếu tố cần xem xét khi dự đoán mức độ béo phì.</a:t>
            </a:r>
          </a:p>
        </p:txBody>
      </p:sp>
      <p:sp>
        <p:nvSpPr>
          <p:cNvPr id="4" name="Slide Number Placeholder 3">
            <a:extLst>
              <a:ext uri="{FF2B5EF4-FFF2-40B4-BE49-F238E27FC236}">
                <a16:creationId xmlns:a16="http://schemas.microsoft.com/office/drawing/2014/main" id="{15E188FF-AAD6-E255-473E-BA39D4FBADFA}"/>
              </a:ext>
            </a:extLst>
          </p:cNvPr>
          <p:cNvSpPr>
            <a:spLocks noGrp="1"/>
          </p:cNvSpPr>
          <p:nvPr>
            <p:ph type="sldNum" sz="quarter" idx="5"/>
          </p:nvPr>
        </p:nvSpPr>
        <p:spPr/>
        <p:txBody>
          <a:bodyPr/>
          <a:lstStyle/>
          <a:p>
            <a:fld id="{27D68180-1FB7-4BAA-9E5C-24E7ABEFC190}" type="slidenum">
              <a:rPr lang="en-US" smtClean="0"/>
              <a:t>7</a:t>
            </a:fld>
            <a:endParaRPr lang="en-US"/>
          </a:p>
        </p:txBody>
      </p:sp>
    </p:spTree>
    <p:extLst>
      <p:ext uri="{BB962C8B-B14F-4D97-AF65-F5344CB8AC3E}">
        <p14:creationId xmlns:p14="http://schemas.microsoft.com/office/powerpoint/2010/main" val="3998556326"/>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548AE3-0A45-9BFF-B064-0F1E5DBD65D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110C9C4-22BE-BC30-772F-A4CAB0B0E6D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F5BF9D4-3E7F-8A86-B475-6E6E1C418EDE}"/>
              </a:ext>
            </a:extLst>
          </p:cNvPr>
          <p:cNvSpPr>
            <a:spLocks noGrp="1"/>
          </p:cNvSpPr>
          <p:nvPr>
            <p:ph type="body" idx="1"/>
          </p:nvPr>
        </p:nvSpPr>
        <p:spPr/>
        <p:txBody>
          <a:bodyPr/>
          <a:lstStyle/>
          <a:p>
            <a:r>
              <a:rPr lang="en-US"/>
              <a:t>Biểu đồ tròn thể hiện Family History with Overweight</a:t>
            </a:r>
          </a:p>
          <a:p>
            <a:r>
              <a:rPr lang="en-US"/>
              <a:t>Về yếu tố di truyền hoặc gia đình, có 82% người trong dữ liệu có tiền sử gia đình thừa cân. Tỷ lệ này khá cao, cho thấy yếu tố gia đình có thể là một đặc trưng có thể liên quan khi phân tích nguy cơ béo phì.</a:t>
            </a:r>
          </a:p>
          <a:p>
            <a:endParaRPr lang="en-US"/>
          </a:p>
          <a:p>
            <a:endParaRPr lang="en-US"/>
          </a:p>
          <a:p>
            <a:r>
              <a:rPr lang="en-US"/>
              <a:t>Biểu đồ cột ngang bên phải cho thấy số lượng người ở từng nhóm </a:t>
            </a:r>
            <a:r>
              <a:rPr lang="en-US" sz="1200" kern="1200">
                <a:solidFill>
                  <a:schemeClr val="tx1"/>
                </a:solidFill>
                <a:latin typeface="+mn-lt"/>
                <a:ea typeface="+mn-ea"/>
                <a:cs typeface="+mn-cs"/>
              </a:rPr>
              <a:t>Nobeyesdad: </a:t>
            </a:r>
            <a:r>
              <a:rPr lang="en-US"/>
              <a:t>thể hiện phân bố 7 mức độ thể trạng trong dữ liệu, từ thiếu cân, bình thường, thừa cân đến béo phì độ I, II, III. Có thể thấy các nhóm không chênh lệch quá cực đoan, nên dữ liệu tương đối phù hợp để huấn luyện mô hình phân loại nhiều lớp.</a:t>
            </a:r>
          </a:p>
          <a:p>
            <a:r>
              <a:rPr lang="en-US"/>
              <a:t># Nhóm Obesity Type III có số lượng khá lớn, cho thấy tập dữ liệu chứa nhiều trường hợp béo phì nặng, giúp mô hình học được đặc điểm của nhóm nguy cơ cao.</a:t>
            </a:r>
          </a:p>
        </p:txBody>
      </p:sp>
      <p:sp>
        <p:nvSpPr>
          <p:cNvPr id="4" name="Slide Number Placeholder 3">
            <a:extLst>
              <a:ext uri="{FF2B5EF4-FFF2-40B4-BE49-F238E27FC236}">
                <a16:creationId xmlns:a16="http://schemas.microsoft.com/office/drawing/2014/main" id="{279ABCDB-80F2-588C-2E66-6CA7C9FB625E}"/>
              </a:ext>
            </a:extLst>
          </p:cNvPr>
          <p:cNvSpPr>
            <a:spLocks noGrp="1"/>
          </p:cNvSpPr>
          <p:nvPr>
            <p:ph type="sldNum" sz="quarter" idx="5"/>
          </p:nvPr>
        </p:nvSpPr>
        <p:spPr/>
        <p:txBody>
          <a:bodyPr/>
          <a:lstStyle/>
          <a:p>
            <a:fld id="{27D68180-1FB7-4BAA-9E5C-24E7ABEFC190}" type="slidenum">
              <a:rPr lang="en-US" smtClean="0"/>
              <a:t>8</a:t>
            </a:fld>
            <a:endParaRPr lang="en-US"/>
          </a:p>
        </p:txBody>
      </p:sp>
    </p:spTree>
    <p:extLst>
      <p:ext uri="{BB962C8B-B14F-4D97-AF65-F5344CB8AC3E}">
        <p14:creationId xmlns:p14="http://schemas.microsoft.com/office/powerpoint/2010/main" val="21600399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30AAB3E-7322-365B-CCD6-56B3E926BB0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1D43D9A-3764-B940-E139-B7545905C70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FAF5B8-4216-F86E-FBF3-06526BF51D2A}"/>
              </a:ext>
            </a:extLst>
          </p:cNvPr>
          <p:cNvSpPr>
            <a:spLocks noGrp="1"/>
          </p:cNvSpPr>
          <p:nvPr>
            <p:ph type="body" idx="1"/>
          </p:nvPr>
        </p:nvSpPr>
        <p:spPr/>
        <p:txBody>
          <a:bodyPr/>
          <a:lstStyle/>
          <a:p>
            <a:endParaRPr lang="en-US"/>
          </a:p>
          <a:p>
            <a:r>
              <a:rPr lang="en-US"/>
              <a:t>-   Biểu đồ thể hiện mối quan hệ giữa độ tuổi và cân nặng, trong đó mỗi màu tương ứng với một mức độ thể trạng khác nhau.</a:t>
            </a:r>
          </a:p>
          <a:p>
            <a:pPr marL="171450" indent="-171450">
              <a:buFontTx/>
              <a:buChar char="-"/>
            </a:pPr>
            <a:r>
              <a:rPr lang="en-US"/>
              <a:t>Có thể thấy dữ liệu tập trung nhiều ở nhóm tuổi trẻ, đặc biệt từ khoảng 18 đến dưới 30 tuổi. Các nhóm cân nặng thấp như thiếu cân và bình thường thường nằm ở vùng cân nặng thấp hơn, trong khi các nhóm béo phì nằm ở vùng cân nặng cao hơn.</a:t>
            </a:r>
          </a:p>
          <a:p>
            <a:pPr marL="171450" indent="-171450">
              <a:buFontTx/>
              <a:buChar char="-"/>
            </a:pPr>
            <a:r>
              <a:rPr lang="en-US"/>
              <a:t>Đáng chú ý, nhóm béo phì nặng xuất hiện khá nhiều ở độ tuổi trẻ, cho thấy trong tập dữ liệu này, nhóm thanh niên là nhóm có nhiều trường hợp béo phì nghiêm trọng.</a:t>
            </a:r>
          </a:p>
        </p:txBody>
      </p:sp>
      <p:sp>
        <p:nvSpPr>
          <p:cNvPr id="4" name="Slide Number Placeholder 3">
            <a:extLst>
              <a:ext uri="{FF2B5EF4-FFF2-40B4-BE49-F238E27FC236}">
                <a16:creationId xmlns:a16="http://schemas.microsoft.com/office/drawing/2014/main" id="{E07CE5A5-6F9C-B4A2-6A9A-7FDD46A1721A}"/>
              </a:ext>
            </a:extLst>
          </p:cNvPr>
          <p:cNvSpPr>
            <a:spLocks noGrp="1"/>
          </p:cNvSpPr>
          <p:nvPr>
            <p:ph type="sldNum" sz="quarter" idx="5"/>
          </p:nvPr>
        </p:nvSpPr>
        <p:spPr/>
        <p:txBody>
          <a:bodyPr/>
          <a:lstStyle/>
          <a:p>
            <a:fld id="{27D68180-1FB7-4BAA-9E5C-24E7ABEFC190}" type="slidenum">
              <a:rPr lang="en-US" smtClean="0"/>
              <a:t>9</a:t>
            </a:fld>
            <a:endParaRPr lang="en-US"/>
          </a:p>
        </p:txBody>
      </p:sp>
    </p:spTree>
    <p:extLst>
      <p:ext uri="{BB962C8B-B14F-4D97-AF65-F5344CB8AC3E}">
        <p14:creationId xmlns:p14="http://schemas.microsoft.com/office/powerpoint/2010/main" val="3707890747"/>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8B97300-FC7A-6D72-EA77-64162B133E8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4C2F35D-B45F-AE87-8A4A-729726E393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8AD2480-8DBE-C86F-9B76-16312487A888}"/>
              </a:ext>
            </a:extLst>
          </p:cNvPr>
          <p:cNvSpPr>
            <a:spLocks noGrp="1"/>
          </p:cNvSpPr>
          <p:nvPr>
            <p:ph type="body" idx="1"/>
          </p:nvPr>
        </p:nvSpPr>
        <p:spPr/>
        <p:txBody>
          <a:bodyPr/>
          <a:lstStyle/>
          <a:p>
            <a:endParaRPr lang="en-US"/>
          </a:p>
          <a:p>
            <a:pPr marL="171450" indent="-171450">
              <a:buFontTx/>
              <a:buChar char="-"/>
            </a:pPr>
            <a:r>
              <a:rPr lang="en-US"/>
              <a:t>Biểu đồ cho thấy </a:t>
            </a:r>
            <a:r>
              <a:rPr lang="en-US" b="1"/>
              <a:t>phân phối cân nặng </a:t>
            </a:r>
            <a:r>
              <a:rPr lang="en-US"/>
              <a:t>của toàn bộ tập dữ liệu. Đường đỏ thể hiện cân nặng trung bình, khoảng 87.9 kg, còn đường xanh thể hiện trung vị, khoảng 84.1 kg.</a:t>
            </a:r>
          </a:p>
          <a:p>
            <a:pPr marL="171450" indent="-171450">
              <a:buFontTx/>
              <a:buChar char="-"/>
            </a:pPr>
            <a:r>
              <a:rPr lang="en-US"/>
              <a:t>Vì giá trị trung bình lớn hơn trung vị nên phân phối cân nặng bị lệch phải. Điều này cho thấy trong dữ liệu có một nhóm người có cân nặng rất cao, từ khoảng 120 kg trở lên, làm kéo giá trị trung bình lên.</a:t>
            </a:r>
          </a:p>
          <a:p>
            <a:pPr marL="171450" indent="-171450">
              <a:buFontTx/>
              <a:buChar char="-"/>
            </a:pPr>
            <a:r>
              <a:rPr lang="en-US"/>
              <a:t>Như vậy, chỉ nhìn vào cân nặng trung bình có thể chưa phản ánh đúng đa số dữ liệu, vì dữ liệu có sự xuất hiện của các trường hợp cân nặng rất lớn.</a:t>
            </a:r>
          </a:p>
        </p:txBody>
      </p:sp>
      <p:sp>
        <p:nvSpPr>
          <p:cNvPr id="4" name="Slide Number Placeholder 3">
            <a:extLst>
              <a:ext uri="{FF2B5EF4-FFF2-40B4-BE49-F238E27FC236}">
                <a16:creationId xmlns:a16="http://schemas.microsoft.com/office/drawing/2014/main" id="{B34B01A4-F451-9878-3AB9-201011F4472C}"/>
              </a:ext>
            </a:extLst>
          </p:cNvPr>
          <p:cNvSpPr>
            <a:spLocks noGrp="1"/>
          </p:cNvSpPr>
          <p:nvPr>
            <p:ph type="sldNum" sz="quarter" idx="5"/>
          </p:nvPr>
        </p:nvSpPr>
        <p:spPr/>
        <p:txBody>
          <a:bodyPr/>
          <a:lstStyle/>
          <a:p>
            <a:fld id="{27D68180-1FB7-4BAA-9E5C-24E7ABEFC190}" type="slidenum">
              <a:rPr lang="en-US" smtClean="0"/>
              <a:t>10</a:t>
            </a:fld>
            <a:endParaRPr lang="en-US"/>
          </a:p>
        </p:txBody>
      </p:sp>
    </p:spTree>
    <p:extLst>
      <p:ext uri="{BB962C8B-B14F-4D97-AF65-F5344CB8AC3E}">
        <p14:creationId xmlns:p14="http://schemas.microsoft.com/office/powerpoint/2010/main" val="353105611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Mối liên hệ giữa thói quen ăn uống và mức độ béo phì</a:t>
            </a:r>
            <a:r>
              <a:rPr lang="en-US"/>
              <a:t>, trọng tâm là biến </a:t>
            </a:r>
            <a:r>
              <a:rPr lang="en-US" b="1"/>
              <a:t>FAVC — thói quen ăn thực phẩm nhiều calo</a:t>
            </a:r>
          </a:p>
          <a:p>
            <a:endParaRPr lang="en-US" b="1"/>
          </a:p>
          <a:p>
            <a:r>
              <a:rPr lang="en-US"/>
              <a:t>Nhìn vào biểu đồ, ta thấy tỷ lệ người có thói quen ăn thực phẩm nhiều calo khá cao ở hầu hết các nhóm thể trạng</a:t>
            </a:r>
          </a:p>
          <a:p>
            <a:pPr marL="171450" indent="-171450">
              <a:buFont typeface="Wingdings" panose="05000000000000000000" pitchFamily="2" charset="2"/>
              <a:buChar char="à"/>
            </a:pPr>
            <a:r>
              <a:rPr lang="en-US" sz="1200" kern="1200">
                <a:solidFill>
                  <a:schemeClr val="tx1"/>
                </a:solidFill>
                <a:latin typeface="+mn-lt"/>
                <a:ea typeface="+mn-ea"/>
                <a:cs typeface="+mn-cs"/>
              </a:rPr>
              <a:t>FAVC</a:t>
            </a:r>
            <a:r>
              <a:rPr lang="en-US"/>
              <a:t> là một biến quan trọng cần xem xét khi phân tích béo phì.</a:t>
            </a:r>
          </a:p>
          <a:p>
            <a:pPr marL="171450" indent="-171450">
              <a:buFont typeface="Wingdings" panose="05000000000000000000" pitchFamily="2" charset="2"/>
              <a:buChar char="à"/>
            </a:pPr>
            <a:endParaRPr lang="en-US" b="0"/>
          </a:p>
          <a:p>
            <a:pPr marL="0" indent="0">
              <a:buFont typeface="Wingdings" panose="05000000000000000000" pitchFamily="2" charset="2"/>
              <a:buNone/>
            </a:pPr>
            <a:r>
              <a:rPr lang="en-US"/>
              <a:t>- Đặc biệt, ở các nhóm béo phì, nhất là Obesity Type II và Obesity Type III, tỷ lệ người thường xuyên ăn thực phẩm nhiều calo gần như tuyệt đối (phần màu đỏ gần như chiếm toàn bộ cột)</a:t>
            </a:r>
          </a:p>
          <a:p>
            <a:pPr marL="171450" indent="-171450">
              <a:buFont typeface="Wingdings" panose="05000000000000000000" pitchFamily="2" charset="2"/>
              <a:buChar char="à"/>
            </a:pPr>
            <a:r>
              <a:rPr lang="en-US"/>
              <a:t>Đây là một dấu hiệu cho thấy FAVC có mối liên hệ mạnh với mức độ béo phì</a:t>
            </a:r>
          </a:p>
          <a:p>
            <a:pPr marL="0" indent="0">
              <a:buFont typeface="Wingdings" panose="05000000000000000000" pitchFamily="2" charset="2"/>
              <a:buNone/>
            </a:pPr>
            <a:endParaRPr lang="en-US" b="0"/>
          </a:p>
          <a:p>
            <a:pPr marL="0" indent="0">
              <a:buFont typeface="Wingdings" panose="05000000000000000000" pitchFamily="2" charset="2"/>
              <a:buNone/>
            </a:pPr>
            <a:r>
              <a:rPr lang="en-US"/>
              <a:t>- Tuy nhiên, FAVC không phải yếu tố duy nhất. Ngay cả nhóm thiếu cân hoặc cân nặng bình thường cũng có tỷ lệ ăn đồ nhiều calo khá cao. Vì vậy, để dự đoán béo phì chính xác hơn, cần kết hợp thêm các yếu tố khác như vận động, lượng nước uống, ăn rau, tuổi tác và tiền sử gia đình.</a:t>
            </a:r>
            <a:endParaRPr lang="en-US" b="0"/>
          </a:p>
        </p:txBody>
      </p:sp>
      <p:sp>
        <p:nvSpPr>
          <p:cNvPr id="4" name="Slide Number Placeholder 3"/>
          <p:cNvSpPr>
            <a:spLocks noGrp="1"/>
          </p:cNvSpPr>
          <p:nvPr>
            <p:ph type="sldNum" sz="quarter" idx="5"/>
          </p:nvPr>
        </p:nvSpPr>
        <p:spPr/>
        <p:txBody>
          <a:bodyPr/>
          <a:lstStyle/>
          <a:p>
            <a:fld id="{27D68180-1FB7-4BAA-9E5C-24E7ABEFC190}" type="slidenum">
              <a:rPr lang="en-US" smtClean="0"/>
              <a:t>11</a:t>
            </a:fld>
            <a:endParaRPr lang="en-US"/>
          </a:p>
        </p:txBody>
      </p:sp>
    </p:spTree>
    <p:extLst>
      <p:ext uri="{BB962C8B-B14F-4D97-AF65-F5344CB8AC3E}">
        <p14:creationId xmlns:p14="http://schemas.microsoft.com/office/powerpoint/2010/main" val="2119316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lnSpc>
                <a:spcPts val="2735"/>
              </a:lnSpc>
              <a:spcBef>
                <a:spcPct val="0"/>
              </a:spcBef>
            </a:pPr>
            <a:r>
              <a:rPr lang="en-US" sz="1200">
                <a:solidFill>
                  <a:srgbClr val="000000"/>
                </a:solidFill>
                <a:latin typeface="Poppins"/>
                <a:ea typeface="Poppins"/>
                <a:cs typeface="Poppins"/>
                <a:sym typeface="Poppins"/>
              </a:rPr>
              <a:t> Tần suất vận động có xu hướng giảm dần khi thể trạng nặng lên trừ béo</a:t>
            </a:r>
          </a:p>
          <a:p>
            <a:pPr algn="l">
              <a:lnSpc>
                <a:spcPts val="2735"/>
              </a:lnSpc>
              <a:spcBef>
                <a:spcPct val="0"/>
              </a:spcBef>
            </a:pPr>
            <a:r>
              <a:rPr lang="en-US" sz="1200">
                <a:solidFill>
                  <a:srgbClr val="000000"/>
                </a:solidFill>
                <a:latin typeface="Poppins"/>
                <a:ea typeface="Poppins"/>
                <a:cs typeface="Poppins"/>
                <a:sym typeface="Poppins"/>
              </a:rPr>
              <a:t>    phì độ 2(có thể là trong giai đoạn này bắt đầu chú ý tập thể thao), trong </a:t>
            </a:r>
          </a:p>
          <a:p>
            <a:pPr algn="l">
              <a:lnSpc>
                <a:spcPts val="2735"/>
              </a:lnSpc>
              <a:spcBef>
                <a:spcPct val="0"/>
              </a:spcBef>
            </a:pPr>
            <a:r>
              <a:rPr lang="en-US" sz="1200">
                <a:solidFill>
                  <a:srgbClr val="000000"/>
                </a:solidFill>
                <a:latin typeface="Poppins"/>
                <a:ea typeface="Poppins"/>
                <a:cs typeface="Poppins"/>
                <a:sym typeface="Poppins"/>
              </a:rPr>
              <a:t>    khi thời gian sử dụng công nghệ biến động phức tạp.</a:t>
            </a:r>
          </a:p>
          <a:p>
            <a:pPr algn="l">
              <a:lnSpc>
                <a:spcPts val="2735"/>
              </a:lnSpc>
              <a:spcBef>
                <a:spcPct val="0"/>
              </a:spcBef>
            </a:pPr>
            <a:endParaRPr lang="en-US" sz="1200">
              <a:solidFill>
                <a:srgbClr val="000000"/>
              </a:solidFill>
              <a:latin typeface="Poppins"/>
              <a:ea typeface="Poppins"/>
              <a:cs typeface="Poppins"/>
              <a:sym typeface="Poppins"/>
            </a:endParaRPr>
          </a:p>
          <a:p>
            <a:pPr algn="l">
              <a:lnSpc>
                <a:spcPts val="2735"/>
              </a:lnSpc>
              <a:spcBef>
                <a:spcPct val="0"/>
              </a:spcBef>
            </a:pPr>
            <a:r>
              <a:rPr lang="en-US" sz="1200" b="1">
                <a:solidFill>
                  <a:srgbClr val="000000"/>
                </a:solidFill>
                <a:latin typeface="Poppins Bold"/>
                <a:ea typeface="Poppins Bold"/>
                <a:cs typeface="Poppins Bold"/>
                <a:sym typeface="Poppins Bold"/>
              </a:rPr>
              <a:t>=&gt;Phản ánh thực tế nhóm béo phì độ III gần như mất khả năng vận động</a:t>
            </a:r>
          </a:p>
          <a:p>
            <a:pPr algn="l">
              <a:lnSpc>
                <a:spcPts val="2735"/>
              </a:lnSpc>
              <a:spcBef>
                <a:spcPct val="0"/>
              </a:spcBef>
            </a:pPr>
            <a:r>
              <a:rPr lang="en-US" sz="1200" b="1">
                <a:solidFill>
                  <a:srgbClr val="000000"/>
                </a:solidFill>
                <a:latin typeface="Poppins Bold"/>
                <a:ea typeface="Poppins Bold"/>
                <a:cs typeface="Poppins Bold"/>
                <a:sym typeface="Poppins Bold"/>
              </a:rPr>
              <a:t>     chủ động hoặc có thể đang tuân theo chỉ định bác sĩ </a:t>
            </a:r>
          </a:p>
          <a:p>
            <a:pPr algn="l">
              <a:lnSpc>
                <a:spcPts val="2735"/>
              </a:lnSpc>
              <a:spcBef>
                <a:spcPct val="0"/>
              </a:spcBef>
            </a:pPr>
            <a:r>
              <a:rPr lang="en-US" sz="1200" b="1">
                <a:solidFill>
                  <a:srgbClr val="000000"/>
                </a:solidFill>
                <a:latin typeface="Poppins Bold"/>
                <a:ea typeface="Poppins Bold"/>
                <a:cs typeface="Poppins Bold"/>
                <a:sym typeface="Poppins Bold"/>
              </a:rPr>
              <a:t>     tần suất sử dụng điện thoại không ảnh hưởng nhiều đến tình trạng</a:t>
            </a:r>
          </a:p>
          <a:p>
            <a:pPr algn="l">
              <a:lnSpc>
                <a:spcPts val="2735"/>
              </a:lnSpc>
              <a:spcBef>
                <a:spcPct val="0"/>
              </a:spcBef>
            </a:pPr>
            <a:r>
              <a:rPr lang="en-US" sz="1200" b="1">
                <a:solidFill>
                  <a:srgbClr val="000000"/>
                </a:solidFill>
                <a:latin typeface="Poppins Bold"/>
                <a:ea typeface="Poppins Bold"/>
                <a:cs typeface="Poppins Bold"/>
                <a:sym typeface="Poppins Bold"/>
              </a:rPr>
              <a:t>     béo phì</a:t>
            </a:r>
          </a:p>
          <a:p>
            <a:pPr algn="l">
              <a:lnSpc>
                <a:spcPts val="2735"/>
              </a:lnSpc>
              <a:spcBef>
                <a:spcPct val="0"/>
              </a:spcBef>
            </a:pPr>
            <a:r>
              <a:rPr lang="en-US" sz="1200" b="1">
                <a:solidFill>
                  <a:srgbClr val="000000"/>
                </a:solidFill>
                <a:latin typeface="Poppins Bold"/>
                <a:cs typeface="Poppins Bold"/>
                <a:sym typeface="Poppins Bold"/>
              </a:rPr>
              <a:t>___</a:t>
            </a:r>
          </a:p>
          <a:p>
            <a:pPr algn="l">
              <a:lnSpc>
                <a:spcPts val="2735"/>
              </a:lnSpc>
              <a:spcBef>
                <a:spcPct val="0"/>
              </a:spcBef>
            </a:pPr>
            <a:endParaRPr lang="en-US"/>
          </a:p>
          <a:p>
            <a:pPr marL="421831" lvl="1" indent="-210915" algn="l">
              <a:lnSpc>
                <a:spcPts val="2735"/>
              </a:lnSpc>
              <a:buFont typeface="Arial"/>
              <a:buChar char="•"/>
            </a:pPr>
            <a:r>
              <a:rPr lang="en-US" sz="1953">
                <a:solidFill>
                  <a:srgbClr val="000000"/>
                </a:solidFill>
                <a:latin typeface="Poppins"/>
                <a:ea typeface="Poppins"/>
                <a:cs typeface="Poppins"/>
                <a:sym typeface="Poppins"/>
              </a:rPr>
              <a:t>Tỷ lệ người có tiền sử gia đình thừa cân tăng liên tục và mạnh mẽ theo từng cấp độ thể trạng dốc lên</a:t>
            </a:r>
          </a:p>
          <a:p>
            <a:pPr marL="421831" lvl="1" indent="-210915" algn="l">
              <a:lnSpc>
                <a:spcPts val="2735"/>
              </a:lnSpc>
              <a:buFont typeface="Arial"/>
              <a:buChar char="•"/>
            </a:pPr>
            <a:r>
              <a:rPr lang="en-US" sz="1953">
                <a:solidFill>
                  <a:srgbClr val="000000"/>
                </a:solidFill>
                <a:latin typeface="Poppins"/>
                <a:ea typeface="Poppins"/>
                <a:cs typeface="Poppins"/>
                <a:sym typeface="Poppins"/>
              </a:rPr>
              <a:t>ở các 3 cấp độ béo phì(độ I-độ III) gần như có thể chắc chắn 1 người béo phì thì gia đình có tiền sử béo phì</a:t>
            </a:r>
          </a:p>
          <a:p>
            <a:pPr algn="l">
              <a:lnSpc>
                <a:spcPts val="2735"/>
              </a:lnSpc>
              <a:spcBef>
                <a:spcPct val="0"/>
              </a:spcBef>
            </a:pPr>
            <a:r>
              <a:rPr lang="en-US" sz="1953">
                <a:solidFill>
                  <a:srgbClr val="000000"/>
                </a:solidFill>
                <a:latin typeface="Poppins"/>
                <a:ea typeface="Poppins"/>
                <a:cs typeface="Poppins"/>
                <a:sym typeface="Poppins"/>
              </a:rPr>
              <a:t>   </a:t>
            </a:r>
            <a:r>
              <a:rPr lang="en-US" sz="1953" b="1">
                <a:solidFill>
                  <a:srgbClr val="000000"/>
                </a:solidFill>
                <a:latin typeface="Poppins Bold"/>
                <a:ea typeface="Poppins Bold"/>
                <a:cs typeface="Poppins Bold"/>
                <a:sym typeface="Poppins Bold"/>
              </a:rPr>
              <a:t>=&gt;cơ địa di truyền khiến việc tăng cân mất kiểm soát dễ kích</a:t>
            </a:r>
          </a:p>
          <a:p>
            <a:pPr algn="l">
              <a:lnSpc>
                <a:spcPts val="2735"/>
              </a:lnSpc>
              <a:spcBef>
                <a:spcPct val="0"/>
              </a:spcBef>
            </a:pPr>
            <a:r>
              <a:rPr lang="en-US" sz="1953" b="1">
                <a:solidFill>
                  <a:srgbClr val="000000"/>
                </a:solidFill>
                <a:latin typeface="Poppins Bold"/>
                <a:ea typeface="Poppins Bold"/>
                <a:cs typeface="Poppins Bold"/>
                <a:sym typeface="Poppins Bold"/>
              </a:rPr>
              <a:t>         hoạt hơn</a:t>
            </a:r>
          </a:p>
          <a:p>
            <a:pPr algn="l">
              <a:lnSpc>
                <a:spcPts val="2735"/>
              </a:lnSpc>
              <a:spcBef>
                <a:spcPct val="0"/>
              </a:spcBef>
            </a:pPr>
            <a:endParaRPr lang="en-US" sz="1953" b="1">
              <a:solidFill>
                <a:srgbClr val="000000"/>
              </a:solidFill>
              <a:latin typeface="Poppins Bold"/>
              <a:ea typeface="Poppins Bold"/>
              <a:cs typeface="Poppins Bold"/>
              <a:sym typeface="Poppins Bold"/>
            </a:endParaRPr>
          </a:p>
          <a:p>
            <a:pPr algn="l">
              <a:lnSpc>
                <a:spcPts val="2735"/>
              </a:lnSpc>
              <a:spcBef>
                <a:spcPct val="0"/>
              </a:spcBef>
            </a:pPr>
            <a:endParaRPr lang="en-US" sz="1953" b="1">
              <a:solidFill>
                <a:srgbClr val="000000"/>
              </a:solidFill>
              <a:latin typeface="Poppins Bold"/>
              <a:ea typeface="Poppins Bold"/>
              <a:cs typeface="Poppins Bold"/>
              <a:sym typeface="Poppins Bold"/>
            </a:endParaRPr>
          </a:p>
          <a:p>
            <a:pPr algn="l">
              <a:lnSpc>
                <a:spcPts val="2735"/>
              </a:lnSpc>
              <a:spcBef>
                <a:spcPct val="0"/>
              </a:spcBef>
            </a:pPr>
            <a:endParaRPr lang="en-US" sz="1953" b="1">
              <a:solidFill>
                <a:srgbClr val="000000"/>
              </a:solidFill>
              <a:latin typeface="Poppins Bold"/>
              <a:ea typeface="Poppins Bold"/>
              <a:cs typeface="Poppins Bold"/>
              <a:sym typeface="Poppins Bold"/>
            </a:endParaRPr>
          </a:p>
          <a:p>
            <a:pPr algn="l">
              <a:lnSpc>
                <a:spcPts val="2735"/>
              </a:lnSpc>
              <a:spcBef>
                <a:spcPct val="0"/>
              </a:spcBef>
            </a:pPr>
            <a:endParaRPr lang="en-US"/>
          </a:p>
        </p:txBody>
      </p:sp>
      <p:sp>
        <p:nvSpPr>
          <p:cNvPr id="4" name="Slide Number Placeholder 3"/>
          <p:cNvSpPr>
            <a:spLocks noGrp="1"/>
          </p:cNvSpPr>
          <p:nvPr>
            <p:ph type="sldNum" sz="quarter" idx="5"/>
          </p:nvPr>
        </p:nvSpPr>
        <p:spPr/>
        <p:txBody>
          <a:bodyPr/>
          <a:lstStyle/>
          <a:p>
            <a:fld id="{27D68180-1FB7-4BAA-9E5C-24E7ABEFC190}" type="slidenum">
              <a:rPr lang="en-US" smtClean="0"/>
              <a:t>12</a:t>
            </a:fld>
            <a:endParaRPr lang="en-US"/>
          </a:p>
        </p:txBody>
      </p:sp>
    </p:spTree>
    <p:extLst>
      <p:ext uri="{BB962C8B-B14F-4D97-AF65-F5344CB8AC3E}">
        <p14:creationId xmlns:p14="http://schemas.microsoft.com/office/powerpoint/2010/main" val="95962006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F92949-AD5D-101D-6817-3A7E3712E1E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95D3F9A-D972-46BA-CC02-BCAA1F999B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C830C1F-3116-7379-D9B4-90B234D78AD7}"/>
              </a:ext>
            </a:extLst>
          </p:cNvPr>
          <p:cNvSpPr>
            <a:spLocks noGrp="1"/>
          </p:cNvSpPr>
          <p:nvPr>
            <p:ph type="body" idx="1"/>
          </p:nvPr>
        </p:nvSpPr>
        <p:spPr/>
        <p:txBody>
          <a:bodyPr/>
          <a:lstStyle/>
          <a:p>
            <a:pPr algn="l">
              <a:lnSpc>
                <a:spcPts val="2735"/>
              </a:lnSpc>
              <a:spcBef>
                <a:spcPct val="0"/>
              </a:spcBef>
            </a:pPr>
            <a:r>
              <a:rPr lang="en-US"/>
              <a:t>- Tần suất vận động có xu hướng giảm khi mức độ béo phì tăng lên. Điều này hợp lý vì khi thể trạng nặng hơn, khả năng vận động chủ động thường giảm.</a:t>
            </a:r>
            <a:r>
              <a:rPr lang="en-US" sz="1200">
                <a:solidFill>
                  <a:srgbClr val="000000"/>
                </a:solidFill>
                <a:latin typeface="Poppins"/>
                <a:ea typeface="Poppins"/>
                <a:cs typeface="Poppins"/>
                <a:sym typeface="Poppins"/>
              </a:rPr>
              <a:t> </a:t>
            </a:r>
          </a:p>
          <a:p>
            <a:pPr algn="l">
              <a:lnSpc>
                <a:spcPts val="2735"/>
              </a:lnSpc>
              <a:spcBef>
                <a:spcPct val="0"/>
              </a:spcBef>
            </a:pPr>
            <a:r>
              <a:rPr lang="en-US"/>
              <a:t>- Tuy nhiên, ở nhóm Obesity Type II có sự tăng nhẹ về vận động. Điều này có thể do một số người ở nhóm này bắt đầu chú ý tập luyện hoặc đang trong quá trình kiểm soát cân nặng</a:t>
            </a:r>
            <a:r>
              <a:rPr lang="en-US" sz="1200" b="1">
                <a:solidFill>
                  <a:srgbClr val="000000"/>
                </a:solidFill>
                <a:latin typeface="Poppins Bold"/>
                <a:cs typeface="Poppins Bold"/>
                <a:sym typeface="Poppins Bold"/>
              </a:rPr>
              <a:t>.</a:t>
            </a:r>
          </a:p>
          <a:p>
            <a:pPr algn="l">
              <a:lnSpc>
                <a:spcPts val="2735"/>
              </a:lnSpc>
              <a:spcBef>
                <a:spcPct val="0"/>
              </a:spcBef>
            </a:pPr>
            <a:r>
              <a:rPr lang="en-US"/>
              <a:t>- Trong khi đó, thời gian sử dụng công nghệ biến động không đều giữa các nhóm, nên trong dữ liệu này chưa thấy xu hướng rõ ràng như biến vận động</a:t>
            </a:r>
            <a:endParaRPr lang="en-US" sz="1200" b="1">
              <a:solidFill>
                <a:srgbClr val="000000"/>
              </a:solidFill>
              <a:latin typeface="Poppins Bold"/>
              <a:cs typeface="Poppins Bold"/>
              <a:sym typeface="Poppins Bold"/>
            </a:endParaRPr>
          </a:p>
          <a:p>
            <a:pPr algn="l">
              <a:lnSpc>
                <a:spcPts val="2735"/>
              </a:lnSpc>
              <a:spcBef>
                <a:spcPct val="0"/>
              </a:spcBef>
            </a:pPr>
            <a:endParaRPr lang="en-US" sz="1953" b="1">
              <a:solidFill>
                <a:srgbClr val="000000"/>
              </a:solidFill>
              <a:latin typeface="Poppins Bold"/>
              <a:ea typeface="Poppins Bold"/>
              <a:cs typeface="Poppins Bold"/>
              <a:sym typeface="Poppins Bold"/>
            </a:endParaRPr>
          </a:p>
          <a:p>
            <a:pPr algn="l">
              <a:lnSpc>
                <a:spcPts val="2735"/>
              </a:lnSpc>
              <a:spcBef>
                <a:spcPct val="0"/>
              </a:spcBef>
            </a:pPr>
            <a:endParaRPr lang="en-US" sz="1953" b="1">
              <a:solidFill>
                <a:srgbClr val="000000"/>
              </a:solidFill>
              <a:latin typeface="Poppins Bold"/>
              <a:ea typeface="Poppins Bold"/>
              <a:cs typeface="Poppins Bold"/>
              <a:sym typeface="Poppins Bold"/>
            </a:endParaRPr>
          </a:p>
          <a:p>
            <a:pPr algn="l">
              <a:lnSpc>
                <a:spcPts val="2735"/>
              </a:lnSpc>
              <a:spcBef>
                <a:spcPct val="0"/>
              </a:spcBef>
            </a:pPr>
            <a:endParaRPr lang="en-US" sz="1953" b="1">
              <a:solidFill>
                <a:srgbClr val="000000"/>
              </a:solidFill>
              <a:latin typeface="Poppins Bold"/>
              <a:ea typeface="Poppins Bold"/>
              <a:cs typeface="Poppins Bold"/>
              <a:sym typeface="Poppins Bold"/>
            </a:endParaRPr>
          </a:p>
          <a:p>
            <a:pPr algn="l">
              <a:lnSpc>
                <a:spcPts val="2735"/>
              </a:lnSpc>
              <a:spcBef>
                <a:spcPct val="0"/>
              </a:spcBef>
            </a:pPr>
            <a:endParaRPr lang="en-US"/>
          </a:p>
        </p:txBody>
      </p:sp>
      <p:sp>
        <p:nvSpPr>
          <p:cNvPr id="4" name="Slide Number Placeholder 3">
            <a:extLst>
              <a:ext uri="{FF2B5EF4-FFF2-40B4-BE49-F238E27FC236}">
                <a16:creationId xmlns:a16="http://schemas.microsoft.com/office/drawing/2014/main" id="{07DB6B25-E994-C69B-6335-B30F974BCB93}"/>
              </a:ext>
            </a:extLst>
          </p:cNvPr>
          <p:cNvSpPr>
            <a:spLocks noGrp="1"/>
          </p:cNvSpPr>
          <p:nvPr>
            <p:ph type="sldNum" sz="quarter" idx="5"/>
          </p:nvPr>
        </p:nvSpPr>
        <p:spPr/>
        <p:txBody>
          <a:bodyPr/>
          <a:lstStyle/>
          <a:p>
            <a:fld id="{27D68180-1FB7-4BAA-9E5C-24E7ABEFC190}" type="slidenum">
              <a:rPr lang="en-US" smtClean="0"/>
              <a:t>13</a:t>
            </a:fld>
            <a:endParaRPr lang="en-US"/>
          </a:p>
        </p:txBody>
      </p:sp>
    </p:spTree>
    <p:extLst>
      <p:ext uri="{BB962C8B-B14F-4D97-AF65-F5344CB8AC3E}">
        <p14:creationId xmlns:p14="http://schemas.microsoft.com/office/powerpoint/2010/main" val="3577581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A05165-3B80-2ACA-37FE-AF3DC80651C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D19FB87-0F45-E08C-C2BA-8D42204775E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55563F-4451-CD99-7EFE-D46A512DAE28}"/>
              </a:ext>
            </a:extLst>
          </p:cNvPr>
          <p:cNvSpPr>
            <a:spLocks noGrp="1"/>
          </p:cNvSpPr>
          <p:nvPr>
            <p:ph type="body" idx="1"/>
          </p:nvPr>
        </p:nvSpPr>
        <p:spPr/>
        <p:txBody>
          <a:bodyPr/>
          <a:lstStyle/>
          <a:p>
            <a:pPr marL="171450" indent="-171450" algn="l">
              <a:lnSpc>
                <a:spcPts val="2735"/>
              </a:lnSpc>
              <a:spcBef>
                <a:spcPct val="0"/>
              </a:spcBef>
              <a:buFontTx/>
              <a:buChar char="-"/>
            </a:pPr>
            <a:r>
              <a:rPr lang="en-US"/>
              <a:t>Tỷ lệ người có tiền sử gia đình thừa cân tăng rõ rệt khi mức độ béo phì tăng lên. Ở nhóm thiếu cân, tỷ lệ này khoảng hơn 40%, nhưng đến các nhóm béo phì thì tăng lên rất cao, gần như đạt mức tuyệt đối ở Obesity Type III.</a:t>
            </a:r>
          </a:p>
          <a:p>
            <a:pPr marL="171450" indent="-171450" algn="l">
              <a:lnSpc>
                <a:spcPts val="2735"/>
              </a:lnSpc>
              <a:spcBef>
                <a:spcPct val="0"/>
              </a:spcBef>
              <a:buFontTx/>
              <a:buChar char="-"/>
            </a:pPr>
            <a:r>
              <a:rPr lang="en-US"/>
              <a:t>Điều này cho thấy tiền sử gia đình là một đặc trưng rất quan trọng trong bài toán dự đoán béo phì.</a:t>
            </a:r>
          </a:p>
          <a:p>
            <a:pPr algn="l">
              <a:lnSpc>
                <a:spcPts val="2735"/>
              </a:lnSpc>
              <a:spcBef>
                <a:spcPct val="0"/>
              </a:spcBef>
            </a:pPr>
            <a:endParaRPr lang="en-US" sz="1953" b="1">
              <a:solidFill>
                <a:srgbClr val="000000"/>
              </a:solidFill>
              <a:latin typeface="Poppins Bold"/>
              <a:ea typeface="Poppins Bold"/>
              <a:cs typeface="Poppins Bold"/>
              <a:sym typeface="Poppins Bold"/>
            </a:endParaRPr>
          </a:p>
          <a:p>
            <a:pPr algn="l">
              <a:lnSpc>
                <a:spcPts val="2735"/>
              </a:lnSpc>
              <a:spcBef>
                <a:spcPct val="0"/>
              </a:spcBef>
            </a:pPr>
            <a:endParaRPr lang="en-US" sz="1953" b="1">
              <a:solidFill>
                <a:srgbClr val="000000"/>
              </a:solidFill>
              <a:latin typeface="Poppins Bold"/>
              <a:ea typeface="Poppins Bold"/>
              <a:cs typeface="Poppins Bold"/>
              <a:sym typeface="Poppins Bold"/>
            </a:endParaRPr>
          </a:p>
          <a:p>
            <a:pPr algn="l">
              <a:lnSpc>
                <a:spcPts val="2735"/>
              </a:lnSpc>
              <a:spcBef>
                <a:spcPct val="0"/>
              </a:spcBef>
            </a:pPr>
            <a:endParaRPr lang="en-US" sz="1953" b="1">
              <a:solidFill>
                <a:srgbClr val="000000"/>
              </a:solidFill>
              <a:latin typeface="Poppins Bold"/>
              <a:ea typeface="Poppins Bold"/>
              <a:cs typeface="Poppins Bold"/>
              <a:sym typeface="Poppins Bold"/>
            </a:endParaRPr>
          </a:p>
          <a:p>
            <a:pPr algn="l">
              <a:lnSpc>
                <a:spcPts val="2735"/>
              </a:lnSpc>
              <a:spcBef>
                <a:spcPct val="0"/>
              </a:spcBef>
            </a:pPr>
            <a:endParaRPr lang="en-US"/>
          </a:p>
        </p:txBody>
      </p:sp>
      <p:sp>
        <p:nvSpPr>
          <p:cNvPr id="4" name="Slide Number Placeholder 3">
            <a:extLst>
              <a:ext uri="{FF2B5EF4-FFF2-40B4-BE49-F238E27FC236}">
                <a16:creationId xmlns:a16="http://schemas.microsoft.com/office/drawing/2014/main" id="{36FCCCC6-71DB-0375-DB4F-D080F275C1E5}"/>
              </a:ext>
            </a:extLst>
          </p:cNvPr>
          <p:cNvSpPr>
            <a:spLocks noGrp="1"/>
          </p:cNvSpPr>
          <p:nvPr>
            <p:ph type="sldNum" sz="quarter" idx="5"/>
          </p:nvPr>
        </p:nvSpPr>
        <p:spPr/>
        <p:txBody>
          <a:bodyPr/>
          <a:lstStyle/>
          <a:p>
            <a:fld id="{27D68180-1FB7-4BAA-9E5C-24E7ABEFC190}" type="slidenum">
              <a:rPr lang="en-US" smtClean="0"/>
              <a:t>14</a:t>
            </a:fld>
            <a:endParaRPr lang="en-US"/>
          </a:p>
        </p:txBody>
      </p:sp>
    </p:spTree>
    <p:extLst>
      <p:ext uri="{BB962C8B-B14F-4D97-AF65-F5344CB8AC3E}">
        <p14:creationId xmlns:p14="http://schemas.microsoft.com/office/powerpoint/2010/main" val="1660100459"/>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Logistic Regression là mô hình phân loại dựa trên xác suất. Với mỗi mẫu dữ liệu, mô hình sẽ tính xác suất người đó thuộc vào từng nhóm thể trạng, sau đó chọn nhóm có xác suất cao nhất làm kết quả dự đoán.</a:t>
            </a:r>
          </a:p>
          <a:p>
            <a:r>
              <a:rPr lang="en-US"/>
              <a:t>-   Ở đây có 7 lớp:</a:t>
            </a:r>
          </a:p>
          <a:p>
            <a:pPr lvl="1" rtl="0"/>
            <a:r>
              <a:rPr lang="en-US" sz="1200" kern="1200">
                <a:solidFill>
                  <a:schemeClr val="tx1"/>
                </a:solidFill>
                <a:latin typeface="+mn-lt"/>
                <a:ea typeface="+mn-ea"/>
                <a:cs typeface="+mn-cs"/>
              </a:rPr>
              <a:t>Insufficient Weight</a:t>
            </a:r>
            <a:br>
              <a:rPr lang="en-US" sz="1200" kern="1200">
                <a:solidFill>
                  <a:schemeClr val="tx1"/>
                </a:solidFill>
                <a:latin typeface="+mn-lt"/>
                <a:ea typeface="+mn-ea"/>
                <a:cs typeface="+mn-cs"/>
              </a:rPr>
            </a:br>
            <a:r>
              <a:rPr lang="en-US" sz="1200" kern="1200">
                <a:solidFill>
                  <a:schemeClr val="tx1"/>
                </a:solidFill>
                <a:latin typeface="+mn-lt"/>
                <a:ea typeface="+mn-ea"/>
                <a:cs typeface="+mn-cs"/>
              </a:rPr>
              <a:t>Normal Weight</a:t>
            </a:r>
            <a:br>
              <a:rPr lang="en-US" sz="1200" kern="1200">
                <a:solidFill>
                  <a:schemeClr val="tx1"/>
                </a:solidFill>
                <a:latin typeface="+mn-lt"/>
                <a:ea typeface="+mn-ea"/>
                <a:cs typeface="+mn-cs"/>
              </a:rPr>
            </a:br>
            <a:r>
              <a:rPr lang="en-US" sz="1200" kern="1200">
                <a:solidFill>
                  <a:schemeClr val="tx1"/>
                </a:solidFill>
                <a:latin typeface="+mn-lt"/>
                <a:ea typeface="+mn-ea"/>
                <a:cs typeface="+mn-cs"/>
              </a:rPr>
              <a:t>Overweight Level I</a:t>
            </a:r>
            <a:br>
              <a:rPr lang="en-US" sz="1200" kern="1200">
                <a:solidFill>
                  <a:schemeClr val="tx1"/>
                </a:solidFill>
                <a:latin typeface="+mn-lt"/>
                <a:ea typeface="+mn-ea"/>
                <a:cs typeface="+mn-cs"/>
              </a:rPr>
            </a:br>
            <a:r>
              <a:rPr lang="en-US" sz="1200" kern="1200">
                <a:solidFill>
                  <a:schemeClr val="tx1"/>
                </a:solidFill>
                <a:latin typeface="+mn-lt"/>
                <a:ea typeface="+mn-ea"/>
                <a:cs typeface="+mn-cs"/>
              </a:rPr>
              <a:t>Overweight Level II</a:t>
            </a:r>
            <a:br>
              <a:rPr lang="en-US" sz="1200" kern="1200">
                <a:solidFill>
                  <a:schemeClr val="tx1"/>
                </a:solidFill>
                <a:latin typeface="+mn-lt"/>
                <a:ea typeface="+mn-ea"/>
                <a:cs typeface="+mn-cs"/>
              </a:rPr>
            </a:br>
            <a:r>
              <a:rPr lang="en-US" sz="1200" kern="1200">
                <a:solidFill>
                  <a:schemeClr val="tx1"/>
                </a:solidFill>
                <a:latin typeface="+mn-lt"/>
                <a:ea typeface="+mn-ea"/>
                <a:cs typeface="+mn-cs"/>
              </a:rPr>
              <a:t>Obesity Type I</a:t>
            </a:r>
            <a:br>
              <a:rPr lang="en-US" sz="1200" kern="1200">
                <a:solidFill>
                  <a:schemeClr val="tx1"/>
                </a:solidFill>
                <a:latin typeface="+mn-lt"/>
                <a:ea typeface="+mn-ea"/>
                <a:cs typeface="+mn-cs"/>
              </a:rPr>
            </a:br>
            <a:r>
              <a:rPr lang="en-US" sz="1200" kern="1200">
                <a:solidFill>
                  <a:schemeClr val="tx1"/>
                </a:solidFill>
                <a:latin typeface="+mn-lt"/>
                <a:ea typeface="+mn-ea"/>
                <a:cs typeface="+mn-cs"/>
              </a:rPr>
              <a:t>Obesity Type II</a:t>
            </a:r>
            <a:br>
              <a:rPr lang="en-US" sz="1200" kern="1200">
                <a:solidFill>
                  <a:schemeClr val="tx1"/>
                </a:solidFill>
                <a:latin typeface="+mn-lt"/>
                <a:ea typeface="+mn-ea"/>
                <a:cs typeface="+mn-cs"/>
              </a:rPr>
            </a:br>
            <a:r>
              <a:rPr lang="en-US" sz="1200" kern="1200">
                <a:solidFill>
                  <a:schemeClr val="tx1"/>
                </a:solidFill>
                <a:latin typeface="+mn-lt"/>
                <a:ea typeface="+mn-ea"/>
                <a:cs typeface="+mn-cs"/>
              </a:rPr>
              <a:t>Obesity Type III</a:t>
            </a:r>
          </a:p>
          <a:p>
            <a:pPr marL="171450" indent="-171450">
              <a:buFontTx/>
              <a:buChar char="-"/>
            </a:pPr>
            <a:r>
              <a:rPr lang="en-US"/>
              <a:t>Trong dự án này, nhóm sử dụng Logistic Regression từ thư viện scikit-learn, với </a:t>
            </a:r>
            <a:r>
              <a:rPr lang="en-US" sz="1200" kern="1200">
                <a:solidFill>
                  <a:schemeClr val="tx1"/>
                </a:solidFill>
                <a:latin typeface="+mn-lt"/>
                <a:ea typeface="+mn-ea"/>
                <a:cs typeface="+mn-cs"/>
              </a:rPr>
              <a:t>max_iter = 3000 </a:t>
            </a:r>
            <a:r>
              <a:rPr lang="en-US" sz="1200" i="1" kern="1200">
                <a:solidFill>
                  <a:schemeClr val="tx1"/>
                </a:solidFill>
                <a:latin typeface="+mn-lt"/>
                <a:ea typeface="+mn-ea"/>
                <a:cs typeface="+mn-cs"/>
              </a:rPr>
              <a:t>(vòng lặp tối đa)</a:t>
            </a:r>
            <a:r>
              <a:rPr lang="en-US"/>
              <a:t> và </a:t>
            </a:r>
            <a:r>
              <a:rPr lang="en-US" sz="1200" kern="1200">
                <a:solidFill>
                  <a:schemeClr val="tx1"/>
                </a:solidFill>
                <a:latin typeface="+mn-lt"/>
                <a:ea typeface="+mn-ea"/>
                <a:cs typeface="+mn-cs"/>
              </a:rPr>
              <a:t>random_state = 42 </a:t>
            </a:r>
            <a:r>
              <a:rPr lang="en-US" sz="1200" i="1" kern="1200">
                <a:solidFill>
                  <a:schemeClr val="tx1"/>
                </a:solidFill>
                <a:latin typeface="+mn-lt"/>
                <a:ea typeface="+mn-ea"/>
                <a:cs typeface="+mn-cs"/>
              </a:rPr>
              <a:t>(giá trị cố định để kết quả chạy lại ổn định hơn)</a:t>
            </a:r>
            <a:r>
              <a:rPr lang="en-US"/>
              <a:t>. Đây là mô hình baseline để so sánh với các mô hình mạnh hơn phía sau.</a:t>
            </a:r>
          </a:p>
          <a:p>
            <a:pPr marL="171450" indent="-171450">
              <a:buFontTx/>
              <a:buChar char="-"/>
            </a:pPr>
            <a:endParaRPr lang="en-US"/>
          </a:p>
          <a:p>
            <a:pPr marL="171450" indent="-171450">
              <a:buFontTx/>
              <a:buChar char="-"/>
            </a:pPr>
            <a:r>
              <a:rPr lang="en-US"/>
              <a:t>Confusion Matrix: hàng là nhãn thật, cột là nhãn mô hình dự đoán. Các ô trên đường chéo chính là số trường hợp dự đoán đúng. Đường chéo càng đậm thì mô hình càng tốt.</a:t>
            </a:r>
          </a:p>
          <a:p>
            <a:pPr marL="171450" indent="-171450">
              <a:buFontTx/>
              <a:buChar char="-"/>
            </a:pPr>
            <a:r>
              <a:rPr lang="en-US"/>
              <a:t>Ở đây, đường chéo chính chưa thực sự rõ và có nhiều giá trị nằm lệch khỏi đường chéo. Điều này cho thấy Logistic Regression còn nhầm lẫn khá nhiều, số ca đoán đúng khá thấp.</a:t>
            </a:r>
          </a:p>
          <a:p>
            <a:pPr marL="171450" indent="-171450">
              <a:buFontTx/>
              <a:buChar char="-"/>
            </a:pPr>
            <a:endParaRPr lang="en-US"/>
          </a:p>
          <a:p>
            <a:pPr marL="0" indent="0">
              <a:buFontTx/>
              <a:buNone/>
            </a:pPr>
            <a:r>
              <a:rPr lang="en-US">
                <a:sym typeface="Wingdings" panose="05000000000000000000" pitchFamily="2" charset="2"/>
              </a:rPr>
              <a:t> Có thể thấy </a:t>
            </a:r>
            <a:r>
              <a:rPr lang="en-US"/>
              <a:t>Logistic Regression phù hợp để làm mô hình so sánh ban đầu, nhưng chưa đủ tốt cho bài toán dự đoán mức độ béo phì.</a:t>
            </a:r>
          </a:p>
        </p:txBody>
      </p:sp>
      <p:sp>
        <p:nvSpPr>
          <p:cNvPr id="4" name="Slide Number Placeholder 3"/>
          <p:cNvSpPr>
            <a:spLocks noGrp="1"/>
          </p:cNvSpPr>
          <p:nvPr>
            <p:ph type="sldNum" sz="quarter" idx="5"/>
          </p:nvPr>
        </p:nvSpPr>
        <p:spPr/>
        <p:txBody>
          <a:bodyPr/>
          <a:lstStyle/>
          <a:p>
            <a:fld id="{27D68180-1FB7-4BAA-9E5C-24E7ABEFC190}" type="slidenum">
              <a:rPr lang="en-US" smtClean="0"/>
              <a:t>15</a:t>
            </a:fld>
            <a:endParaRPr lang="en-US"/>
          </a:p>
        </p:txBody>
      </p:sp>
    </p:spTree>
    <p:extLst>
      <p:ext uri="{BB962C8B-B14F-4D97-AF65-F5344CB8AC3E}">
        <p14:creationId xmlns:p14="http://schemas.microsoft.com/office/powerpoint/2010/main" val="89373405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US"/>
              <a:t>Random Forest là mô hình rừng ngẫu nhiên, được tạo từ nhiều cây quyết định. Trong dự án này, nhóm sử dụng 100 cây quyết định. Mỗi cây sẽ đưa ra một dự đoán riêng, sau đó mô hình lấy kết quả được nhiều cây chọn nhất làm dự đoán cuối cùng.</a:t>
            </a:r>
          </a:p>
          <a:p>
            <a:pPr marL="171450" indent="-171450">
              <a:buFontTx/>
              <a:buChar char="-"/>
            </a:pPr>
            <a:r>
              <a:rPr lang="en-US"/>
              <a:t>Nếu 100 cây cùng dự đoán, lớp nào được nhiều cây chọn nhất thì mô hình sẽ lấy lớp đó làm kết quả cuối cùng. Nhờ kết hợp nhiều cây, Random Forest thường ổn định và chính xác hơn một cây quyết định đơn lẻ.</a:t>
            </a:r>
          </a:p>
          <a:p>
            <a:pPr marL="171450" indent="-171450">
              <a:buFontTx/>
              <a:buChar char="-"/>
            </a:pPr>
            <a:endParaRPr lang="en-US"/>
          </a:p>
          <a:p>
            <a:pPr marL="171450" indent="-171450">
              <a:buFontTx/>
              <a:buChar char="-"/>
            </a:pPr>
            <a:r>
              <a:rPr lang="en-US"/>
              <a:t>Confusion Matrix: các ô trên đường chéo chính đậm hơn nhiều so với Logistic Regression. Điều này cho thấy phần lớn mẫu đã được mô hình dự đoán đúng. Đặc biệt, nhóm Obesity Type III được nhận diện rất tốt, gần như ít bị nhầm sang các nhóm khác.</a:t>
            </a:r>
          </a:p>
          <a:p>
            <a:pPr marL="171450" indent="-171450">
              <a:buFontTx/>
              <a:buChar char="-"/>
            </a:pPr>
            <a:endParaRPr lang="en-US"/>
          </a:p>
          <a:p>
            <a:pPr marL="171450" indent="-171450">
              <a:buFontTx/>
              <a:buChar char="-"/>
            </a:pPr>
            <a:r>
              <a:rPr lang="en-US"/>
              <a:t>So với Logistic Regression chỉ đạt 61.32%, Random Forest đạt 89.76%, tức là tăng rất mạnh về độ chính xác. Điều này cho thấy dữ liệu sức khỏe không đơn giản theo quan hệ tuyến tính. Các yếu tố như tuổi, cân nặng, ăn uống, vận động và di truyền tương tác với nhau khá phức tạp, nên Random Forest phù hợp hơn.</a:t>
            </a:r>
          </a:p>
        </p:txBody>
      </p:sp>
      <p:sp>
        <p:nvSpPr>
          <p:cNvPr id="4" name="Slide Number Placeholder 3"/>
          <p:cNvSpPr>
            <a:spLocks noGrp="1"/>
          </p:cNvSpPr>
          <p:nvPr>
            <p:ph type="sldNum" sz="quarter" idx="5"/>
          </p:nvPr>
        </p:nvSpPr>
        <p:spPr/>
        <p:txBody>
          <a:bodyPr/>
          <a:lstStyle/>
          <a:p>
            <a:fld id="{27D68180-1FB7-4BAA-9E5C-24E7ABEFC190}" type="slidenum">
              <a:rPr lang="en-US" smtClean="0"/>
              <a:t>16</a:t>
            </a:fld>
            <a:endParaRPr lang="en-US"/>
          </a:p>
        </p:txBody>
      </p:sp>
    </p:spTree>
    <p:extLst>
      <p:ext uri="{BB962C8B-B14F-4D97-AF65-F5344CB8AC3E}">
        <p14:creationId xmlns:p14="http://schemas.microsoft.com/office/powerpoint/2010/main" val="4150627094"/>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 Random Forest là mô hình tốt nhất trong dự án với Accuracy 89.76%. Mô hình xử lý tốt quan hệ phi tuyến giữa các yếu tố sức khỏe và giảm nhầm lẫn so với Logistic Regression. Các yếu tố quan trọng nhất gồm tiền sử gia đình, tuổi, ăn đồ nhiều calo và vận động. Kết quả đã tiệm cận benchmark Kaggle, nhưng vẫn có thể cải thiện thêm bằng tối ưu siêu tham số và tạo thêm đặc trưng mới.</a:t>
            </a:r>
          </a:p>
        </p:txBody>
      </p:sp>
      <p:sp>
        <p:nvSpPr>
          <p:cNvPr id="4" name="Slide Number Placeholder 3"/>
          <p:cNvSpPr>
            <a:spLocks noGrp="1"/>
          </p:cNvSpPr>
          <p:nvPr>
            <p:ph type="sldNum" sz="quarter" idx="5"/>
          </p:nvPr>
        </p:nvSpPr>
        <p:spPr/>
        <p:txBody>
          <a:bodyPr/>
          <a:lstStyle/>
          <a:p>
            <a:fld id="{27D68180-1FB7-4BAA-9E5C-24E7ABEFC190}" type="slidenum">
              <a:rPr lang="en-US" smtClean="0"/>
              <a:t>17</a:t>
            </a:fld>
            <a:endParaRPr lang="en-US"/>
          </a:p>
        </p:txBody>
      </p:sp>
    </p:spTree>
    <p:extLst>
      <p:ext uri="{BB962C8B-B14F-4D97-AF65-F5344CB8AC3E}">
        <p14:creationId xmlns:p14="http://schemas.microsoft.com/office/powerpoint/2010/main" val="2127490678"/>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0DA97ACD-F630-4CE1-B4C0-0B07DA543432}"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CE6880CE-6FC8-41F6-A80B-D416914C5154}"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BFA1AD8-C322-4D9D-B1F5-16E06D9E6838}"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38668542-C8BD-4EFA-B143-FB2E9536377D}"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a:xfrm>
            <a:off x="457200" y="6356350"/>
            <a:ext cx="2133600" cy="365125"/>
          </a:xfrm>
          <a:prstGeom prst="rect">
            <a:avLst/>
          </a:prstGeom>
        </p:spPr>
        <p:txBody>
          <a:bodyPr/>
          <a:lstStyle/>
          <a:p>
            <a:fld id="{F79FD5DC-122B-4FA4-A25A-7B0FF1D1F533}" type="datetime1">
              <a:rPr lang="en-US" smtClean="0"/>
              <a:t>6/8/2026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a:xfrm>
            <a:off x="457200" y="6356350"/>
            <a:ext cx="2133600" cy="365125"/>
          </a:xfrm>
          <a:prstGeom prst="rect">
            <a:avLst/>
          </a:prstGeom>
        </p:spPr>
        <p:txBody>
          <a:bodyPr/>
          <a:lstStyle/>
          <a:p>
            <a:fld id="{3FF87746-6C8F-4D1E-A4DA-69DA27ECB947}" type="datetime1">
              <a:rPr lang="en-US" smtClean="0"/>
              <a:t>6/8/2026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a:xfrm>
            <a:off x="457200" y="6356350"/>
            <a:ext cx="2133600" cy="365125"/>
          </a:xfrm>
          <a:prstGeom prst="rect">
            <a:avLst/>
          </a:prstGeom>
        </p:spPr>
        <p:txBody>
          <a:bodyPr/>
          <a:lstStyle/>
          <a:p>
            <a:fld id="{AD1A4A9E-DD74-4D97-84EE-7ACE4DDB1CD6}" type="datetime1">
              <a:rPr lang="en-US" smtClean="0"/>
              <a:t>6/8/2026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a:xfrm>
            <a:off x="15849600" y="9639300"/>
            <a:ext cx="2133600" cy="365125"/>
          </a:xfrm>
        </p:spPr>
        <p:txBody>
          <a:bodyPr/>
          <a:lstStyle>
            <a:lvl1pPr>
              <a:defRPr b="1">
                <a:solidFill>
                  <a:schemeClr val="tx1"/>
                </a:solidFill>
              </a:defRPr>
            </a:lvl1pPr>
          </a:lstStyle>
          <a:p>
            <a:fld id="{B6F15528-21DE-4FAA-801E-634DDDAF4B2B}" type="slidenum">
              <a:rPr lang="en-US" smtClean="0"/>
              <a:pPr/>
              <a:t>‹#›</a:t>
            </a:fld>
            <a:endParaRPr lang="en-US" b="1"/>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A7F18E67-D0EA-4FE9-B781-B24CF76730A4}"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7200" y="6356350"/>
            <a:ext cx="2133600" cy="365125"/>
          </a:xfrm>
          <a:prstGeom prst="rect">
            <a:avLst/>
          </a:prstGeom>
        </p:spPr>
        <p:txBody>
          <a:bodyPr/>
          <a:lstStyle/>
          <a:p>
            <a:fld id="{527D3AB8-C437-45E0-8127-5964A477AD4D}" type="datetime1">
              <a:rPr lang="en-US" smtClean="0"/>
              <a:t>6/8/2026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21344191-4A96-4510-9597-D7E2F13E48AA}"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a:xfrm>
            <a:off x="457200" y="6356350"/>
            <a:ext cx="2133600" cy="365125"/>
          </a:xfrm>
          <a:prstGeom prst="rect">
            <a:avLst/>
          </a:prstGeom>
        </p:spPr>
        <p:txBody>
          <a:bodyPr/>
          <a:lstStyle/>
          <a:p>
            <a:fld id="{CC668943-383A-4824-A07A-7C67B3559D15}" type="datetime1">
              <a:rPr lang="en-US" smtClean="0"/>
              <a:t>6/8/2026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5849600" y="9639300"/>
            <a:ext cx="2133600" cy="365125"/>
          </a:xfrm>
          <a:prstGeom prst="rect">
            <a:avLst/>
          </a:prstGeom>
        </p:spPr>
        <p:txBody>
          <a:bodyPr vert="horz" lIns="91440" tIns="45720" rIns="91440" bIns="45720" rtlCol="0" anchor="ctr"/>
          <a:lstStyle>
            <a:lvl1pPr algn="r">
              <a:defRPr sz="1600">
                <a:solidFill>
                  <a:schemeClr val="tx1"/>
                </a:solidFill>
              </a:defRPr>
            </a:lvl1pPr>
          </a:lstStyle>
          <a:p>
            <a:fld id="{B6F15528-21DE-4FAA-801E-634DDDAF4B2B}" type="slidenum">
              <a:rPr lang="en-US" smtClean="0"/>
              <a:pPr/>
              <a:t>‹#›</a:t>
            </a:fld>
            <a:endParaRPr lang="en-US">
              <a:solidFill>
                <a:schemeClr val="tx1"/>
              </a:solidFill>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image" Target="../media/image1.svg"/><Relationship Id="rId1" Type="http://schemas.openxmlformats.org/officeDocument/2006/relationships/slideLayout" Target="../slideLayouts/slideLayout7.xml"/><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image" Target="../media/image2.svg"/><Relationship Id="rId1" Type="http://schemas.openxmlformats.org/officeDocument/2006/relationships/slideLayout" Target="../slideLayouts/slideLayout7.xml"/><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xml"/><Relationship Id="rId1" Type="http://schemas.openxmlformats.org/officeDocument/2006/relationships/slideLayout" Target="../slideLayouts/slideLayout7.xml"/><Relationship Id="rId5" Type="http://schemas.openxmlformats.org/officeDocument/2006/relationships/image" Target="../media/image7.png"/><Relationship Id="rId4" Type="http://schemas.openxmlformats.org/officeDocument/2006/relationships/image" Target="../media/image6.png"/></Relationships>
</file>

<file path=ppt/slides/_rels/slide4.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2.xml"/><Relationship Id="rId1" Type="http://schemas.openxmlformats.org/officeDocument/2006/relationships/slideLayout" Target="../slideLayouts/slideLayout7.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2.svg"/></Relationships>
</file>

<file path=ppt/slides/_rels/slide5.xml.rels><?xml version="1.0" encoding="UTF-8" standalone="yes"?>
<Relationships xmlns="http://schemas.openxmlformats.org/package/2006/relationships"><Relationship Id="rId3"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7.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2.svg"/></Relationships>
</file>

<file path=ppt/slides/_rels/slide6.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notesSlide" Target="../notesSlides/notesSlide4.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7.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notesSlide" Target="../notesSlides/notesSlide5.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16.png"/><Relationship Id="rId2" Type="http://schemas.openxmlformats.org/officeDocument/2006/relationships/notesSlide" Target="../notesSlides/notesSlide6.xml"/><Relationship Id="rId1" Type="http://schemas.openxmlformats.org/officeDocument/2006/relationships/slideLayout" Target="../slideLayouts/slideLayout7.xml"/><Relationship Id="rId6" Type="http://schemas.openxmlformats.org/officeDocument/2006/relationships/image" Target="../media/image15.png"/><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18.png"/><Relationship Id="rId5" Type="http://schemas.openxmlformats.org/officeDocument/2006/relationships/image" Target="../media/image2.svg"/><Relationship Id="rId4" Type="http://schemas.openxmlformats.org/officeDocument/2006/relationships/image" Target="../media/image8.svg"/></Relationships>
</file>

<file path=ppt/slides/_rels/slide10.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9.png"/><Relationship Id="rId5" Type="http://schemas.openxmlformats.org/officeDocument/2006/relationships/image" Target="../media/image2.svg"/><Relationship Id="rId4" Type="http://schemas.openxmlformats.org/officeDocument/2006/relationships/image" Target="../media/image8.sv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0.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 Id="rId5" Type="http://schemas.openxmlformats.org/officeDocument/2006/relationships/image" Target="../media/image23.png"/><Relationship Id="rId4" Type="http://schemas.openxmlformats.org/officeDocument/2006/relationships/image" Target="../media/image22.png"/></Relationships>
</file>

<file path=ppt/slides/_rels/slide1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3" Type="http://schemas.openxmlformats.org/officeDocument/2006/relationships/image" Target="../media/image2.svg"/><Relationship Id="rId2" Type="http://schemas.openxmlformats.org/officeDocument/2006/relationships/notesSlide" Target="../notesSlides/notesSlide14.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17.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sv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361638" y="5857123"/>
            <a:ext cx="5105802" cy="740016"/>
            <a:chOff x="0" y="0"/>
            <a:chExt cx="1344738" cy="194901"/>
          </a:xfrm>
        </p:grpSpPr>
        <p:sp>
          <p:nvSpPr>
            <p:cNvPr id="3" name="Freeform 3"/>
            <p:cNvSpPr/>
            <p:nvPr/>
          </p:nvSpPr>
          <p:spPr>
            <a:xfrm>
              <a:off x="0" y="0"/>
              <a:ext cx="1344738" cy="194901"/>
            </a:xfrm>
            <a:custGeom>
              <a:avLst/>
              <a:gdLst/>
              <a:ahLst/>
              <a:cxnLst/>
              <a:rect l="l" t="t" r="r" b="b"/>
              <a:pathLst>
                <a:path w="1344738" h="194901">
                  <a:moveTo>
                    <a:pt x="97451" y="0"/>
                  </a:moveTo>
                  <a:lnTo>
                    <a:pt x="1247287" y="0"/>
                  </a:lnTo>
                  <a:cubicBezTo>
                    <a:pt x="1273133" y="0"/>
                    <a:pt x="1297920" y="10267"/>
                    <a:pt x="1316195" y="28543"/>
                  </a:cubicBezTo>
                  <a:cubicBezTo>
                    <a:pt x="1334471" y="46818"/>
                    <a:pt x="1344738" y="71605"/>
                    <a:pt x="1344738" y="97451"/>
                  </a:cubicBezTo>
                  <a:lnTo>
                    <a:pt x="1344738" y="97451"/>
                  </a:lnTo>
                  <a:cubicBezTo>
                    <a:pt x="1344738" y="123296"/>
                    <a:pt x="1334471" y="148083"/>
                    <a:pt x="1316195" y="166359"/>
                  </a:cubicBezTo>
                  <a:cubicBezTo>
                    <a:pt x="1297920" y="184634"/>
                    <a:pt x="1273133" y="194901"/>
                    <a:pt x="1247287" y="194901"/>
                  </a:cubicBezTo>
                  <a:lnTo>
                    <a:pt x="97451" y="194901"/>
                  </a:lnTo>
                  <a:cubicBezTo>
                    <a:pt x="71605" y="194901"/>
                    <a:pt x="46818" y="184634"/>
                    <a:pt x="28543" y="166359"/>
                  </a:cubicBezTo>
                  <a:cubicBezTo>
                    <a:pt x="10267" y="148083"/>
                    <a:pt x="0" y="123296"/>
                    <a:pt x="0" y="97451"/>
                  </a:cubicBezTo>
                  <a:lnTo>
                    <a:pt x="0" y="97451"/>
                  </a:lnTo>
                  <a:cubicBezTo>
                    <a:pt x="0" y="71605"/>
                    <a:pt x="10267" y="46818"/>
                    <a:pt x="28543" y="28543"/>
                  </a:cubicBezTo>
                  <a:cubicBezTo>
                    <a:pt x="46818" y="10267"/>
                    <a:pt x="71605" y="0"/>
                    <a:pt x="97451" y="0"/>
                  </a:cubicBezTo>
                  <a:close/>
                </a:path>
              </a:pathLst>
            </a:custGeom>
            <a:gradFill rotWithShape="1">
              <a:gsLst>
                <a:gs pos="0">
                  <a:srgbClr val="398DFA">
                    <a:alpha val="60000"/>
                  </a:srgbClr>
                </a:gs>
                <a:gs pos="50000">
                  <a:srgbClr val="0151B8">
                    <a:alpha val="14400"/>
                  </a:srgbClr>
                </a:gs>
                <a:gs pos="100000">
                  <a:srgbClr val="0151B8">
                    <a:alpha val="0"/>
                  </a:srgbClr>
                </a:gs>
              </a:gsLst>
              <a:lin ang="0"/>
            </a:gradFill>
          </p:spPr>
          <p:txBody>
            <a:bodyPr/>
            <a:lstStyle/>
            <a:p>
              <a:endParaRPr lang="en-US"/>
            </a:p>
          </p:txBody>
        </p:sp>
        <p:sp>
          <p:nvSpPr>
            <p:cNvPr id="4" name="TextBox 4"/>
            <p:cNvSpPr txBox="1"/>
            <p:nvPr/>
          </p:nvSpPr>
          <p:spPr>
            <a:xfrm>
              <a:off x="0" y="-38100"/>
              <a:ext cx="1344738" cy="233001"/>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rot="3890140">
            <a:off x="16906391" y="141292"/>
            <a:ext cx="5289783" cy="5289783"/>
            <a:chOff x="0" y="0"/>
            <a:chExt cx="812800" cy="812800"/>
          </a:xfrm>
        </p:grpSpPr>
        <p:sp>
          <p:nvSpPr>
            <p:cNvPr id="6" name="Freeform 6"/>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151B8">
                    <a:alpha val="90000"/>
                  </a:srgbClr>
                </a:gs>
                <a:gs pos="50000">
                  <a:srgbClr val="0151B8">
                    <a:alpha val="21600"/>
                  </a:srgbClr>
                </a:gs>
                <a:gs pos="100000">
                  <a:srgbClr val="0151B8">
                    <a:alpha val="0"/>
                  </a:srgbClr>
                </a:gs>
              </a:gsLst>
              <a:lin ang="0"/>
            </a:gradFill>
            <a:ln cap="sq">
              <a:noFill/>
              <a:prstDash val="solid"/>
              <a:miter/>
            </a:ln>
          </p:spPr>
          <p:txBody>
            <a:bodyPr/>
            <a:lstStyle/>
            <a:p>
              <a:endParaRPr lang="en-US"/>
            </a:p>
          </p:txBody>
        </p:sp>
        <p:sp>
          <p:nvSpPr>
            <p:cNvPr id="7" name="TextBox 7"/>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8" name="Group 8"/>
          <p:cNvGrpSpPr/>
          <p:nvPr/>
        </p:nvGrpSpPr>
        <p:grpSpPr>
          <a:xfrm rot="3890140">
            <a:off x="17373685" y="4678407"/>
            <a:ext cx="1384678" cy="1384678"/>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151B8">
                    <a:alpha val="90000"/>
                  </a:srgbClr>
                </a:gs>
                <a:gs pos="100000">
                  <a:srgbClr val="0151B8">
                    <a:alpha val="21600"/>
                  </a:srgbClr>
                </a:gs>
              </a:gsLst>
              <a:lin ang="0"/>
            </a:gradFill>
            <a:ln cap="sq">
              <a:noFill/>
              <a:prstDash val="solid"/>
              <a:miter/>
            </a:ln>
          </p:spPr>
          <p:txBody>
            <a:bodyPr/>
            <a:lstStyle/>
            <a:p>
              <a:endParaRPr lang="en-US"/>
            </a:p>
          </p:txBody>
        </p:sp>
        <p:sp>
          <p:nvSpPr>
            <p:cNvPr id="10" name="TextBox 10"/>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1" name="Group 11"/>
          <p:cNvGrpSpPr/>
          <p:nvPr/>
        </p:nvGrpSpPr>
        <p:grpSpPr>
          <a:xfrm rot="3770140">
            <a:off x="15794190" y="675669"/>
            <a:ext cx="730678" cy="730678"/>
            <a:chOff x="0" y="0"/>
            <a:chExt cx="812800" cy="812800"/>
          </a:xfrm>
        </p:grpSpPr>
        <p:sp>
          <p:nvSpPr>
            <p:cNvPr id="12" name="Freeform 12"/>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151B8">
                    <a:alpha val="100000"/>
                  </a:srgbClr>
                </a:gs>
                <a:gs pos="100000">
                  <a:srgbClr val="0151B8">
                    <a:alpha val="24000"/>
                  </a:srgbClr>
                </a:gs>
              </a:gsLst>
              <a:lin ang="0"/>
            </a:gradFill>
            <a:ln cap="sq">
              <a:noFill/>
              <a:prstDash val="solid"/>
              <a:miter/>
            </a:ln>
          </p:spPr>
          <p:txBody>
            <a:bodyPr/>
            <a:lstStyle/>
            <a:p>
              <a:endParaRPr lang="en-US"/>
            </a:p>
          </p:txBody>
        </p:sp>
        <p:sp>
          <p:nvSpPr>
            <p:cNvPr id="13" name="TextBox 13"/>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4" name="Group 14"/>
          <p:cNvGrpSpPr/>
          <p:nvPr/>
        </p:nvGrpSpPr>
        <p:grpSpPr>
          <a:xfrm>
            <a:off x="10008209" y="1721623"/>
            <a:ext cx="6661162" cy="6661162"/>
            <a:chOff x="0" y="0"/>
            <a:chExt cx="812800" cy="812800"/>
          </a:xfrm>
        </p:grpSpPr>
        <p:sp>
          <p:nvSpPr>
            <p:cNvPr id="15" name="Freeform 15"/>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151B8">
                    <a:alpha val="100000"/>
                  </a:srgbClr>
                </a:gs>
                <a:gs pos="50000">
                  <a:srgbClr val="0151B8">
                    <a:alpha val="24000"/>
                  </a:srgbClr>
                </a:gs>
                <a:gs pos="100000">
                  <a:srgbClr val="0151B8">
                    <a:alpha val="0"/>
                  </a:srgbClr>
                </a:gs>
              </a:gsLst>
              <a:lin ang="0"/>
            </a:gradFill>
          </p:spPr>
          <p:txBody>
            <a:bodyPr/>
            <a:lstStyle/>
            <a:p>
              <a:endParaRPr lang="en-US"/>
            </a:p>
          </p:txBody>
        </p:sp>
        <p:sp>
          <p:nvSpPr>
            <p:cNvPr id="16" name="TextBox 16"/>
            <p:cNvSpPr txBox="1"/>
            <p:nvPr/>
          </p:nvSpPr>
          <p:spPr>
            <a:xfrm>
              <a:off x="76200" y="38100"/>
              <a:ext cx="660400" cy="698500"/>
            </a:xfrm>
            <a:prstGeom prst="rect">
              <a:avLst/>
            </a:prstGeom>
          </p:spPr>
          <p:txBody>
            <a:bodyPr lIns="48262" tIns="48262" rIns="48262" bIns="48262" rtlCol="0" anchor="ctr"/>
            <a:lstStyle/>
            <a:p>
              <a:pPr algn="ctr">
                <a:lnSpc>
                  <a:spcPts val="2659"/>
                </a:lnSpc>
              </a:pPr>
              <a:endParaRPr/>
            </a:p>
          </p:txBody>
        </p:sp>
      </p:grpSp>
      <p:sp>
        <p:nvSpPr>
          <p:cNvPr id="19" name="Freeform 19"/>
          <p:cNvSpPr/>
          <p:nvPr/>
        </p:nvSpPr>
        <p:spPr>
          <a:xfrm>
            <a:off x="837499" y="2498759"/>
            <a:ext cx="827881" cy="931512"/>
          </a:xfrm>
          <a:custGeom>
            <a:avLst/>
            <a:gdLst/>
            <a:ahLst/>
            <a:cxnLst/>
            <a:rect l="l" t="t" r="r" b="b"/>
            <a:pathLst>
              <a:path w="827881" h="931512">
                <a:moveTo>
                  <a:pt x="0" y="0"/>
                </a:moveTo>
                <a:lnTo>
                  <a:pt x="827881" y="0"/>
                </a:lnTo>
                <a:lnTo>
                  <a:pt x="827881" y="931511"/>
                </a:lnTo>
                <a:lnTo>
                  <a:pt x="0" y="931511"/>
                </a:lnTo>
                <a:lnTo>
                  <a:pt x="0" y="0"/>
                </a:lnTo>
                <a:close/>
              </a:path>
            </a:pathLst>
          </a:custGeom>
          <a:blipFill>
            <a:blip>
              <a:extLst>
                <a:ext uri="{96DAC541-7B7A-43D3-8B79-37D633B846F1}">
                  <asvg:svgBlip xmlns:asvg="http://schemas.microsoft.com/office/drawing/2016/SVG/main" r:embed="rId2"/>
                </a:ext>
              </a:extLst>
            </a:blip>
            <a:stretch>
              <a:fillRect/>
            </a:stretch>
          </a:blipFill>
        </p:spPr>
        <p:txBody>
          <a:bodyPr/>
          <a:lstStyle/>
          <a:p>
            <a:endParaRPr lang="en-US"/>
          </a:p>
        </p:txBody>
      </p:sp>
      <p:sp>
        <p:nvSpPr>
          <p:cNvPr id="20" name="Freeform 20"/>
          <p:cNvSpPr/>
          <p:nvPr/>
        </p:nvSpPr>
        <p:spPr>
          <a:xfrm>
            <a:off x="9344025" y="650206"/>
            <a:ext cx="1302738" cy="701789"/>
          </a:xfrm>
          <a:custGeom>
            <a:avLst/>
            <a:gdLst/>
            <a:ahLst/>
            <a:cxnLst/>
            <a:rect l="l" t="t" r="r" b="b"/>
            <a:pathLst>
              <a:path w="1302738" h="701789">
                <a:moveTo>
                  <a:pt x="0" y="0"/>
                </a:moveTo>
                <a:lnTo>
                  <a:pt x="1302738" y="0"/>
                </a:lnTo>
                <a:lnTo>
                  <a:pt x="1302738" y="701790"/>
                </a:lnTo>
                <a:lnTo>
                  <a:pt x="0" y="701790"/>
                </a:lnTo>
                <a:lnTo>
                  <a:pt x="0" y="0"/>
                </a:lnTo>
                <a:close/>
              </a:path>
            </a:pathLst>
          </a:custGeom>
          <a:blipFill>
            <a:blip>
              <a:extLst>
                <a:ext uri="{96DAC541-7B7A-43D3-8B79-37D633B846F1}">
                  <asvg:svgBlip xmlns:asvg="http://schemas.microsoft.com/office/drawing/2016/SVG/main" r:embed="rId3"/>
                </a:ext>
              </a:extLst>
            </a:blip>
            <a:stretch>
              <a:fillRect b="-85630"/>
            </a:stretch>
          </a:blipFill>
        </p:spPr>
        <p:txBody>
          <a:bodyPr/>
          <a:lstStyle/>
          <a:p>
            <a:endParaRPr lang="en-US"/>
          </a:p>
        </p:txBody>
      </p:sp>
      <p:sp>
        <p:nvSpPr>
          <p:cNvPr id="21" name="Freeform 21"/>
          <p:cNvSpPr/>
          <p:nvPr/>
        </p:nvSpPr>
        <p:spPr>
          <a:xfrm>
            <a:off x="16140479" y="8362424"/>
            <a:ext cx="1302738" cy="701789"/>
          </a:xfrm>
          <a:custGeom>
            <a:avLst/>
            <a:gdLst/>
            <a:ahLst/>
            <a:cxnLst/>
            <a:rect l="l" t="t" r="r" b="b"/>
            <a:pathLst>
              <a:path w="1302738" h="701789">
                <a:moveTo>
                  <a:pt x="0" y="0"/>
                </a:moveTo>
                <a:lnTo>
                  <a:pt x="1302738" y="0"/>
                </a:lnTo>
                <a:lnTo>
                  <a:pt x="1302738" y="701789"/>
                </a:lnTo>
                <a:lnTo>
                  <a:pt x="0" y="701789"/>
                </a:lnTo>
                <a:lnTo>
                  <a:pt x="0" y="0"/>
                </a:lnTo>
                <a:close/>
              </a:path>
            </a:pathLst>
          </a:custGeom>
          <a:blipFill>
            <a:blip>
              <a:extLst>
                <a:ext uri="{96DAC541-7B7A-43D3-8B79-37D633B846F1}">
                  <asvg:svgBlip xmlns:asvg="http://schemas.microsoft.com/office/drawing/2016/SVG/main" r:embed="rId3"/>
                </a:ext>
              </a:extLst>
            </a:blip>
            <a:stretch>
              <a:fillRect b="-85630"/>
            </a:stretch>
          </a:blipFill>
        </p:spPr>
        <p:txBody>
          <a:bodyPr/>
          <a:lstStyle/>
          <a:p>
            <a:endParaRPr lang="en-US"/>
          </a:p>
        </p:txBody>
      </p:sp>
      <p:grpSp>
        <p:nvGrpSpPr>
          <p:cNvPr id="22" name="Group 22"/>
          <p:cNvGrpSpPr/>
          <p:nvPr/>
        </p:nvGrpSpPr>
        <p:grpSpPr>
          <a:xfrm>
            <a:off x="-115063" y="9831857"/>
            <a:ext cx="18518127" cy="428012"/>
            <a:chOff x="0" y="0"/>
            <a:chExt cx="4877202" cy="112728"/>
          </a:xfrm>
        </p:grpSpPr>
        <p:sp>
          <p:nvSpPr>
            <p:cNvPr id="23" name="Freeform 23"/>
            <p:cNvSpPr/>
            <p:nvPr/>
          </p:nvSpPr>
          <p:spPr>
            <a:xfrm>
              <a:off x="0" y="0"/>
              <a:ext cx="4877202" cy="112728"/>
            </a:xfrm>
            <a:custGeom>
              <a:avLst/>
              <a:gdLst/>
              <a:ahLst/>
              <a:cxnLst/>
              <a:rect l="l" t="t" r="r" b="b"/>
              <a:pathLst>
                <a:path w="4877202" h="112728">
                  <a:moveTo>
                    <a:pt x="0" y="0"/>
                  </a:moveTo>
                  <a:lnTo>
                    <a:pt x="4877202" y="0"/>
                  </a:lnTo>
                  <a:lnTo>
                    <a:pt x="4877202" y="112728"/>
                  </a:lnTo>
                  <a:lnTo>
                    <a:pt x="0" y="112728"/>
                  </a:lnTo>
                  <a:close/>
                </a:path>
              </a:pathLst>
            </a:custGeom>
            <a:gradFill rotWithShape="1">
              <a:gsLst>
                <a:gs pos="0">
                  <a:srgbClr val="0453B9">
                    <a:alpha val="100000"/>
                  </a:srgbClr>
                </a:gs>
                <a:gs pos="100000">
                  <a:srgbClr val="3881DF">
                    <a:alpha val="100000"/>
                  </a:srgbClr>
                </a:gs>
              </a:gsLst>
              <a:lin ang="2700000"/>
            </a:gradFill>
          </p:spPr>
          <p:txBody>
            <a:bodyPr/>
            <a:lstStyle/>
            <a:p>
              <a:endParaRPr lang="en-US"/>
            </a:p>
          </p:txBody>
        </p:sp>
        <p:sp>
          <p:nvSpPr>
            <p:cNvPr id="24" name="TextBox 24"/>
            <p:cNvSpPr txBox="1"/>
            <p:nvPr/>
          </p:nvSpPr>
          <p:spPr>
            <a:xfrm>
              <a:off x="0" y="-66675"/>
              <a:ext cx="4877202" cy="179403"/>
            </a:xfrm>
            <a:prstGeom prst="rect">
              <a:avLst/>
            </a:prstGeom>
          </p:spPr>
          <p:txBody>
            <a:bodyPr lIns="50800" tIns="50800" rIns="50800" bIns="50800" rtlCol="0" anchor="ctr"/>
            <a:lstStyle/>
            <a:p>
              <a:pPr algn="ctr">
                <a:lnSpc>
                  <a:spcPts val="3020"/>
                </a:lnSpc>
              </a:pPr>
              <a:endParaRPr/>
            </a:p>
          </p:txBody>
        </p:sp>
      </p:grpSp>
      <p:sp>
        <p:nvSpPr>
          <p:cNvPr id="25" name="TextBox 25"/>
          <p:cNvSpPr txBox="1"/>
          <p:nvPr/>
        </p:nvSpPr>
        <p:spPr>
          <a:xfrm>
            <a:off x="1752600" y="2505075"/>
            <a:ext cx="8258175" cy="2315580"/>
          </a:xfrm>
          <a:prstGeom prst="rect">
            <a:avLst/>
          </a:prstGeom>
        </p:spPr>
        <p:txBody>
          <a:bodyPr lIns="0" tIns="0" rIns="0" bIns="0" rtlCol="0" anchor="t">
            <a:spAutoFit/>
          </a:bodyPr>
          <a:lstStyle/>
          <a:p>
            <a:pPr marL="0" lvl="0" indent="0" algn="ctr">
              <a:lnSpc>
                <a:spcPts val="4497"/>
              </a:lnSpc>
              <a:spcBef>
                <a:spcPct val="0"/>
              </a:spcBef>
            </a:pPr>
            <a:r>
              <a:rPr lang="en-US" sz="4125" b="1" u="none" strike="noStrike">
                <a:solidFill>
                  <a:srgbClr val="000000"/>
                </a:solidFill>
                <a:latin typeface="Poppins Bold"/>
                <a:ea typeface="Poppins Bold"/>
                <a:cs typeface="Poppins Bold"/>
                <a:sym typeface="Poppins Bold"/>
              </a:rPr>
              <a:t>CASE STUDY: Phân tích và dự báo mức độ béo phì dựa trên thói quen ăn uống và sinh hoạt</a:t>
            </a:r>
          </a:p>
          <a:p>
            <a:pPr algn="ctr">
              <a:lnSpc>
                <a:spcPts val="4577"/>
              </a:lnSpc>
            </a:pPr>
            <a:endParaRPr lang="en-US" sz="4125" b="1" u="none" strike="noStrike">
              <a:solidFill>
                <a:srgbClr val="000000"/>
              </a:solidFill>
              <a:latin typeface="Poppins Bold"/>
              <a:ea typeface="Poppins Bold"/>
              <a:cs typeface="Poppins Bold"/>
              <a:sym typeface="Poppins Bold"/>
            </a:endParaRPr>
          </a:p>
        </p:txBody>
      </p:sp>
      <p:sp>
        <p:nvSpPr>
          <p:cNvPr id="26" name="TextBox 26"/>
          <p:cNvSpPr txBox="1"/>
          <p:nvPr/>
        </p:nvSpPr>
        <p:spPr>
          <a:xfrm>
            <a:off x="1665380" y="5895496"/>
            <a:ext cx="8015880" cy="582999"/>
          </a:xfrm>
          <a:prstGeom prst="rect">
            <a:avLst/>
          </a:prstGeom>
        </p:spPr>
        <p:txBody>
          <a:bodyPr lIns="0" tIns="0" rIns="0" bIns="0" rtlCol="0" anchor="t">
            <a:spAutoFit/>
          </a:bodyPr>
          <a:lstStyle/>
          <a:p>
            <a:pPr algn="l">
              <a:lnSpc>
                <a:spcPts val="4502"/>
              </a:lnSpc>
              <a:spcBef>
                <a:spcPct val="0"/>
              </a:spcBef>
            </a:pPr>
            <a:r>
              <a:rPr lang="en-US" sz="3216" b="1">
                <a:solidFill>
                  <a:srgbClr val="000000"/>
                </a:solidFill>
                <a:latin typeface="Poppins Medium"/>
                <a:ea typeface="Poppins Medium"/>
                <a:cs typeface="Poppins Medium"/>
                <a:sym typeface="Poppins Medium"/>
              </a:rPr>
              <a:t>Innovations for a Healthier Future</a:t>
            </a:r>
          </a:p>
        </p:txBody>
      </p:sp>
      <p:sp>
        <p:nvSpPr>
          <p:cNvPr id="27" name="TextBox 27"/>
          <p:cNvSpPr txBox="1"/>
          <p:nvPr/>
        </p:nvSpPr>
        <p:spPr>
          <a:xfrm>
            <a:off x="1361638" y="7545454"/>
            <a:ext cx="3631535" cy="442334"/>
          </a:xfrm>
          <a:prstGeom prst="rect">
            <a:avLst/>
          </a:prstGeom>
        </p:spPr>
        <p:txBody>
          <a:bodyPr lIns="0" tIns="0" rIns="0" bIns="0" rtlCol="0" anchor="t">
            <a:spAutoFit/>
          </a:bodyPr>
          <a:lstStyle/>
          <a:p>
            <a:pPr algn="l">
              <a:lnSpc>
                <a:spcPts val="3444"/>
              </a:lnSpc>
              <a:spcBef>
                <a:spcPct val="0"/>
              </a:spcBef>
            </a:pPr>
            <a:r>
              <a:rPr lang="en-US" sz="2460">
                <a:solidFill>
                  <a:srgbClr val="000000"/>
                </a:solidFill>
                <a:latin typeface="Poppins"/>
                <a:ea typeface="Poppins"/>
                <a:cs typeface="Poppins"/>
                <a:sym typeface="Poppins"/>
              </a:rPr>
              <a:t>Group</a:t>
            </a:r>
          </a:p>
        </p:txBody>
      </p:sp>
      <p:sp>
        <p:nvSpPr>
          <p:cNvPr id="28" name="TextBox 28"/>
          <p:cNvSpPr txBox="1"/>
          <p:nvPr/>
        </p:nvSpPr>
        <p:spPr>
          <a:xfrm>
            <a:off x="6501641" y="7545454"/>
            <a:ext cx="4551356" cy="442334"/>
          </a:xfrm>
          <a:prstGeom prst="rect">
            <a:avLst/>
          </a:prstGeom>
        </p:spPr>
        <p:txBody>
          <a:bodyPr lIns="0" tIns="0" rIns="0" bIns="0" rtlCol="0" anchor="t">
            <a:spAutoFit/>
          </a:bodyPr>
          <a:lstStyle/>
          <a:p>
            <a:pPr algn="l">
              <a:lnSpc>
                <a:spcPts val="3444"/>
              </a:lnSpc>
              <a:spcBef>
                <a:spcPct val="0"/>
              </a:spcBef>
            </a:pPr>
            <a:r>
              <a:rPr lang="en-US" sz="2460">
                <a:solidFill>
                  <a:srgbClr val="000000"/>
                </a:solidFill>
                <a:latin typeface="Poppins"/>
                <a:ea typeface="Poppins"/>
                <a:cs typeface="Poppins"/>
                <a:sym typeface="Poppins"/>
              </a:rPr>
              <a:t>Date</a:t>
            </a:r>
          </a:p>
        </p:txBody>
      </p:sp>
      <p:sp>
        <p:nvSpPr>
          <p:cNvPr id="29" name="TextBox 29"/>
          <p:cNvSpPr txBox="1"/>
          <p:nvPr/>
        </p:nvSpPr>
        <p:spPr>
          <a:xfrm>
            <a:off x="1361638" y="8044938"/>
            <a:ext cx="5105802" cy="1572436"/>
          </a:xfrm>
          <a:prstGeom prst="rect">
            <a:avLst/>
          </a:prstGeom>
        </p:spPr>
        <p:txBody>
          <a:bodyPr lIns="0" tIns="0" rIns="0" bIns="0" rtlCol="0" anchor="t">
            <a:spAutoFit/>
          </a:bodyPr>
          <a:lstStyle/>
          <a:p>
            <a:pPr algn="l">
              <a:lnSpc>
                <a:spcPts val="4155"/>
              </a:lnSpc>
            </a:pPr>
            <a:r>
              <a:rPr lang="en-US" sz="2968" b="1" spc="-59">
                <a:solidFill>
                  <a:srgbClr val="0453B9"/>
                </a:solidFill>
                <a:latin typeface="Poppins Bold"/>
                <a:ea typeface="Poppins Bold"/>
                <a:cs typeface="Poppins Bold"/>
                <a:sym typeface="Poppins Bold"/>
              </a:rPr>
              <a:t>Bạch Công Dũng</a:t>
            </a:r>
          </a:p>
          <a:p>
            <a:pPr algn="l">
              <a:lnSpc>
                <a:spcPts val="4155"/>
              </a:lnSpc>
            </a:pPr>
            <a:r>
              <a:rPr lang="en-US" sz="2968" b="1" spc="-59">
                <a:solidFill>
                  <a:srgbClr val="0453B9"/>
                </a:solidFill>
                <a:latin typeface="Poppins Bold"/>
                <a:ea typeface="Poppins Bold"/>
                <a:cs typeface="Poppins Bold"/>
                <a:sym typeface="Poppins Bold"/>
              </a:rPr>
              <a:t>Nguyễn Văn Hoàng anh</a:t>
            </a:r>
          </a:p>
          <a:p>
            <a:pPr algn="l">
              <a:lnSpc>
                <a:spcPts val="4155"/>
              </a:lnSpc>
              <a:spcBef>
                <a:spcPct val="0"/>
              </a:spcBef>
            </a:pPr>
            <a:r>
              <a:rPr lang="en-US" sz="2968" b="1" spc="-59">
                <a:solidFill>
                  <a:srgbClr val="0453B9"/>
                </a:solidFill>
                <a:latin typeface="Poppins Bold"/>
                <a:ea typeface="Poppins Bold"/>
                <a:cs typeface="Poppins Bold"/>
                <a:sym typeface="Poppins Bold"/>
              </a:rPr>
              <a:t>Đặng Danh Công</a:t>
            </a:r>
          </a:p>
        </p:txBody>
      </p:sp>
      <p:sp>
        <p:nvSpPr>
          <p:cNvPr id="30" name="TextBox 30"/>
          <p:cNvSpPr txBox="1"/>
          <p:nvPr/>
        </p:nvSpPr>
        <p:spPr>
          <a:xfrm>
            <a:off x="6501641" y="8035413"/>
            <a:ext cx="4482953" cy="583741"/>
          </a:xfrm>
          <a:prstGeom prst="rect">
            <a:avLst/>
          </a:prstGeom>
        </p:spPr>
        <p:txBody>
          <a:bodyPr lIns="0" tIns="0" rIns="0" bIns="0" rtlCol="0" anchor="t">
            <a:spAutoFit/>
          </a:bodyPr>
          <a:lstStyle/>
          <a:p>
            <a:pPr algn="l">
              <a:lnSpc>
                <a:spcPts val="4575"/>
              </a:lnSpc>
              <a:spcBef>
                <a:spcPct val="0"/>
              </a:spcBef>
            </a:pPr>
            <a:r>
              <a:rPr lang="en-US" sz="3268" b="1" spc="-65">
                <a:solidFill>
                  <a:srgbClr val="0453B9"/>
                </a:solidFill>
                <a:latin typeface="Poppins Bold"/>
                <a:ea typeface="Poppins Bold"/>
                <a:cs typeface="Poppins Bold"/>
                <a:sym typeface="Poppins Bold"/>
              </a:rPr>
              <a:t>8th June 2026</a:t>
            </a:r>
          </a:p>
        </p:txBody>
      </p:sp>
      <p:sp>
        <p:nvSpPr>
          <p:cNvPr id="32" name="Slide Number Placeholder 31">
            <a:extLst>
              <a:ext uri="{FF2B5EF4-FFF2-40B4-BE49-F238E27FC236}">
                <a16:creationId xmlns:a16="http://schemas.microsoft.com/office/drawing/2014/main" id="{A52E0CC7-E759-72BF-9F63-34B477C5EBB6}"/>
              </a:ext>
            </a:extLst>
          </p:cNvPr>
          <p:cNvSpPr>
            <a:spLocks noGrp="1"/>
          </p:cNvSpPr>
          <p:nvPr>
            <p:ph type="sldNum" sz="quarter" idx="12"/>
          </p:nvPr>
        </p:nvSpPr>
        <p:spPr/>
        <p:txBody>
          <a:bodyPr/>
          <a:lstStyle/>
          <a:p>
            <a:fld id="{B6F15528-21DE-4FAA-801E-634DDDAF4B2B}" type="slidenum">
              <a:rPr lang="en-US" smtClean="0"/>
              <a:pPr/>
              <a:t>1</a:t>
            </a:fld>
            <a:endParaRPr lang="en-US"/>
          </a:p>
        </p:txBody>
      </p:sp>
      <p:sp>
        <p:nvSpPr>
          <p:cNvPr id="35" name="Oval 34">
            <a:extLst>
              <a:ext uri="{FF2B5EF4-FFF2-40B4-BE49-F238E27FC236}">
                <a16:creationId xmlns:a16="http://schemas.microsoft.com/office/drawing/2014/main" id="{AC70F258-5DCD-20DC-8200-8234AA2BB2D1}"/>
              </a:ext>
            </a:extLst>
          </p:cNvPr>
          <p:cNvSpPr/>
          <p:nvPr/>
        </p:nvSpPr>
        <p:spPr>
          <a:xfrm>
            <a:off x="10818333" y="2468539"/>
            <a:ext cx="5100324" cy="5100324"/>
          </a:xfrm>
          <a:prstGeom prst="ellipse">
            <a:avLst/>
          </a:prstGeom>
          <a:blipFill dpi="0" rotWithShape="1">
            <a:blip r:embed="rId4" cstate="print">
              <a:extLst>
                <a:ext uri="{28A0092B-C50C-407E-A947-70E740481C1C}">
                  <a14:useLocalDpi xmlns:a14="http://schemas.microsoft.com/office/drawing/2010/main" val="0"/>
                </a:ext>
              </a:extLst>
            </a:blip>
            <a:srcRect/>
            <a:stretch>
              <a:fillRect/>
            </a:stretch>
          </a:bli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491646" y="160448"/>
            <a:ext cx="13086832" cy="1569030"/>
            <a:chOff x="0" y="0"/>
            <a:chExt cx="3446738" cy="413243"/>
          </a:xfrm>
        </p:grpSpPr>
        <p:sp>
          <p:nvSpPr>
            <p:cNvPr id="3" name="Freeform 3"/>
            <p:cNvSpPr/>
            <p:nvPr/>
          </p:nvSpPr>
          <p:spPr>
            <a:xfrm>
              <a:off x="0" y="0"/>
              <a:ext cx="3446738" cy="413243"/>
            </a:xfrm>
            <a:custGeom>
              <a:avLst/>
              <a:gdLst/>
              <a:ahLst/>
              <a:cxnLst/>
              <a:rect l="l" t="t" r="r" b="b"/>
              <a:pathLst>
                <a:path w="3446738" h="413243">
                  <a:moveTo>
                    <a:pt x="59158" y="0"/>
                  </a:moveTo>
                  <a:lnTo>
                    <a:pt x="3387580" y="0"/>
                  </a:lnTo>
                  <a:cubicBezTo>
                    <a:pt x="3420252" y="0"/>
                    <a:pt x="3446738" y="26486"/>
                    <a:pt x="3446738" y="59158"/>
                  </a:cubicBezTo>
                  <a:lnTo>
                    <a:pt x="3446738" y="354084"/>
                  </a:lnTo>
                  <a:cubicBezTo>
                    <a:pt x="3446738" y="369774"/>
                    <a:pt x="3440505" y="384821"/>
                    <a:pt x="3429411" y="395916"/>
                  </a:cubicBezTo>
                  <a:cubicBezTo>
                    <a:pt x="3418317" y="407010"/>
                    <a:pt x="3403269" y="413243"/>
                    <a:pt x="3387580" y="413243"/>
                  </a:cubicBezTo>
                  <a:lnTo>
                    <a:pt x="59158" y="413243"/>
                  </a:lnTo>
                  <a:cubicBezTo>
                    <a:pt x="26486" y="413243"/>
                    <a:pt x="0" y="386757"/>
                    <a:pt x="0" y="354084"/>
                  </a:cubicBezTo>
                  <a:lnTo>
                    <a:pt x="0" y="59158"/>
                  </a:lnTo>
                  <a:cubicBezTo>
                    <a:pt x="0" y="26486"/>
                    <a:pt x="26486" y="0"/>
                    <a:pt x="59158"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4" name="TextBox 4"/>
            <p:cNvSpPr txBox="1"/>
            <p:nvPr/>
          </p:nvSpPr>
          <p:spPr>
            <a:xfrm>
              <a:off x="0" y="-38100"/>
              <a:ext cx="3446738" cy="451343"/>
            </a:xfrm>
            <a:prstGeom prst="rect">
              <a:avLst/>
            </a:prstGeom>
          </p:spPr>
          <p:txBody>
            <a:bodyPr lIns="50800" tIns="50800" rIns="50800" bIns="50800" rtlCol="0" anchor="ctr"/>
            <a:lstStyle/>
            <a:p>
              <a:pPr algn="ctr">
                <a:lnSpc>
                  <a:spcPts val="2659"/>
                </a:lnSpc>
                <a:spcBef>
                  <a:spcPct val="0"/>
                </a:spcBef>
              </a:pPr>
              <a:endParaRPr/>
            </a:p>
          </p:txBody>
        </p:sp>
      </p:grpSp>
      <p:grpSp>
        <p:nvGrpSpPr>
          <p:cNvPr id="5" name="Group 5"/>
          <p:cNvGrpSpPr/>
          <p:nvPr/>
        </p:nvGrpSpPr>
        <p:grpSpPr>
          <a:xfrm>
            <a:off x="9144000" y="9790892"/>
            <a:ext cx="10373540" cy="992216"/>
            <a:chOff x="0" y="0"/>
            <a:chExt cx="2732126" cy="261324"/>
          </a:xfrm>
        </p:grpSpPr>
        <p:sp>
          <p:nvSpPr>
            <p:cNvPr id="6" name="Freeform 6"/>
            <p:cNvSpPr/>
            <p:nvPr/>
          </p:nvSpPr>
          <p:spPr>
            <a:xfrm>
              <a:off x="0" y="0"/>
              <a:ext cx="2732126" cy="261324"/>
            </a:xfrm>
            <a:custGeom>
              <a:avLst/>
              <a:gdLst/>
              <a:ahLst/>
              <a:cxnLst/>
              <a:rect l="l" t="t" r="r" b="b"/>
              <a:pathLst>
                <a:path w="2732126" h="261324">
                  <a:moveTo>
                    <a:pt x="74631" y="0"/>
                  </a:moveTo>
                  <a:lnTo>
                    <a:pt x="2657494" y="0"/>
                  </a:lnTo>
                  <a:cubicBezTo>
                    <a:pt x="2677288" y="0"/>
                    <a:pt x="2696271" y="7863"/>
                    <a:pt x="2710267" y="21859"/>
                  </a:cubicBezTo>
                  <a:cubicBezTo>
                    <a:pt x="2724263" y="35855"/>
                    <a:pt x="2732126" y="54838"/>
                    <a:pt x="2732126" y="74631"/>
                  </a:cubicBezTo>
                  <a:lnTo>
                    <a:pt x="2732126" y="186693"/>
                  </a:lnTo>
                  <a:cubicBezTo>
                    <a:pt x="2732126" y="206486"/>
                    <a:pt x="2724263" y="225469"/>
                    <a:pt x="2710267" y="239465"/>
                  </a:cubicBezTo>
                  <a:cubicBezTo>
                    <a:pt x="2696271" y="253461"/>
                    <a:pt x="2677288" y="261324"/>
                    <a:pt x="2657494" y="261324"/>
                  </a:cubicBezTo>
                  <a:lnTo>
                    <a:pt x="74631" y="261324"/>
                  </a:lnTo>
                  <a:cubicBezTo>
                    <a:pt x="54838" y="261324"/>
                    <a:pt x="35855" y="253461"/>
                    <a:pt x="21859" y="239465"/>
                  </a:cubicBezTo>
                  <a:cubicBezTo>
                    <a:pt x="7863" y="225469"/>
                    <a:pt x="0" y="206486"/>
                    <a:pt x="0" y="186693"/>
                  </a:cubicBezTo>
                  <a:lnTo>
                    <a:pt x="0" y="74631"/>
                  </a:lnTo>
                  <a:cubicBezTo>
                    <a:pt x="0" y="54838"/>
                    <a:pt x="7863" y="35855"/>
                    <a:pt x="21859" y="21859"/>
                  </a:cubicBezTo>
                  <a:cubicBezTo>
                    <a:pt x="35855" y="7863"/>
                    <a:pt x="54838" y="0"/>
                    <a:pt x="74631" y="0"/>
                  </a:cubicBezTo>
                  <a:close/>
                </a:path>
              </a:pathLst>
            </a:custGeom>
            <a:gradFill rotWithShape="1">
              <a:gsLst>
                <a:gs pos="0">
                  <a:srgbClr val="398DFA">
                    <a:alpha val="100000"/>
                  </a:srgbClr>
                </a:gs>
                <a:gs pos="50000">
                  <a:srgbClr val="0151B8">
                    <a:alpha val="24000"/>
                  </a:srgbClr>
                </a:gs>
                <a:gs pos="100000">
                  <a:srgbClr val="0151B8">
                    <a:alpha val="0"/>
                  </a:srgbClr>
                </a:gs>
              </a:gsLst>
              <a:lin ang="0"/>
            </a:gradFill>
          </p:spPr>
          <p:txBody>
            <a:bodyPr/>
            <a:lstStyle/>
            <a:p>
              <a:endParaRPr lang="en-US"/>
            </a:p>
          </p:txBody>
        </p:sp>
        <p:sp>
          <p:nvSpPr>
            <p:cNvPr id="7" name="TextBox 7"/>
            <p:cNvSpPr txBox="1"/>
            <p:nvPr/>
          </p:nvSpPr>
          <p:spPr>
            <a:xfrm>
              <a:off x="0" y="-38100"/>
              <a:ext cx="2732126" cy="299424"/>
            </a:xfrm>
            <a:prstGeom prst="rect">
              <a:avLst/>
            </a:prstGeom>
          </p:spPr>
          <p:txBody>
            <a:bodyPr lIns="50800" tIns="50800" rIns="50800" bIns="50800" rtlCol="0" anchor="ctr"/>
            <a:lstStyle/>
            <a:p>
              <a:pPr algn="ctr">
                <a:lnSpc>
                  <a:spcPts val="2659"/>
                </a:lnSpc>
                <a:spcBef>
                  <a:spcPct val="0"/>
                </a:spcBef>
              </a:pPr>
              <a:endParaRPr/>
            </a:p>
          </p:txBody>
        </p:sp>
      </p:grpSp>
      <p:sp>
        <p:nvSpPr>
          <p:cNvPr id="8" name="Freeform 8"/>
          <p:cNvSpPr/>
          <p:nvPr/>
        </p:nvSpPr>
        <p:spPr>
          <a:xfrm>
            <a:off x="16093546" y="1154440"/>
            <a:ext cx="1318426" cy="710241"/>
          </a:xfrm>
          <a:custGeom>
            <a:avLst/>
            <a:gdLst/>
            <a:ahLst/>
            <a:cxnLst/>
            <a:rect l="l" t="t" r="r" b="b"/>
            <a:pathLst>
              <a:path w="1318426" h="710241">
                <a:moveTo>
                  <a:pt x="0" y="0"/>
                </a:moveTo>
                <a:lnTo>
                  <a:pt x="1318426" y="0"/>
                </a:lnTo>
                <a:lnTo>
                  <a:pt x="1318426" y="710241"/>
                </a:lnTo>
                <a:lnTo>
                  <a:pt x="0" y="710241"/>
                </a:lnTo>
                <a:lnTo>
                  <a:pt x="0" y="0"/>
                </a:lnTo>
                <a:close/>
              </a:path>
            </a:pathLst>
          </a:custGeom>
          <a:blipFill>
            <a:blip>
              <a:extLst>
                <a:ext uri="{96DAC541-7B7A-43D3-8B79-37D633B846F1}">
                  <asvg:svgBlip xmlns:asvg="http://schemas.microsoft.com/office/drawing/2016/SVG/main" r:embed="rId2"/>
                </a:ext>
              </a:extLst>
            </a:blip>
            <a:stretch>
              <a:fillRect b="-85630"/>
            </a:stretch>
          </a:blipFill>
        </p:spPr>
        <p:txBody>
          <a:bodyPr/>
          <a:lstStyle/>
          <a:p>
            <a:endParaRPr lang="en-US"/>
          </a:p>
        </p:txBody>
      </p:sp>
      <p:sp>
        <p:nvSpPr>
          <p:cNvPr id="9" name="Freeform 9"/>
          <p:cNvSpPr/>
          <p:nvPr/>
        </p:nvSpPr>
        <p:spPr>
          <a:xfrm rot="-1026235" flipH="1">
            <a:off x="18369309" y="1818709"/>
            <a:ext cx="7249660" cy="4304486"/>
          </a:xfrm>
          <a:custGeom>
            <a:avLst/>
            <a:gdLst/>
            <a:ahLst/>
            <a:cxnLst/>
            <a:rect l="l" t="t" r="r" b="b"/>
            <a:pathLst>
              <a:path w="7249660" h="4304486">
                <a:moveTo>
                  <a:pt x="7249660" y="0"/>
                </a:moveTo>
                <a:lnTo>
                  <a:pt x="0" y="0"/>
                </a:lnTo>
                <a:lnTo>
                  <a:pt x="0" y="4304486"/>
                </a:lnTo>
                <a:lnTo>
                  <a:pt x="7249660" y="4304486"/>
                </a:lnTo>
                <a:lnTo>
                  <a:pt x="724966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10" name="Group 10"/>
          <p:cNvGrpSpPr/>
          <p:nvPr/>
        </p:nvGrpSpPr>
        <p:grpSpPr>
          <a:xfrm>
            <a:off x="8229600" y="2087064"/>
            <a:ext cx="10009211" cy="3016557"/>
            <a:chOff x="0" y="0"/>
            <a:chExt cx="17068800" cy="3911600"/>
          </a:xfrm>
        </p:grpSpPr>
        <p:sp>
          <p:nvSpPr>
            <p:cNvPr id="11" name="Freeform 11"/>
            <p:cNvSpPr/>
            <p:nvPr/>
          </p:nvSpPr>
          <p:spPr>
            <a:xfrm>
              <a:off x="0" y="0"/>
              <a:ext cx="17068800" cy="3911600"/>
            </a:xfrm>
            <a:custGeom>
              <a:avLst/>
              <a:gdLst/>
              <a:ahLst/>
              <a:cxnLst/>
              <a:rect l="l" t="t" r="r" b="b"/>
              <a:pathLst>
                <a:path w="17068800" h="3911600">
                  <a:moveTo>
                    <a:pt x="391160" y="0"/>
                  </a:moveTo>
                  <a:lnTo>
                    <a:pt x="16677639" y="0"/>
                  </a:lnTo>
                  <a:cubicBezTo>
                    <a:pt x="16781382" y="0"/>
                    <a:pt x="16880875" y="41211"/>
                    <a:pt x="16954232" y="114568"/>
                  </a:cubicBezTo>
                  <a:cubicBezTo>
                    <a:pt x="17027589" y="187925"/>
                    <a:pt x="17068800" y="287418"/>
                    <a:pt x="17068800" y="391160"/>
                  </a:cubicBezTo>
                  <a:lnTo>
                    <a:pt x="17068800" y="3520440"/>
                  </a:lnTo>
                  <a:cubicBezTo>
                    <a:pt x="17068800" y="3624182"/>
                    <a:pt x="17027589" y="3723675"/>
                    <a:pt x="16954232" y="3797032"/>
                  </a:cubicBezTo>
                  <a:cubicBezTo>
                    <a:pt x="16880875" y="3870389"/>
                    <a:pt x="16781382" y="3911600"/>
                    <a:pt x="16677639" y="3911600"/>
                  </a:cubicBezTo>
                  <a:lnTo>
                    <a:pt x="391160" y="3911600"/>
                  </a:lnTo>
                  <a:cubicBezTo>
                    <a:pt x="175128" y="3911600"/>
                    <a:pt x="0" y="3736472"/>
                    <a:pt x="0" y="3520440"/>
                  </a:cubicBezTo>
                  <a:lnTo>
                    <a:pt x="0" y="391160"/>
                  </a:lnTo>
                  <a:cubicBezTo>
                    <a:pt x="0" y="175128"/>
                    <a:pt x="175128" y="0"/>
                    <a:pt x="391160" y="0"/>
                  </a:cubicBezTo>
                  <a:close/>
                </a:path>
              </a:pathLst>
            </a:custGeom>
            <a:solidFill>
              <a:srgbClr val="A8D4FF"/>
            </a:solidFill>
          </p:spPr>
          <p:txBody>
            <a:bodyPr/>
            <a:lstStyle/>
            <a:p>
              <a:endParaRPr lang="en-US"/>
            </a:p>
          </p:txBody>
        </p:sp>
      </p:grpSp>
      <p:sp>
        <p:nvSpPr>
          <p:cNvPr id="12" name="Freeform 12"/>
          <p:cNvSpPr/>
          <p:nvPr/>
        </p:nvSpPr>
        <p:spPr>
          <a:xfrm>
            <a:off x="8756879" y="2463911"/>
            <a:ext cx="9227031" cy="2202437"/>
          </a:xfrm>
          <a:custGeom>
            <a:avLst/>
            <a:gdLst/>
            <a:ahLst/>
            <a:cxnLst/>
            <a:rect l="l" t="t" r="r" b="b"/>
            <a:pathLst>
              <a:path w="10726033" h="2202437">
                <a:moveTo>
                  <a:pt x="0" y="0"/>
                </a:moveTo>
                <a:lnTo>
                  <a:pt x="10726033" y="0"/>
                </a:lnTo>
                <a:lnTo>
                  <a:pt x="10726033" y="2202437"/>
                </a:lnTo>
                <a:lnTo>
                  <a:pt x="0" y="2202437"/>
                </a:lnTo>
                <a:lnTo>
                  <a:pt x="0" y="0"/>
                </a:lnTo>
                <a:close/>
              </a:path>
            </a:pathLst>
          </a:custGeom>
          <a:blipFill>
            <a:blip r:embed="rId4"/>
            <a:stretch>
              <a:fillRect l="-700" r="-700"/>
            </a:stretch>
          </a:blipFill>
        </p:spPr>
        <p:txBody>
          <a:bodyPr/>
          <a:lstStyle/>
          <a:p>
            <a:endParaRPr lang="en-US"/>
          </a:p>
        </p:txBody>
      </p:sp>
      <p:sp>
        <p:nvSpPr>
          <p:cNvPr id="13" name="TextBox 13"/>
          <p:cNvSpPr txBox="1"/>
          <p:nvPr/>
        </p:nvSpPr>
        <p:spPr>
          <a:xfrm>
            <a:off x="8402626" y="5385310"/>
            <a:ext cx="9525710" cy="3979231"/>
          </a:xfrm>
          <a:prstGeom prst="rect">
            <a:avLst/>
          </a:prstGeom>
        </p:spPr>
        <p:txBody>
          <a:bodyPr wrap="square" lIns="0" tIns="0" rIns="0" bIns="0" rtlCol="0" anchor="t">
            <a:spAutoFit/>
          </a:bodyPr>
          <a:lstStyle/>
          <a:p>
            <a:pPr algn="just">
              <a:lnSpc>
                <a:spcPts val="3870"/>
              </a:lnSpc>
              <a:spcBef>
                <a:spcPct val="0"/>
              </a:spcBef>
            </a:pPr>
            <a:r>
              <a:rPr lang="en-US" sz="3000">
                <a:solidFill>
                  <a:srgbClr val="000000"/>
                </a:solidFill>
                <a:latin typeface="Poppins"/>
                <a:ea typeface="Poppins"/>
                <a:cs typeface="Poppins"/>
                <a:sym typeface="Poppins"/>
              </a:rPr>
              <a:t>	Tập dữ liệu này ban đầu được xây dựng bởi một nhóm các nhà nghiên cứu y tế tại Mexico, Peru và Colombia vào Năm 2019 với dữ liệu gốc là gồm 2111 bản ghi với 17 thuộc tính.</a:t>
            </a:r>
          </a:p>
          <a:p>
            <a:pPr algn="just">
              <a:lnSpc>
                <a:spcPts val="3870"/>
              </a:lnSpc>
              <a:spcBef>
                <a:spcPct val="0"/>
              </a:spcBef>
            </a:pPr>
            <a:r>
              <a:rPr lang="en-US" sz="3000">
                <a:solidFill>
                  <a:srgbClr val="000000"/>
                </a:solidFill>
                <a:latin typeface="Poppins"/>
                <a:ea typeface="Poppins"/>
                <a:cs typeface="Poppins"/>
                <a:sym typeface="Poppins"/>
              </a:rPr>
              <a:t>	Từ 2/2024 nhóm nghiên cứu dũng dữ liệu này cho cuộc thi </a:t>
            </a:r>
            <a:r>
              <a:rPr lang="en-US" sz="3000" b="1">
                <a:solidFill>
                  <a:srgbClr val="000000"/>
                </a:solidFill>
                <a:latin typeface="Poppins Bold"/>
                <a:ea typeface="Poppins Bold"/>
                <a:cs typeface="Poppins Bold"/>
                <a:sym typeface="Poppins Bold"/>
              </a:rPr>
              <a:t>Kaggle Playground Series</a:t>
            </a:r>
            <a:r>
              <a:rPr lang="en-US" sz="3000">
                <a:solidFill>
                  <a:srgbClr val="000000"/>
                </a:solidFill>
                <a:latin typeface="Poppins"/>
                <a:ea typeface="Poppins"/>
                <a:cs typeface="Poppins"/>
                <a:sym typeface="Poppins"/>
              </a:rPr>
              <a:t> và dùng</a:t>
            </a:r>
            <a:r>
              <a:rPr lang="en-US" sz="3000" b="1">
                <a:solidFill>
                  <a:srgbClr val="000000"/>
                </a:solidFill>
                <a:latin typeface="Poppins Bold"/>
                <a:ea typeface="Poppins Bold"/>
                <a:cs typeface="Poppins Bold"/>
                <a:sym typeface="Poppins Bold"/>
              </a:rPr>
              <a:t> Deep Learning</a:t>
            </a:r>
            <a:r>
              <a:rPr lang="en-US" sz="3000">
                <a:solidFill>
                  <a:srgbClr val="000000"/>
                </a:solidFill>
                <a:latin typeface="Poppins"/>
                <a:ea typeface="Poppins"/>
                <a:cs typeface="Poppins"/>
                <a:sym typeface="Poppins"/>
              </a:rPr>
              <a:t> để tạo ra dữ liệu mới là 34000 bản ghi từ dữ liệu ban đầu</a:t>
            </a:r>
          </a:p>
        </p:txBody>
      </p:sp>
      <p:sp>
        <p:nvSpPr>
          <p:cNvPr id="14" name="TextBox 14"/>
          <p:cNvSpPr txBox="1"/>
          <p:nvPr/>
        </p:nvSpPr>
        <p:spPr>
          <a:xfrm>
            <a:off x="446307" y="561344"/>
            <a:ext cx="11210925" cy="820738"/>
          </a:xfrm>
          <a:prstGeom prst="rect">
            <a:avLst/>
          </a:prstGeom>
        </p:spPr>
        <p:txBody>
          <a:bodyPr wrap="square" lIns="0" tIns="0" rIns="0" bIns="0" rtlCol="0" anchor="t">
            <a:spAutoFit/>
          </a:bodyPr>
          <a:lstStyle/>
          <a:p>
            <a:pPr marL="0" lvl="0" indent="0" algn="ctr">
              <a:lnSpc>
                <a:spcPts val="6440"/>
              </a:lnSpc>
              <a:spcBef>
                <a:spcPct val="0"/>
              </a:spcBef>
            </a:pPr>
            <a:r>
              <a:rPr lang="en-US" sz="5600" b="1" u="none" strike="noStrike">
                <a:solidFill>
                  <a:srgbClr val="000000"/>
                </a:solidFill>
                <a:latin typeface="Poppins Bold"/>
                <a:ea typeface="Poppins Bold"/>
                <a:cs typeface="Poppins Bold"/>
                <a:sym typeface="Poppins Bold"/>
              </a:rPr>
              <a:t>Thực Trạng Béo Phì &amp; dữ liệu</a:t>
            </a:r>
          </a:p>
        </p:txBody>
      </p:sp>
      <p:sp>
        <p:nvSpPr>
          <p:cNvPr id="15" name="TextBox 15"/>
          <p:cNvSpPr txBox="1"/>
          <p:nvPr/>
        </p:nvSpPr>
        <p:spPr>
          <a:xfrm>
            <a:off x="382991" y="2370384"/>
            <a:ext cx="7160810" cy="6122189"/>
          </a:xfrm>
          <a:prstGeom prst="rect">
            <a:avLst/>
          </a:prstGeom>
        </p:spPr>
        <p:txBody>
          <a:bodyPr wrap="square" lIns="0" tIns="0" rIns="0" bIns="0" rtlCol="0" anchor="t">
            <a:spAutoFit/>
          </a:bodyPr>
          <a:lstStyle/>
          <a:p>
            <a:pPr marL="437928" lvl="1" indent="-218964" algn="just">
              <a:lnSpc>
                <a:spcPts val="2839"/>
              </a:lnSpc>
              <a:spcBef>
                <a:spcPct val="0"/>
              </a:spcBef>
              <a:buFont typeface="Arial"/>
              <a:buChar char="•"/>
            </a:pPr>
            <a:r>
              <a:rPr lang="en-US" sz="3000" b="1">
                <a:solidFill>
                  <a:srgbClr val="000000"/>
                </a:solidFill>
                <a:latin typeface="Poppins Bold"/>
                <a:ea typeface="Poppins Bold"/>
                <a:cs typeface="Poppins Bold"/>
                <a:sym typeface="Poppins Bold"/>
              </a:rPr>
              <a:t>Đại dịch toàn cầu:</a:t>
            </a:r>
            <a:r>
              <a:rPr lang="en-US" sz="3000">
                <a:solidFill>
                  <a:srgbClr val="000000"/>
                </a:solidFill>
                <a:latin typeface="Poppins"/>
                <a:ea typeface="Poppins"/>
                <a:cs typeface="Poppins"/>
                <a:sym typeface="Poppins"/>
              </a:rPr>
              <a:t> Tính đến năm 2022, cứ 1 trong 8 người trên thế giới mắc bệnh béo phì.</a:t>
            </a:r>
          </a:p>
          <a:p>
            <a:pPr marL="437928" lvl="1" indent="-218964" algn="just">
              <a:lnSpc>
                <a:spcPts val="2839"/>
              </a:lnSpc>
              <a:spcBef>
                <a:spcPct val="0"/>
              </a:spcBef>
              <a:buFont typeface="Arial"/>
              <a:buChar char="•"/>
            </a:pPr>
            <a:r>
              <a:rPr lang="en-US" sz="3000" b="1">
                <a:solidFill>
                  <a:srgbClr val="000000"/>
                </a:solidFill>
                <a:latin typeface="Poppins Bold"/>
                <a:ea typeface="Poppins Bold"/>
                <a:cs typeface="Poppins Bold"/>
                <a:sym typeface="Poppins Bold"/>
              </a:rPr>
              <a:t>Tốc độ bùng nổ (từ 1990):</a:t>
            </a:r>
            <a:r>
              <a:rPr lang="en-US" sz="3000">
                <a:solidFill>
                  <a:srgbClr val="000000"/>
                </a:solidFill>
                <a:latin typeface="Poppins"/>
                <a:ea typeface="Poppins"/>
                <a:cs typeface="Poppins"/>
                <a:sym typeface="Poppins"/>
              </a:rPr>
              <a:t> Tỷ lệ béo phì tăng gấp đôi ở người trưởng thành và tăng gấp 4 lần ở thanh thiếu niên.</a:t>
            </a:r>
          </a:p>
          <a:p>
            <a:pPr marL="437928" lvl="1" indent="-218964" algn="just">
              <a:lnSpc>
                <a:spcPts val="2839"/>
              </a:lnSpc>
              <a:spcBef>
                <a:spcPct val="0"/>
              </a:spcBef>
              <a:buFont typeface="Arial"/>
              <a:buChar char="•"/>
            </a:pPr>
            <a:r>
              <a:rPr lang="en-US" sz="3000" b="1">
                <a:solidFill>
                  <a:srgbClr val="000000"/>
                </a:solidFill>
                <a:latin typeface="Poppins Bold"/>
                <a:ea typeface="Poppins Bold"/>
                <a:cs typeface="Poppins Bold"/>
                <a:sym typeface="Poppins Bold"/>
              </a:rPr>
              <a:t>Bản chất y khoa:</a:t>
            </a:r>
            <a:r>
              <a:rPr lang="en-US" sz="3000">
                <a:solidFill>
                  <a:srgbClr val="000000"/>
                </a:solidFill>
                <a:latin typeface="Poppins"/>
                <a:ea typeface="Poppins"/>
                <a:cs typeface="Poppins"/>
                <a:sym typeface="Poppins"/>
              </a:rPr>
              <a:t> WHO định nghĩa béo phì là một bệnh lý mãn tính phức tạp, không đơn thuần là vấn đề vóc dáng.</a:t>
            </a:r>
          </a:p>
          <a:p>
            <a:pPr marL="437928" lvl="1" indent="-218964" algn="just">
              <a:lnSpc>
                <a:spcPts val="2839"/>
              </a:lnSpc>
              <a:spcBef>
                <a:spcPct val="0"/>
              </a:spcBef>
              <a:buFont typeface="Arial"/>
              <a:buChar char="•"/>
            </a:pPr>
            <a:r>
              <a:rPr lang="en-US" sz="3000" b="1">
                <a:solidFill>
                  <a:srgbClr val="000000"/>
                </a:solidFill>
                <a:latin typeface="Poppins Bold"/>
                <a:ea typeface="Poppins Bold"/>
                <a:cs typeface="Poppins Bold"/>
                <a:sym typeface="Poppins Bold"/>
              </a:rPr>
              <a:t>Hệ lụy nguy hiểm</a:t>
            </a:r>
            <a:r>
              <a:rPr lang="en-US" sz="3000">
                <a:solidFill>
                  <a:srgbClr val="000000"/>
                </a:solidFill>
                <a:latin typeface="Poppins"/>
                <a:ea typeface="Poppins"/>
                <a:cs typeface="Poppins"/>
                <a:sym typeface="Poppins"/>
              </a:rPr>
              <a:t>: Là nguyên nhân hàng đầu gây ra các bệnh tử vong như Tim mạch (số 1 thế giới), Tiểu đường tuýp 2, Rối loạn cơ xương khớp và Ung thư.</a:t>
            </a:r>
          </a:p>
          <a:p>
            <a:pPr algn="just">
              <a:lnSpc>
                <a:spcPts val="2839"/>
              </a:lnSpc>
              <a:spcBef>
                <a:spcPct val="0"/>
              </a:spcBef>
            </a:pPr>
            <a:endParaRPr lang="en-US" sz="3000">
              <a:solidFill>
                <a:srgbClr val="000000"/>
              </a:solidFill>
              <a:latin typeface="Poppins"/>
              <a:ea typeface="Poppins"/>
              <a:cs typeface="Poppins"/>
              <a:sym typeface="Poppins"/>
            </a:endParaRPr>
          </a:p>
        </p:txBody>
      </p:sp>
      <p:sp>
        <p:nvSpPr>
          <p:cNvPr id="17" name="Slide Number Placeholder 16">
            <a:extLst>
              <a:ext uri="{FF2B5EF4-FFF2-40B4-BE49-F238E27FC236}">
                <a16:creationId xmlns:a16="http://schemas.microsoft.com/office/drawing/2014/main" id="{26B69074-45FF-8C0B-3807-F947B2EF4DFE}"/>
              </a:ext>
            </a:extLst>
          </p:cNvPr>
          <p:cNvSpPr>
            <a:spLocks noGrp="1"/>
          </p:cNvSpPr>
          <p:nvPr>
            <p:ph type="sldNum" sz="quarter" idx="12"/>
          </p:nvPr>
        </p:nvSpPr>
        <p:spPr/>
        <p:txBody>
          <a:bodyPr/>
          <a:lstStyle/>
          <a:p>
            <a:fld id="{B6F15528-21DE-4FAA-801E-634DDDAF4B2B}" type="slidenum">
              <a:rPr lang="en-US" smtClean="0"/>
              <a:pPr/>
              <a:t>2</a:t>
            </a:fld>
            <a:endParaRPr lang="en-US"/>
          </a:p>
        </p:txBody>
      </p:sp>
    </p:spTree>
  </p:cSld>
  <p:clrMapOvr>
    <a:masterClrMapping/>
  </p:clrMapOvr>
  <p:transition spd="med">
    <p:pull/>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rot="-5400000">
            <a:off x="15602413" y="812907"/>
            <a:ext cx="1318426" cy="710241"/>
          </a:xfrm>
          <a:custGeom>
            <a:avLst/>
            <a:gdLst/>
            <a:ahLst/>
            <a:cxnLst/>
            <a:rect l="l" t="t" r="r" b="b"/>
            <a:pathLst>
              <a:path w="1318426" h="710241">
                <a:moveTo>
                  <a:pt x="0" y="0"/>
                </a:moveTo>
                <a:lnTo>
                  <a:pt x="1318426" y="0"/>
                </a:lnTo>
                <a:lnTo>
                  <a:pt x="1318426" y="710240"/>
                </a:lnTo>
                <a:lnTo>
                  <a:pt x="0" y="710240"/>
                </a:lnTo>
                <a:lnTo>
                  <a:pt x="0" y="0"/>
                </a:lnTo>
                <a:close/>
              </a:path>
            </a:pathLst>
          </a:custGeom>
          <a:blipFill>
            <a:blip>
              <a:extLst>
                <a:ext uri="{96DAC541-7B7A-43D3-8B79-37D633B846F1}">
                  <asvg:svgBlip xmlns:asvg="http://schemas.microsoft.com/office/drawing/2016/SVG/main" r:embed="rId3"/>
                </a:ext>
              </a:extLst>
            </a:blip>
            <a:stretch>
              <a:fillRect b="-85630"/>
            </a:stretch>
          </a:blipFill>
        </p:spPr>
        <p:txBody>
          <a:bodyPr/>
          <a:lstStyle/>
          <a:p>
            <a:endParaRPr lang="en-US"/>
          </a:p>
        </p:txBody>
      </p:sp>
      <p:grpSp>
        <p:nvGrpSpPr>
          <p:cNvPr id="3" name="Group 3"/>
          <p:cNvGrpSpPr/>
          <p:nvPr/>
        </p:nvGrpSpPr>
        <p:grpSpPr>
          <a:xfrm rot="-10800000">
            <a:off x="-298871" y="-9525"/>
            <a:ext cx="18903239" cy="1416894"/>
            <a:chOff x="0" y="0"/>
            <a:chExt cx="4978631" cy="373174"/>
          </a:xfrm>
        </p:grpSpPr>
        <p:sp>
          <p:nvSpPr>
            <p:cNvPr id="4" name="Freeform 4"/>
            <p:cNvSpPr/>
            <p:nvPr/>
          </p:nvSpPr>
          <p:spPr>
            <a:xfrm>
              <a:off x="0" y="0"/>
              <a:ext cx="4978631" cy="373174"/>
            </a:xfrm>
            <a:custGeom>
              <a:avLst/>
              <a:gdLst/>
              <a:ahLst/>
              <a:cxnLst/>
              <a:rect l="l" t="t" r="r" b="b"/>
              <a:pathLst>
                <a:path w="4978631" h="373174">
                  <a:moveTo>
                    <a:pt x="40956" y="0"/>
                  </a:moveTo>
                  <a:lnTo>
                    <a:pt x="4937675" y="0"/>
                  </a:lnTo>
                  <a:cubicBezTo>
                    <a:pt x="4948537" y="0"/>
                    <a:pt x="4958954" y="4315"/>
                    <a:pt x="4966635" y="11996"/>
                  </a:cubicBezTo>
                  <a:cubicBezTo>
                    <a:pt x="4974316" y="19676"/>
                    <a:pt x="4978631" y="30093"/>
                    <a:pt x="4978631" y="40956"/>
                  </a:cubicBezTo>
                  <a:lnTo>
                    <a:pt x="4978631" y="332218"/>
                  </a:lnTo>
                  <a:cubicBezTo>
                    <a:pt x="4978631" y="354837"/>
                    <a:pt x="4960294" y="373174"/>
                    <a:pt x="4937675" y="373174"/>
                  </a:cubicBezTo>
                  <a:lnTo>
                    <a:pt x="40956" y="373174"/>
                  </a:lnTo>
                  <a:cubicBezTo>
                    <a:pt x="30093" y="373174"/>
                    <a:pt x="19676" y="368859"/>
                    <a:pt x="11996" y="361178"/>
                  </a:cubicBezTo>
                  <a:cubicBezTo>
                    <a:pt x="4315" y="353497"/>
                    <a:pt x="0" y="343080"/>
                    <a:pt x="0" y="332218"/>
                  </a:cubicBezTo>
                  <a:lnTo>
                    <a:pt x="0" y="40956"/>
                  </a:lnTo>
                  <a:cubicBezTo>
                    <a:pt x="0" y="30093"/>
                    <a:pt x="4315" y="19676"/>
                    <a:pt x="11996" y="11996"/>
                  </a:cubicBezTo>
                  <a:cubicBezTo>
                    <a:pt x="19676" y="4315"/>
                    <a:pt x="30093" y="0"/>
                    <a:pt x="40956"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5" name="TextBox 5"/>
            <p:cNvSpPr txBox="1"/>
            <p:nvPr/>
          </p:nvSpPr>
          <p:spPr>
            <a:xfrm>
              <a:off x="0" y="-38100"/>
              <a:ext cx="4978631" cy="411274"/>
            </a:xfrm>
            <a:prstGeom prst="rect">
              <a:avLst/>
            </a:prstGeom>
          </p:spPr>
          <p:txBody>
            <a:bodyPr lIns="50800" tIns="50800" rIns="50800" bIns="50800" rtlCol="0" anchor="ctr"/>
            <a:lstStyle/>
            <a:p>
              <a:pPr algn="ctr">
                <a:lnSpc>
                  <a:spcPts val="2659"/>
                </a:lnSpc>
                <a:spcBef>
                  <a:spcPct val="0"/>
                </a:spcBef>
              </a:pPr>
              <a:endParaRPr/>
            </a:p>
          </p:txBody>
        </p:sp>
      </p:grpSp>
      <p:sp>
        <p:nvSpPr>
          <p:cNvPr id="6" name="Freeform 6"/>
          <p:cNvSpPr/>
          <p:nvPr/>
        </p:nvSpPr>
        <p:spPr>
          <a:xfrm>
            <a:off x="381000" y="1690238"/>
            <a:ext cx="14630400" cy="7339461"/>
          </a:xfrm>
          <a:custGeom>
            <a:avLst/>
            <a:gdLst/>
            <a:ahLst/>
            <a:cxnLst/>
            <a:rect l="l" t="t" r="r" b="b"/>
            <a:pathLst>
              <a:path w="13987893" h="6906522">
                <a:moveTo>
                  <a:pt x="0" y="0"/>
                </a:moveTo>
                <a:lnTo>
                  <a:pt x="13987893" y="0"/>
                </a:lnTo>
                <a:lnTo>
                  <a:pt x="13987893" y="6906522"/>
                </a:lnTo>
                <a:lnTo>
                  <a:pt x="0" y="6906522"/>
                </a:lnTo>
                <a:lnTo>
                  <a:pt x="0" y="0"/>
                </a:lnTo>
                <a:close/>
              </a:path>
            </a:pathLst>
          </a:custGeom>
          <a:blipFill>
            <a:blip r:embed="rId4"/>
            <a:stretch>
              <a:fillRect/>
            </a:stretch>
          </a:blipFill>
        </p:spPr>
        <p:txBody>
          <a:bodyPr/>
          <a:lstStyle/>
          <a:p>
            <a:endParaRPr lang="en-US"/>
          </a:p>
        </p:txBody>
      </p:sp>
      <p:grpSp>
        <p:nvGrpSpPr>
          <p:cNvPr id="7" name="Group 7"/>
          <p:cNvGrpSpPr/>
          <p:nvPr/>
        </p:nvGrpSpPr>
        <p:grpSpPr>
          <a:xfrm>
            <a:off x="15105126" y="2254605"/>
            <a:ext cx="3024325" cy="1561557"/>
            <a:chOff x="0" y="0"/>
            <a:chExt cx="5448300" cy="2921000"/>
          </a:xfrm>
        </p:grpSpPr>
        <p:sp>
          <p:nvSpPr>
            <p:cNvPr id="8" name="Freeform 8"/>
            <p:cNvSpPr/>
            <p:nvPr/>
          </p:nvSpPr>
          <p:spPr>
            <a:xfrm>
              <a:off x="0" y="0"/>
              <a:ext cx="5448300" cy="2921000"/>
            </a:xfrm>
            <a:custGeom>
              <a:avLst/>
              <a:gdLst/>
              <a:ahLst/>
              <a:cxnLst/>
              <a:rect l="l" t="t" r="r" b="b"/>
              <a:pathLst>
                <a:path w="5448300" h="2921000">
                  <a:moveTo>
                    <a:pt x="0" y="0"/>
                  </a:moveTo>
                  <a:lnTo>
                    <a:pt x="5448300" y="0"/>
                  </a:lnTo>
                  <a:lnTo>
                    <a:pt x="5448300" y="2921000"/>
                  </a:lnTo>
                  <a:lnTo>
                    <a:pt x="0" y="2921000"/>
                  </a:lnTo>
                  <a:close/>
                </a:path>
              </a:pathLst>
            </a:custGeom>
            <a:solidFill>
              <a:srgbClr val="FFFFFF"/>
            </a:solidFill>
            <a:ln w="38100" cap="sq">
              <a:solidFill>
                <a:srgbClr val="0151B8"/>
              </a:solidFill>
              <a:prstDash val="solid"/>
              <a:miter/>
            </a:ln>
          </p:spPr>
          <p:txBody>
            <a:bodyPr/>
            <a:lstStyle/>
            <a:p>
              <a:endParaRPr lang="en-US"/>
            </a:p>
          </p:txBody>
        </p:sp>
      </p:grpSp>
      <p:sp>
        <p:nvSpPr>
          <p:cNvPr id="9" name="Freeform 9"/>
          <p:cNvSpPr/>
          <p:nvPr/>
        </p:nvSpPr>
        <p:spPr>
          <a:xfrm>
            <a:off x="15141301" y="2276981"/>
            <a:ext cx="2887896" cy="1467133"/>
          </a:xfrm>
          <a:custGeom>
            <a:avLst/>
            <a:gdLst/>
            <a:ahLst/>
            <a:cxnLst/>
            <a:rect l="l" t="t" r="r" b="b"/>
            <a:pathLst>
              <a:path w="4244276" h="2238890">
                <a:moveTo>
                  <a:pt x="0" y="0"/>
                </a:moveTo>
                <a:lnTo>
                  <a:pt x="4244276" y="0"/>
                </a:lnTo>
                <a:lnTo>
                  <a:pt x="4244276" y="2238891"/>
                </a:lnTo>
                <a:lnTo>
                  <a:pt x="0" y="2238891"/>
                </a:lnTo>
                <a:lnTo>
                  <a:pt x="0" y="0"/>
                </a:lnTo>
                <a:close/>
              </a:path>
            </a:pathLst>
          </a:custGeom>
          <a:blipFill>
            <a:blip r:embed="rId5"/>
            <a:stretch>
              <a:fillRect/>
            </a:stretch>
          </a:blipFill>
        </p:spPr>
        <p:txBody>
          <a:bodyPr/>
          <a:lstStyle/>
          <a:p>
            <a:endParaRPr lang="en-US"/>
          </a:p>
        </p:txBody>
      </p:sp>
      <p:sp>
        <p:nvSpPr>
          <p:cNvPr id="10" name="TextBox 10"/>
          <p:cNvSpPr txBox="1"/>
          <p:nvPr/>
        </p:nvSpPr>
        <p:spPr>
          <a:xfrm>
            <a:off x="1567855" y="255376"/>
            <a:ext cx="14687550" cy="910506"/>
          </a:xfrm>
          <a:prstGeom prst="rect">
            <a:avLst/>
          </a:prstGeom>
        </p:spPr>
        <p:txBody>
          <a:bodyPr wrap="square" lIns="0" tIns="0" rIns="0" bIns="0" rtlCol="0" anchor="t">
            <a:spAutoFit/>
          </a:bodyPr>
          <a:lstStyle/>
          <a:p>
            <a:pPr marL="0" lvl="0" indent="0" algn="ctr">
              <a:lnSpc>
                <a:spcPts val="7141"/>
              </a:lnSpc>
              <a:spcBef>
                <a:spcPct val="0"/>
              </a:spcBef>
            </a:pPr>
            <a:r>
              <a:rPr lang="en-US" sz="6209" b="1" u="none" strike="noStrike">
                <a:solidFill>
                  <a:srgbClr val="000000"/>
                </a:solidFill>
                <a:latin typeface="Poppins Bold"/>
                <a:ea typeface="Poppins Bold"/>
                <a:cs typeface="Poppins Bold"/>
                <a:sym typeface="Poppins Bold"/>
              </a:rPr>
              <a:t>Suy Nghĩ Truyền thống - chỉ số BMI</a:t>
            </a:r>
          </a:p>
        </p:txBody>
      </p:sp>
      <p:sp>
        <p:nvSpPr>
          <p:cNvPr id="13" name="Slide Number Placeholder 12">
            <a:extLst>
              <a:ext uri="{FF2B5EF4-FFF2-40B4-BE49-F238E27FC236}">
                <a16:creationId xmlns:a16="http://schemas.microsoft.com/office/drawing/2014/main" id="{1444AF91-75D4-9768-2517-0EC817431BD4}"/>
              </a:ext>
            </a:extLst>
          </p:cNvPr>
          <p:cNvSpPr>
            <a:spLocks noGrp="1"/>
          </p:cNvSpPr>
          <p:nvPr>
            <p:ph type="sldNum" sz="quarter" idx="12"/>
          </p:nvPr>
        </p:nvSpPr>
        <p:spPr/>
        <p:txBody>
          <a:bodyPr/>
          <a:lstStyle/>
          <a:p>
            <a:fld id="{B6F15528-21DE-4FAA-801E-634DDDAF4B2B}" type="slidenum">
              <a:rPr lang="en-US" smtClean="0"/>
              <a:pPr/>
              <a:t>3</a:t>
            </a:fld>
            <a:endParaRPr lang="en-US"/>
          </a:p>
        </p:txBody>
      </p:sp>
      <p:sp>
        <p:nvSpPr>
          <p:cNvPr id="14" name="TextBox 11">
            <a:extLst>
              <a:ext uri="{FF2B5EF4-FFF2-40B4-BE49-F238E27FC236}">
                <a16:creationId xmlns:a16="http://schemas.microsoft.com/office/drawing/2014/main" id="{4D419E7F-AA9A-C4C8-9898-40E18ACE1440}"/>
              </a:ext>
            </a:extLst>
          </p:cNvPr>
          <p:cNvSpPr txBox="1"/>
          <p:nvPr/>
        </p:nvSpPr>
        <p:spPr>
          <a:xfrm>
            <a:off x="15103571" y="4202311"/>
            <a:ext cx="3024325" cy="3077766"/>
          </a:xfrm>
          <a:prstGeom prst="rect">
            <a:avLst/>
          </a:prstGeom>
        </p:spPr>
        <p:txBody>
          <a:bodyPr wrap="square" lIns="0" tIns="0" rIns="0" bIns="0" rtlCol="0" anchor="t">
            <a:spAutoFit/>
          </a:bodyPr>
          <a:lstStyle/>
          <a:p>
            <a:r>
              <a:rPr lang="en-US" sz="2000" b="1">
                <a:solidFill>
                  <a:schemeClr val="tx2">
                    <a:lumMod val="60000"/>
                    <a:lumOff val="40000"/>
                  </a:schemeClr>
                </a:solidFill>
                <a:latin typeface="Poppins Bold"/>
              </a:rPr>
              <a:t>BMI – Body Mass Index</a:t>
            </a:r>
          </a:p>
          <a:p>
            <a:r>
              <a:rPr sz="2000" b="1">
                <a:latin typeface="Poppins Bold"/>
              </a:rPr>
              <a:t>• Dễ tính, dùng phổ biến</a:t>
            </a:r>
          </a:p>
          <a:p>
            <a:r>
              <a:rPr sz="2000" b="1">
                <a:latin typeface="Poppins Bold"/>
              </a:rPr>
              <a:t>• Không phân biệt cơ và mỡ</a:t>
            </a:r>
          </a:p>
          <a:p>
            <a:r>
              <a:rPr sz="2000" b="1">
                <a:latin typeface="Poppins Bold"/>
              </a:rPr>
              <a:t>• Dễ nhầm ở nhóm cận biên</a:t>
            </a:r>
          </a:p>
          <a:p>
            <a:r>
              <a:rPr sz="2000" b="1">
                <a:latin typeface="Poppins Bold"/>
              </a:rPr>
              <a:t>• Cần thêm dữ liệu ăn uống, vận động, di truyền</a:t>
            </a:r>
          </a:p>
        </p:txBody>
      </p:sp>
    </p:spTree>
  </p:cSld>
  <p:clrMapOvr>
    <a:masterClrMapping/>
  </p:clrMapOvr>
  <p:transition spd="med">
    <p:pull/>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17332135" y="0"/>
            <a:ext cx="1013015" cy="10287000"/>
            <a:chOff x="0" y="0"/>
            <a:chExt cx="266802" cy="2709333"/>
          </a:xfrm>
        </p:grpSpPr>
        <p:sp>
          <p:nvSpPr>
            <p:cNvPr id="3" name="Freeform 3"/>
            <p:cNvSpPr/>
            <p:nvPr/>
          </p:nvSpPr>
          <p:spPr>
            <a:xfrm>
              <a:off x="0" y="0"/>
              <a:ext cx="266802" cy="2709333"/>
            </a:xfrm>
            <a:custGeom>
              <a:avLst/>
              <a:gdLst/>
              <a:ahLst/>
              <a:cxnLst/>
              <a:rect l="l" t="t" r="r" b="b"/>
              <a:pathLst>
                <a:path w="266802" h="2709333">
                  <a:moveTo>
                    <a:pt x="0" y="0"/>
                  </a:moveTo>
                  <a:lnTo>
                    <a:pt x="266802" y="0"/>
                  </a:lnTo>
                  <a:lnTo>
                    <a:pt x="266802" y="2709333"/>
                  </a:lnTo>
                  <a:lnTo>
                    <a:pt x="0" y="2709333"/>
                  </a:lnTo>
                  <a:close/>
                </a:path>
              </a:pathLst>
            </a:custGeom>
            <a:gradFill rotWithShape="1">
              <a:gsLst>
                <a:gs pos="0">
                  <a:srgbClr val="0453B9">
                    <a:alpha val="100000"/>
                  </a:srgbClr>
                </a:gs>
                <a:gs pos="100000">
                  <a:srgbClr val="3881DF">
                    <a:alpha val="100000"/>
                  </a:srgbClr>
                </a:gs>
              </a:gsLst>
              <a:lin ang="2700000"/>
            </a:gradFill>
          </p:spPr>
          <p:txBody>
            <a:bodyPr/>
            <a:lstStyle/>
            <a:p>
              <a:endParaRPr lang="en-US"/>
            </a:p>
          </p:txBody>
        </p:sp>
        <p:sp>
          <p:nvSpPr>
            <p:cNvPr id="4" name="TextBox 4"/>
            <p:cNvSpPr txBox="1"/>
            <p:nvPr/>
          </p:nvSpPr>
          <p:spPr>
            <a:xfrm>
              <a:off x="0" y="-57150"/>
              <a:ext cx="266802" cy="2766483"/>
            </a:xfrm>
            <a:prstGeom prst="rect">
              <a:avLst/>
            </a:prstGeom>
          </p:spPr>
          <p:txBody>
            <a:bodyPr lIns="50800" tIns="50800" rIns="50800" bIns="50800" rtlCol="0" anchor="ctr"/>
            <a:lstStyle/>
            <a:p>
              <a:pPr algn="ctr">
                <a:lnSpc>
                  <a:spcPts val="2735"/>
                </a:lnSpc>
              </a:pPr>
              <a:endParaRPr/>
            </a:p>
          </p:txBody>
        </p:sp>
      </p:grpSp>
      <p:sp>
        <p:nvSpPr>
          <p:cNvPr id="5" name="Freeform 5"/>
          <p:cNvSpPr/>
          <p:nvPr/>
        </p:nvSpPr>
        <p:spPr>
          <a:xfrm rot="-5400000">
            <a:off x="17115201" y="4805459"/>
            <a:ext cx="1191242" cy="641726"/>
          </a:xfrm>
          <a:custGeom>
            <a:avLst/>
            <a:gdLst/>
            <a:ahLst/>
            <a:cxnLst/>
            <a:rect l="l" t="t" r="r" b="b"/>
            <a:pathLst>
              <a:path w="1191242" h="641726">
                <a:moveTo>
                  <a:pt x="0" y="0"/>
                </a:moveTo>
                <a:lnTo>
                  <a:pt x="1191242" y="0"/>
                </a:lnTo>
                <a:lnTo>
                  <a:pt x="1191242" y="641726"/>
                </a:lnTo>
                <a:lnTo>
                  <a:pt x="0" y="641726"/>
                </a:lnTo>
                <a:lnTo>
                  <a:pt x="0" y="0"/>
                </a:lnTo>
                <a:close/>
              </a:path>
            </a:pathLst>
          </a:custGeom>
          <a:blipFill>
            <a:blip>
              <a:extLst>
                <a:ext uri="{96DAC541-7B7A-43D3-8B79-37D633B846F1}">
                  <asvg:svgBlip xmlns:asvg="http://schemas.microsoft.com/office/drawing/2016/SVG/main" r:embed="rId3"/>
                </a:ext>
              </a:extLst>
            </a:blip>
            <a:stretch>
              <a:fillRect b="-85630"/>
            </a:stretch>
          </a:blipFill>
        </p:spPr>
        <p:txBody>
          <a:bodyPr/>
          <a:lstStyle/>
          <a:p>
            <a:endParaRPr lang="en-US"/>
          </a:p>
        </p:txBody>
      </p:sp>
      <p:grpSp>
        <p:nvGrpSpPr>
          <p:cNvPr id="6" name="Group 6"/>
          <p:cNvGrpSpPr/>
          <p:nvPr/>
        </p:nvGrpSpPr>
        <p:grpSpPr>
          <a:xfrm>
            <a:off x="6404501" y="9720110"/>
            <a:ext cx="7020469" cy="1076631"/>
            <a:chOff x="0" y="0"/>
            <a:chExt cx="1849012" cy="283557"/>
          </a:xfrm>
        </p:grpSpPr>
        <p:sp>
          <p:nvSpPr>
            <p:cNvPr id="7" name="Freeform 7"/>
            <p:cNvSpPr/>
            <p:nvPr/>
          </p:nvSpPr>
          <p:spPr>
            <a:xfrm>
              <a:off x="0" y="0"/>
              <a:ext cx="1849012" cy="283557"/>
            </a:xfrm>
            <a:custGeom>
              <a:avLst/>
              <a:gdLst/>
              <a:ahLst/>
              <a:cxnLst/>
              <a:rect l="l" t="t" r="r" b="b"/>
              <a:pathLst>
                <a:path w="1849012" h="283557">
                  <a:moveTo>
                    <a:pt x="110276" y="0"/>
                  </a:moveTo>
                  <a:lnTo>
                    <a:pt x="1738736" y="0"/>
                  </a:lnTo>
                  <a:cubicBezTo>
                    <a:pt x="1767983" y="0"/>
                    <a:pt x="1796032" y="11618"/>
                    <a:pt x="1816713" y="32299"/>
                  </a:cubicBezTo>
                  <a:cubicBezTo>
                    <a:pt x="1837394" y="52980"/>
                    <a:pt x="1849012" y="81029"/>
                    <a:pt x="1849012" y="110276"/>
                  </a:cubicBezTo>
                  <a:lnTo>
                    <a:pt x="1849012" y="173281"/>
                  </a:lnTo>
                  <a:cubicBezTo>
                    <a:pt x="1849012" y="234185"/>
                    <a:pt x="1799640" y="283557"/>
                    <a:pt x="1738736" y="283557"/>
                  </a:cubicBezTo>
                  <a:lnTo>
                    <a:pt x="110276" y="283557"/>
                  </a:lnTo>
                  <a:cubicBezTo>
                    <a:pt x="81029" y="283557"/>
                    <a:pt x="52980" y="271939"/>
                    <a:pt x="32299" y="251258"/>
                  </a:cubicBezTo>
                  <a:cubicBezTo>
                    <a:pt x="11618" y="230577"/>
                    <a:pt x="0" y="202528"/>
                    <a:pt x="0" y="173281"/>
                  </a:cubicBezTo>
                  <a:lnTo>
                    <a:pt x="0" y="110276"/>
                  </a:lnTo>
                  <a:cubicBezTo>
                    <a:pt x="0" y="81029"/>
                    <a:pt x="11618" y="52980"/>
                    <a:pt x="32299" y="32299"/>
                  </a:cubicBezTo>
                  <a:cubicBezTo>
                    <a:pt x="52980" y="11618"/>
                    <a:pt x="81029" y="0"/>
                    <a:pt x="110276"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8" name="TextBox 8"/>
            <p:cNvSpPr txBox="1"/>
            <p:nvPr/>
          </p:nvSpPr>
          <p:spPr>
            <a:xfrm>
              <a:off x="0" y="-38100"/>
              <a:ext cx="1849012" cy="321657"/>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p:cNvSpPr/>
          <p:nvPr/>
        </p:nvSpPr>
        <p:spPr>
          <a:xfrm>
            <a:off x="312420" y="9941375"/>
            <a:ext cx="1046053" cy="563513"/>
          </a:xfrm>
          <a:custGeom>
            <a:avLst/>
            <a:gdLst/>
            <a:ahLst/>
            <a:cxnLst/>
            <a:rect l="l" t="t" r="r" b="b"/>
            <a:pathLst>
              <a:path w="1046053" h="563513">
                <a:moveTo>
                  <a:pt x="0" y="0"/>
                </a:moveTo>
                <a:lnTo>
                  <a:pt x="1046053" y="0"/>
                </a:lnTo>
                <a:lnTo>
                  <a:pt x="1046053" y="563512"/>
                </a:lnTo>
                <a:lnTo>
                  <a:pt x="0" y="563512"/>
                </a:lnTo>
                <a:lnTo>
                  <a:pt x="0" y="0"/>
                </a:lnTo>
                <a:close/>
              </a:path>
            </a:pathLst>
          </a:custGeom>
          <a:blipFill>
            <a:blip>
              <a:extLst>
                <a:ext uri="{96DAC541-7B7A-43D3-8B79-37D633B846F1}">
                  <asvg:svgBlip xmlns:asvg="http://schemas.microsoft.com/office/drawing/2016/SVG/main" r:embed="rId4"/>
                </a:ext>
              </a:extLst>
            </a:blip>
            <a:stretch>
              <a:fillRect b="-85630"/>
            </a:stretch>
          </a:blipFill>
        </p:spPr>
        <p:txBody>
          <a:bodyPr/>
          <a:lstStyle/>
          <a:p>
            <a:endParaRPr lang="en-US"/>
          </a:p>
        </p:txBody>
      </p:sp>
      <p:grpSp>
        <p:nvGrpSpPr>
          <p:cNvPr id="10" name="Group 10"/>
          <p:cNvGrpSpPr/>
          <p:nvPr/>
        </p:nvGrpSpPr>
        <p:grpSpPr>
          <a:xfrm>
            <a:off x="904521" y="1951489"/>
            <a:ext cx="15262042" cy="3480818"/>
            <a:chOff x="0" y="0"/>
            <a:chExt cx="12306300" cy="2806700"/>
          </a:xfrm>
        </p:grpSpPr>
        <p:sp>
          <p:nvSpPr>
            <p:cNvPr id="11" name="Freeform 11"/>
            <p:cNvSpPr/>
            <p:nvPr/>
          </p:nvSpPr>
          <p:spPr>
            <a:xfrm>
              <a:off x="0" y="0"/>
              <a:ext cx="12306300" cy="2806700"/>
            </a:xfrm>
            <a:custGeom>
              <a:avLst/>
              <a:gdLst/>
              <a:ahLst/>
              <a:cxnLst/>
              <a:rect l="l" t="t" r="r" b="b"/>
              <a:pathLst>
                <a:path w="12306300" h="2806700">
                  <a:moveTo>
                    <a:pt x="0" y="0"/>
                  </a:moveTo>
                  <a:lnTo>
                    <a:pt x="12306300" y="0"/>
                  </a:lnTo>
                  <a:lnTo>
                    <a:pt x="12306300" y="2806700"/>
                  </a:lnTo>
                  <a:lnTo>
                    <a:pt x="0" y="2806700"/>
                  </a:lnTo>
                  <a:close/>
                </a:path>
              </a:pathLst>
            </a:custGeom>
            <a:solidFill>
              <a:srgbClr val="FFFFFF"/>
            </a:solidFill>
            <a:ln w="38100" cap="sq">
              <a:solidFill>
                <a:srgbClr val="0151B8"/>
              </a:solidFill>
              <a:prstDash val="solid"/>
              <a:miter/>
            </a:ln>
          </p:spPr>
          <p:txBody>
            <a:bodyPr/>
            <a:lstStyle/>
            <a:p>
              <a:endParaRPr lang="en-US"/>
            </a:p>
          </p:txBody>
        </p:sp>
      </p:grpSp>
      <p:sp>
        <p:nvSpPr>
          <p:cNvPr id="12" name="Freeform 12"/>
          <p:cNvSpPr/>
          <p:nvPr/>
        </p:nvSpPr>
        <p:spPr>
          <a:xfrm>
            <a:off x="955629" y="1999610"/>
            <a:ext cx="15120290" cy="3345364"/>
          </a:xfrm>
          <a:custGeom>
            <a:avLst/>
            <a:gdLst/>
            <a:ahLst/>
            <a:cxnLst/>
            <a:rect l="l" t="t" r="r" b="b"/>
            <a:pathLst>
              <a:path w="9144000" h="2023110">
                <a:moveTo>
                  <a:pt x="0" y="0"/>
                </a:moveTo>
                <a:lnTo>
                  <a:pt x="9144000" y="0"/>
                </a:lnTo>
                <a:lnTo>
                  <a:pt x="9144000" y="2023110"/>
                </a:lnTo>
                <a:lnTo>
                  <a:pt x="0" y="2023110"/>
                </a:lnTo>
                <a:lnTo>
                  <a:pt x="0" y="0"/>
                </a:lnTo>
                <a:close/>
              </a:path>
            </a:pathLst>
          </a:custGeom>
          <a:blipFill>
            <a:blip r:embed="rId5"/>
            <a:stretch>
              <a:fillRect/>
            </a:stretch>
          </a:blipFill>
        </p:spPr>
        <p:txBody>
          <a:bodyPr/>
          <a:lstStyle/>
          <a:p>
            <a:endParaRPr lang="en-US"/>
          </a:p>
        </p:txBody>
      </p:sp>
      <p:grpSp>
        <p:nvGrpSpPr>
          <p:cNvPr id="13" name="Group 13"/>
          <p:cNvGrpSpPr/>
          <p:nvPr/>
        </p:nvGrpSpPr>
        <p:grpSpPr>
          <a:xfrm>
            <a:off x="863439" y="6093743"/>
            <a:ext cx="15262041" cy="3668864"/>
            <a:chOff x="0" y="0"/>
            <a:chExt cx="12179300" cy="3048000"/>
          </a:xfrm>
        </p:grpSpPr>
        <p:sp>
          <p:nvSpPr>
            <p:cNvPr id="14" name="Freeform 14"/>
            <p:cNvSpPr/>
            <p:nvPr/>
          </p:nvSpPr>
          <p:spPr>
            <a:xfrm>
              <a:off x="0" y="0"/>
              <a:ext cx="12179300" cy="3048000"/>
            </a:xfrm>
            <a:custGeom>
              <a:avLst/>
              <a:gdLst/>
              <a:ahLst/>
              <a:cxnLst/>
              <a:rect l="l" t="t" r="r" b="b"/>
              <a:pathLst>
                <a:path w="12179300" h="3048000">
                  <a:moveTo>
                    <a:pt x="0" y="0"/>
                  </a:moveTo>
                  <a:lnTo>
                    <a:pt x="12179300" y="0"/>
                  </a:lnTo>
                  <a:lnTo>
                    <a:pt x="12179300" y="3048000"/>
                  </a:lnTo>
                  <a:lnTo>
                    <a:pt x="0" y="3048000"/>
                  </a:lnTo>
                  <a:close/>
                </a:path>
              </a:pathLst>
            </a:custGeom>
            <a:solidFill>
              <a:srgbClr val="FFFFFF"/>
            </a:solidFill>
            <a:ln w="38100" cap="sq">
              <a:solidFill>
                <a:srgbClr val="0151B8"/>
              </a:solidFill>
              <a:prstDash val="solid"/>
              <a:miter/>
            </a:ln>
          </p:spPr>
          <p:txBody>
            <a:bodyPr/>
            <a:lstStyle/>
            <a:p>
              <a:endParaRPr lang="en-US"/>
            </a:p>
          </p:txBody>
        </p:sp>
      </p:grpSp>
      <p:sp>
        <p:nvSpPr>
          <p:cNvPr id="15" name="Freeform 15"/>
          <p:cNvSpPr/>
          <p:nvPr/>
        </p:nvSpPr>
        <p:spPr>
          <a:xfrm>
            <a:off x="955629" y="6186259"/>
            <a:ext cx="15068440" cy="3476832"/>
          </a:xfrm>
          <a:custGeom>
            <a:avLst/>
            <a:gdLst/>
            <a:ahLst/>
            <a:cxnLst/>
            <a:rect l="l" t="t" r="r" b="b"/>
            <a:pathLst>
              <a:path w="9112646" h="2188938">
                <a:moveTo>
                  <a:pt x="0" y="0"/>
                </a:moveTo>
                <a:lnTo>
                  <a:pt x="9112646" y="0"/>
                </a:lnTo>
                <a:lnTo>
                  <a:pt x="9112646" y="2188938"/>
                </a:lnTo>
                <a:lnTo>
                  <a:pt x="0" y="2188938"/>
                </a:lnTo>
                <a:lnTo>
                  <a:pt x="0" y="0"/>
                </a:lnTo>
                <a:close/>
              </a:path>
            </a:pathLst>
          </a:custGeom>
          <a:blipFill>
            <a:blip r:embed="rId6"/>
            <a:stretch>
              <a:fillRect/>
            </a:stretch>
          </a:blipFill>
        </p:spPr>
        <p:txBody>
          <a:bodyPr/>
          <a:lstStyle/>
          <a:p>
            <a:endParaRPr lang="en-US"/>
          </a:p>
        </p:txBody>
      </p:sp>
      <p:sp>
        <p:nvSpPr>
          <p:cNvPr id="18" name="TextBox 18"/>
          <p:cNvSpPr txBox="1"/>
          <p:nvPr/>
        </p:nvSpPr>
        <p:spPr>
          <a:xfrm>
            <a:off x="504825" y="95250"/>
            <a:ext cx="5905500" cy="997542"/>
          </a:xfrm>
          <a:prstGeom prst="rect">
            <a:avLst/>
          </a:prstGeom>
        </p:spPr>
        <p:txBody>
          <a:bodyPr lIns="0" tIns="0" rIns="0" bIns="0" rtlCol="0" anchor="t">
            <a:spAutoFit/>
          </a:bodyPr>
          <a:lstStyle/>
          <a:p>
            <a:pPr marL="0" lvl="0" indent="0" algn="l">
              <a:lnSpc>
                <a:spcPts val="7347"/>
              </a:lnSpc>
              <a:spcBef>
                <a:spcPct val="0"/>
              </a:spcBef>
            </a:pPr>
            <a:r>
              <a:rPr lang="en-US" sz="6389" b="1" u="none" strike="noStrike">
                <a:solidFill>
                  <a:srgbClr val="0453B9"/>
                </a:solidFill>
                <a:latin typeface="Poppins Bold"/>
                <a:ea typeface="Poppins Bold"/>
                <a:cs typeface="Poppins Bold"/>
                <a:sym typeface="Poppins Bold"/>
              </a:rPr>
              <a:t>Xử lý dữ liệu</a:t>
            </a:r>
          </a:p>
        </p:txBody>
      </p:sp>
      <p:sp>
        <p:nvSpPr>
          <p:cNvPr id="19" name="TextBox 19"/>
          <p:cNvSpPr txBox="1"/>
          <p:nvPr/>
        </p:nvSpPr>
        <p:spPr>
          <a:xfrm>
            <a:off x="7544795" y="128993"/>
            <a:ext cx="6467475" cy="1519968"/>
          </a:xfrm>
          <a:prstGeom prst="rect">
            <a:avLst/>
          </a:prstGeom>
        </p:spPr>
        <p:txBody>
          <a:bodyPr lIns="0" tIns="0" rIns="0" bIns="0" rtlCol="0" anchor="t">
            <a:spAutoFit/>
          </a:bodyPr>
          <a:lstStyle/>
          <a:p>
            <a:pPr marL="0" lvl="0" indent="0" algn="just">
              <a:lnSpc>
                <a:spcPts val="2363"/>
              </a:lnSpc>
              <a:spcBef>
                <a:spcPct val="0"/>
              </a:spcBef>
            </a:pPr>
            <a:r>
              <a:rPr lang="en-US" sz="1687" b="1" u="none" strike="noStrike">
                <a:solidFill>
                  <a:srgbClr val="000000"/>
                </a:solidFill>
                <a:latin typeface="Poppins Bold"/>
                <a:ea typeface="Poppins Bold"/>
                <a:cs typeface="Poppins Bold"/>
                <a:sym typeface="Poppins Bold"/>
              </a:rPr>
              <a:t>17 Cột(Thuộc tính trong dữ liệu) chia thành </a:t>
            </a:r>
          </a:p>
          <a:p>
            <a:pPr marL="0" lvl="0" indent="0" algn="just">
              <a:lnSpc>
                <a:spcPts val="2363"/>
              </a:lnSpc>
              <a:spcBef>
                <a:spcPct val="0"/>
              </a:spcBef>
            </a:pPr>
            <a:r>
              <a:rPr lang="en-US" sz="1687" b="1" u="none" strike="noStrike">
                <a:solidFill>
                  <a:srgbClr val="000000"/>
                </a:solidFill>
                <a:latin typeface="Poppins Bold"/>
                <a:ea typeface="Poppins Bold"/>
                <a:cs typeface="Poppins Bold"/>
                <a:sym typeface="Poppins Bold"/>
              </a:rPr>
              <a:t>• Cơ địa</a:t>
            </a:r>
          </a:p>
          <a:p>
            <a:pPr marL="0" lvl="0" indent="0" algn="just">
              <a:lnSpc>
                <a:spcPts val="2363"/>
              </a:lnSpc>
              <a:spcBef>
                <a:spcPct val="0"/>
              </a:spcBef>
            </a:pPr>
            <a:r>
              <a:rPr lang="en-US" sz="1687" b="1" u="none" strike="noStrike">
                <a:solidFill>
                  <a:srgbClr val="000000"/>
                </a:solidFill>
                <a:latin typeface="Poppins Bold"/>
                <a:ea typeface="Poppins Bold"/>
                <a:cs typeface="Poppins Bold"/>
                <a:sym typeface="Poppins Bold"/>
              </a:rPr>
              <a:t>• Dinh dưỡng </a:t>
            </a:r>
          </a:p>
          <a:p>
            <a:pPr marL="0" lvl="0" indent="0" algn="just">
              <a:lnSpc>
                <a:spcPts val="2363"/>
              </a:lnSpc>
              <a:spcBef>
                <a:spcPct val="0"/>
              </a:spcBef>
            </a:pPr>
            <a:r>
              <a:rPr lang="en-US" sz="1687" b="1" u="none" strike="noStrike">
                <a:solidFill>
                  <a:srgbClr val="000000"/>
                </a:solidFill>
                <a:latin typeface="Poppins Bold"/>
                <a:ea typeface="Poppins Bold"/>
                <a:cs typeface="Poppins Bold"/>
                <a:sym typeface="Poppins Bold"/>
              </a:rPr>
              <a:t>• Sinh Hoạt(biến phân loại theo bậc)</a:t>
            </a:r>
          </a:p>
          <a:p>
            <a:pPr marL="0" lvl="0" indent="0" algn="just">
              <a:lnSpc>
                <a:spcPts val="2363"/>
              </a:lnSpc>
              <a:spcBef>
                <a:spcPct val="0"/>
              </a:spcBef>
            </a:pPr>
            <a:r>
              <a:rPr lang="en-US" sz="1687" b="1" u="none" strike="noStrike">
                <a:solidFill>
                  <a:srgbClr val="000000"/>
                </a:solidFill>
                <a:latin typeface="Poppins Bold"/>
                <a:ea typeface="Poppins Bold"/>
                <a:cs typeface="Poppins Bold"/>
                <a:sym typeface="Poppins Bold"/>
              </a:rPr>
              <a:t>• Di Truyền </a:t>
            </a:r>
          </a:p>
        </p:txBody>
      </p:sp>
      <p:sp>
        <p:nvSpPr>
          <p:cNvPr id="20" name="TextBox 20"/>
          <p:cNvSpPr txBox="1"/>
          <p:nvPr/>
        </p:nvSpPr>
        <p:spPr>
          <a:xfrm>
            <a:off x="835447" y="5556918"/>
            <a:ext cx="7940476" cy="326884"/>
          </a:xfrm>
          <a:prstGeom prst="rect">
            <a:avLst/>
          </a:prstGeom>
        </p:spPr>
        <p:txBody>
          <a:bodyPr wrap="square" lIns="0" tIns="0" rIns="0" bIns="0" rtlCol="0" anchor="t">
            <a:spAutoFit/>
          </a:bodyPr>
          <a:lstStyle/>
          <a:p>
            <a:pPr algn="ctr">
              <a:lnSpc>
                <a:spcPts val="2735"/>
              </a:lnSpc>
              <a:spcBef>
                <a:spcPct val="0"/>
              </a:spcBef>
            </a:pPr>
            <a:r>
              <a:rPr lang="en-US" sz="1953" b="1">
                <a:solidFill>
                  <a:srgbClr val="000000"/>
                </a:solidFill>
                <a:latin typeface="Poppins Bold"/>
                <a:ea typeface="Poppins Bold"/>
                <a:cs typeface="Poppins Bold"/>
                <a:sym typeface="Poppins Bold"/>
              </a:rPr>
              <a:t>1)Thực Hiện Làm Tròn Tuổi Và Các Biến Phân Loại Theo Thứ Bậc </a:t>
            </a:r>
          </a:p>
        </p:txBody>
      </p:sp>
      <p:sp>
        <p:nvSpPr>
          <p:cNvPr id="26" name="Slide Number Placeholder 25">
            <a:extLst>
              <a:ext uri="{FF2B5EF4-FFF2-40B4-BE49-F238E27FC236}">
                <a16:creationId xmlns:a16="http://schemas.microsoft.com/office/drawing/2014/main" id="{1A33A766-3557-25AA-3927-F632F433EFFF}"/>
              </a:ext>
            </a:extLst>
          </p:cNvPr>
          <p:cNvSpPr>
            <a:spLocks noGrp="1"/>
          </p:cNvSpPr>
          <p:nvPr>
            <p:ph type="sldNum" sz="quarter" idx="12"/>
          </p:nvPr>
        </p:nvSpPr>
        <p:spPr/>
        <p:txBody>
          <a:bodyPr/>
          <a:lstStyle/>
          <a:p>
            <a:fld id="{B6F15528-21DE-4FAA-801E-634DDDAF4B2B}" type="slidenum">
              <a:rPr lang="en-US" smtClean="0"/>
              <a:pPr/>
              <a:t>4</a:t>
            </a:fld>
            <a:endParaRPr lang="en-US"/>
          </a:p>
        </p:txBody>
      </p:sp>
    </p:spTree>
  </p:cSld>
  <p:clrMapOvr>
    <a:masterClrMapping/>
  </p:clrMapOvr>
  <p:transition spd="med">
    <p:pull/>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BE9B01-9938-A0AF-6C78-16CE19DFBC3E}"/>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3F815CA-5CD4-5C2C-2DA7-B7D286AAD292}"/>
              </a:ext>
            </a:extLst>
          </p:cNvPr>
          <p:cNvGrpSpPr/>
          <p:nvPr/>
        </p:nvGrpSpPr>
        <p:grpSpPr>
          <a:xfrm>
            <a:off x="17332135" y="0"/>
            <a:ext cx="1013015" cy="10287000"/>
            <a:chOff x="0" y="0"/>
            <a:chExt cx="266802" cy="2709333"/>
          </a:xfrm>
        </p:grpSpPr>
        <p:sp>
          <p:nvSpPr>
            <p:cNvPr id="3" name="Freeform 3">
              <a:extLst>
                <a:ext uri="{FF2B5EF4-FFF2-40B4-BE49-F238E27FC236}">
                  <a16:creationId xmlns:a16="http://schemas.microsoft.com/office/drawing/2014/main" id="{753B4B0A-8221-1C28-3FC0-D8542E1B17C0}"/>
                </a:ext>
              </a:extLst>
            </p:cNvPr>
            <p:cNvSpPr/>
            <p:nvPr/>
          </p:nvSpPr>
          <p:spPr>
            <a:xfrm>
              <a:off x="0" y="0"/>
              <a:ext cx="266802" cy="2709333"/>
            </a:xfrm>
            <a:custGeom>
              <a:avLst/>
              <a:gdLst/>
              <a:ahLst/>
              <a:cxnLst/>
              <a:rect l="l" t="t" r="r" b="b"/>
              <a:pathLst>
                <a:path w="266802" h="2709333">
                  <a:moveTo>
                    <a:pt x="0" y="0"/>
                  </a:moveTo>
                  <a:lnTo>
                    <a:pt x="266802" y="0"/>
                  </a:lnTo>
                  <a:lnTo>
                    <a:pt x="266802" y="2709333"/>
                  </a:lnTo>
                  <a:lnTo>
                    <a:pt x="0" y="2709333"/>
                  </a:lnTo>
                  <a:close/>
                </a:path>
              </a:pathLst>
            </a:custGeom>
            <a:gradFill rotWithShape="1">
              <a:gsLst>
                <a:gs pos="0">
                  <a:srgbClr val="0453B9">
                    <a:alpha val="100000"/>
                  </a:srgbClr>
                </a:gs>
                <a:gs pos="100000">
                  <a:srgbClr val="3881DF">
                    <a:alpha val="100000"/>
                  </a:srgbClr>
                </a:gs>
              </a:gsLst>
              <a:lin ang="2700000"/>
            </a:gradFill>
          </p:spPr>
          <p:txBody>
            <a:bodyPr/>
            <a:lstStyle/>
            <a:p>
              <a:endParaRPr lang="en-US"/>
            </a:p>
          </p:txBody>
        </p:sp>
        <p:sp>
          <p:nvSpPr>
            <p:cNvPr id="4" name="TextBox 4">
              <a:extLst>
                <a:ext uri="{FF2B5EF4-FFF2-40B4-BE49-F238E27FC236}">
                  <a16:creationId xmlns:a16="http://schemas.microsoft.com/office/drawing/2014/main" id="{768A5E39-3049-8BA8-A1C9-F6231A695B95}"/>
                </a:ext>
              </a:extLst>
            </p:cNvPr>
            <p:cNvSpPr txBox="1"/>
            <p:nvPr/>
          </p:nvSpPr>
          <p:spPr>
            <a:xfrm>
              <a:off x="0" y="-57150"/>
              <a:ext cx="266802" cy="2766483"/>
            </a:xfrm>
            <a:prstGeom prst="rect">
              <a:avLst/>
            </a:prstGeom>
          </p:spPr>
          <p:txBody>
            <a:bodyPr lIns="50800" tIns="50800" rIns="50800" bIns="50800" rtlCol="0" anchor="ctr"/>
            <a:lstStyle/>
            <a:p>
              <a:pPr algn="ctr">
                <a:lnSpc>
                  <a:spcPts val="2735"/>
                </a:lnSpc>
              </a:pPr>
              <a:endParaRPr/>
            </a:p>
          </p:txBody>
        </p:sp>
      </p:grpSp>
      <p:sp>
        <p:nvSpPr>
          <p:cNvPr id="5" name="Freeform 5">
            <a:extLst>
              <a:ext uri="{FF2B5EF4-FFF2-40B4-BE49-F238E27FC236}">
                <a16:creationId xmlns:a16="http://schemas.microsoft.com/office/drawing/2014/main" id="{82CEF8B9-DCED-3E1C-534F-E32EEFA31CA9}"/>
              </a:ext>
            </a:extLst>
          </p:cNvPr>
          <p:cNvSpPr/>
          <p:nvPr/>
        </p:nvSpPr>
        <p:spPr>
          <a:xfrm rot="-5400000">
            <a:off x="17115201" y="4805459"/>
            <a:ext cx="1191242" cy="641726"/>
          </a:xfrm>
          <a:custGeom>
            <a:avLst/>
            <a:gdLst/>
            <a:ahLst/>
            <a:cxnLst/>
            <a:rect l="l" t="t" r="r" b="b"/>
            <a:pathLst>
              <a:path w="1191242" h="641726">
                <a:moveTo>
                  <a:pt x="0" y="0"/>
                </a:moveTo>
                <a:lnTo>
                  <a:pt x="1191242" y="0"/>
                </a:lnTo>
                <a:lnTo>
                  <a:pt x="1191242" y="641726"/>
                </a:lnTo>
                <a:lnTo>
                  <a:pt x="0" y="641726"/>
                </a:lnTo>
                <a:lnTo>
                  <a:pt x="0" y="0"/>
                </a:lnTo>
                <a:close/>
              </a:path>
            </a:pathLst>
          </a:custGeom>
          <a:blipFill>
            <a:blip>
              <a:extLst>
                <a:ext uri="{96DAC541-7B7A-43D3-8B79-37D633B846F1}">
                  <asvg:svgBlip xmlns:asvg="http://schemas.microsoft.com/office/drawing/2016/SVG/main" r:embed="rId3"/>
                </a:ext>
              </a:extLst>
            </a:blip>
            <a:stretch>
              <a:fillRect b="-85630"/>
            </a:stretch>
          </a:blipFill>
        </p:spPr>
        <p:txBody>
          <a:bodyPr/>
          <a:lstStyle/>
          <a:p>
            <a:endParaRPr lang="en-US"/>
          </a:p>
        </p:txBody>
      </p:sp>
      <p:grpSp>
        <p:nvGrpSpPr>
          <p:cNvPr id="6" name="Group 6">
            <a:extLst>
              <a:ext uri="{FF2B5EF4-FFF2-40B4-BE49-F238E27FC236}">
                <a16:creationId xmlns:a16="http://schemas.microsoft.com/office/drawing/2014/main" id="{9A752790-13DA-C762-2CF3-8A96BC947A32}"/>
              </a:ext>
            </a:extLst>
          </p:cNvPr>
          <p:cNvGrpSpPr/>
          <p:nvPr/>
        </p:nvGrpSpPr>
        <p:grpSpPr>
          <a:xfrm>
            <a:off x="6404501" y="9720110"/>
            <a:ext cx="7020469" cy="1076631"/>
            <a:chOff x="0" y="0"/>
            <a:chExt cx="1849012" cy="283557"/>
          </a:xfrm>
        </p:grpSpPr>
        <p:sp>
          <p:nvSpPr>
            <p:cNvPr id="7" name="Freeform 7">
              <a:extLst>
                <a:ext uri="{FF2B5EF4-FFF2-40B4-BE49-F238E27FC236}">
                  <a16:creationId xmlns:a16="http://schemas.microsoft.com/office/drawing/2014/main" id="{9CF5607B-06FF-7A5E-C62B-204FB31EE237}"/>
                </a:ext>
              </a:extLst>
            </p:cNvPr>
            <p:cNvSpPr/>
            <p:nvPr/>
          </p:nvSpPr>
          <p:spPr>
            <a:xfrm>
              <a:off x="0" y="0"/>
              <a:ext cx="1849012" cy="283557"/>
            </a:xfrm>
            <a:custGeom>
              <a:avLst/>
              <a:gdLst/>
              <a:ahLst/>
              <a:cxnLst/>
              <a:rect l="l" t="t" r="r" b="b"/>
              <a:pathLst>
                <a:path w="1849012" h="283557">
                  <a:moveTo>
                    <a:pt x="110276" y="0"/>
                  </a:moveTo>
                  <a:lnTo>
                    <a:pt x="1738736" y="0"/>
                  </a:lnTo>
                  <a:cubicBezTo>
                    <a:pt x="1767983" y="0"/>
                    <a:pt x="1796032" y="11618"/>
                    <a:pt x="1816713" y="32299"/>
                  </a:cubicBezTo>
                  <a:cubicBezTo>
                    <a:pt x="1837394" y="52980"/>
                    <a:pt x="1849012" y="81029"/>
                    <a:pt x="1849012" y="110276"/>
                  </a:cubicBezTo>
                  <a:lnTo>
                    <a:pt x="1849012" y="173281"/>
                  </a:lnTo>
                  <a:cubicBezTo>
                    <a:pt x="1849012" y="234185"/>
                    <a:pt x="1799640" y="283557"/>
                    <a:pt x="1738736" y="283557"/>
                  </a:cubicBezTo>
                  <a:lnTo>
                    <a:pt x="110276" y="283557"/>
                  </a:lnTo>
                  <a:cubicBezTo>
                    <a:pt x="81029" y="283557"/>
                    <a:pt x="52980" y="271939"/>
                    <a:pt x="32299" y="251258"/>
                  </a:cubicBezTo>
                  <a:cubicBezTo>
                    <a:pt x="11618" y="230577"/>
                    <a:pt x="0" y="202528"/>
                    <a:pt x="0" y="173281"/>
                  </a:cubicBezTo>
                  <a:lnTo>
                    <a:pt x="0" y="110276"/>
                  </a:lnTo>
                  <a:cubicBezTo>
                    <a:pt x="0" y="81029"/>
                    <a:pt x="11618" y="52980"/>
                    <a:pt x="32299" y="32299"/>
                  </a:cubicBezTo>
                  <a:cubicBezTo>
                    <a:pt x="52980" y="11618"/>
                    <a:pt x="81029" y="0"/>
                    <a:pt x="110276"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8" name="TextBox 8">
              <a:extLst>
                <a:ext uri="{FF2B5EF4-FFF2-40B4-BE49-F238E27FC236}">
                  <a16:creationId xmlns:a16="http://schemas.microsoft.com/office/drawing/2014/main" id="{642D0699-7DE9-E38F-CD27-C79ACEDC07B1}"/>
                </a:ext>
              </a:extLst>
            </p:cNvPr>
            <p:cNvSpPr txBox="1"/>
            <p:nvPr/>
          </p:nvSpPr>
          <p:spPr>
            <a:xfrm>
              <a:off x="0" y="-38100"/>
              <a:ext cx="1849012" cy="321657"/>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FBA61D26-C984-7A81-95F8-7CA0CF118922}"/>
              </a:ext>
            </a:extLst>
          </p:cNvPr>
          <p:cNvSpPr/>
          <p:nvPr/>
        </p:nvSpPr>
        <p:spPr>
          <a:xfrm>
            <a:off x="1454241" y="9501622"/>
            <a:ext cx="1046053" cy="563513"/>
          </a:xfrm>
          <a:custGeom>
            <a:avLst/>
            <a:gdLst/>
            <a:ahLst/>
            <a:cxnLst/>
            <a:rect l="l" t="t" r="r" b="b"/>
            <a:pathLst>
              <a:path w="1046053" h="563513">
                <a:moveTo>
                  <a:pt x="0" y="0"/>
                </a:moveTo>
                <a:lnTo>
                  <a:pt x="1046053" y="0"/>
                </a:lnTo>
                <a:lnTo>
                  <a:pt x="1046053" y="563512"/>
                </a:lnTo>
                <a:lnTo>
                  <a:pt x="0" y="563512"/>
                </a:lnTo>
                <a:lnTo>
                  <a:pt x="0" y="0"/>
                </a:lnTo>
                <a:close/>
              </a:path>
            </a:pathLst>
          </a:custGeom>
          <a:blipFill>
            <a:blip>
              <a:extLst>
                <a:ext uri="{96DAC541-7B7A-43D3-8B79-37D633B846F1}">
                  <asvg:svgBlip xmlns:asvg="http://schemas.microsoft.com/office/drawing/2016/SVG/main" r:embed="rId4"/>
                </a:ext>
              </a:extLst>
            </a:blip>
            <a:stretch>
              <a:fillRect b="-85630"/>
            </a:stretch>
          </a:blipFill>
        </p:spPr>
        <p:txBody>
          <a:bodyPr/>
          <a:lstStyle/>
          <a:p>
            <a:endParaRPr lang="en-US"/>
          </a:p>
        </p:txBody>
      </p:sp>
      <p:sp>
        <p:nvSpPr>
          <p:cNvPr id="16" name="Freeform 16">
            <a:extLst>
              <a:ext uri="{FF2B5EF4-FFF2-40B4-BE49-F238E27FC236}">
                <a16:creationId xmlns:a16="http://schemas.microsoft.com/office/drawing/2014/main" id="{FC46046D-4FE9-D750-5A8D-6A055010F8FB}"/>
              </a:ext>
            </a:extLst>
          </p:cNvPr>
          <p:cNvSpPr/>
          <p:nvPr/>
        </p:nvSpPr>
        <p:spPr>
          <a:xfrm>
            <a:off x="619278" y="2518782"/>
            <a:ext cx="16297122" cy="2607540"/>
          </a:xfrm>
          <a:custGeom>
            <a:avLst/>
            <a:gdLst/>
            <a:ahLst/>
            <a:cxnLst/>
            <a:rect l="l" t="t" r="r" b="b"/>
            <a:pathLst>
              <a:path w="11301259" h="1808201">
                <a:moveTo>
                  <a:pt x="0" y="0"/>
                </a:moveTo>
                <a:lnTo>
                  <a:pt x="11301259" y="0"/>
                </a:lnTo>
                <a:lnTo>
                  <a:pt x="11301259" y="1808201"/>
                </a:lnTo>
                <a:lnTo>
                  <a:pt x="0" y="1808201"/>
                </a:lnTo>
                <a:lnTo>
                  <a:pt x="0" y="0"/>
                </a:lnTo>
                <a:close/>
              </a:path>
            </a:pathLst>
          </a:custGeom>
          <a:blipFill>
            <a:blip r:embed="rId5"/>
            <a:stretch>
              <a:fillRect/>
            </a:stretch>
          </a:blipFill>
        </p:spPr>
        <p:txBody>
          <a:bodyPr/>
          <a:lstStyle/>
          <a:p>
            <a:endParaRPr lang="en-US"/>
          </a:p>
        </p:txBody>
      </p:sp>
      <p:sp>
        <p:nvSpPr>
          <p:cNvPr id="18" name="TextBox 18">
            <a:extLst>
              <a:ext uri="{FF2B5EF4-FFF2-40B4-BE49-F238E27FC236}">
                <a16:creationId xmlns:a16="http://schemas.microsoft.com/office/drawing/2014/main" id="{F03FBE80-7002-0DEE-F39D-D2C3FAA7658E}"/>
              </a:ext>
            </a:extLst>
          </p:cNvPr>
          <p:cNvSpPr txBox="1"/>
          <p:nvPr/>
        </p:nvSpPr>
        <p:spPr>
          <a:xfrm>
            <a:off x="504825" y="95250"/>
            <a:ext cx="5905500" cy="997542"/>
          </a:xfrm>
          <a:prstGeom prst="rect">
            <a:avLst/>
          </a:prstGeom>
        </p:spPr>
        <p:txBody>
          <a:bodyPr lIns="0" tIns="0" rIns="0" bIns="0" rtlCol="0" anchor="t">
            <a:spAutoFit/>
          </a:bodyPr>
          <a:lstStyle/>
          <a:p>
            <a:pPr marL="0" lvl="0" indent="0" algn="l">
              <a:lnSpc>
                <a:spcPts val="7347"/>
              </a:lnSpc>
              <a:spcBef>
                <a:spcPct val="0"/>
              </a:spcBef>
            </a:pPr>
            <a:r>
              <a:rPr lang="en-US" sz="6389" b="1" u="none" strike="noStrike">
                <a:solidFill>
                  <a:srgbClr val="0453B9"/>
                </a:solidFill>
                <a:latin typeface="Poppins Bold"/>
                <a:ea typeface="Poppins Bold"/>
                <a:cs typeface="Poppins Bold"/>
                <a:sym typeface="Poppins Bold"/>
              </a:rPr>
              <a:t>Xử lý dữ liệu</a:t>
            </a:r>
          </a:p>
        </p:txBody>
      </p:sp>
      <p:sp>
        <p:nvSpPr>
          <p:cNvPr id="21" name="TextBox 21">
            <a:extLst>
              <a:ext uri="{FF2B5EF4-FFF2-40B4-BE49-F238E27FC236}">
                <a16:creationId xmlns:a16="http://schemas.microsoft.com/office/drawing/2014/main" id="{A26C2B2E-4CC4-CB46-201A-4542F0A436E7}"/>
              </a:ext>
            </a:extLst>
          </p:cNvPr>
          <p:cNvSpPr txBox="1"/>
          <p:nvPr/>
        </p:nvSpPr>
        <p:spPr>
          <a:xfrm>
            <a:off x="481169" y="1923536"/>
            <a:ext cx="12586770" cy="289246"/>
          </a:xfrm>
          <a:prstGeom prst="rect">
            <a:avLst/>
          </a:prstGeom>
        </p:spPr>
        <p:txBody>
          <a:bodyPr wrap="square" lIns="0" tIns="0" rIns="0" bIns="0" rtlCol="0" anchor="t">
            <a:spAutoFit/>
          </a:bodyPr>
          <a:lstStyle/>
          <a:p>
            <a:pPr algn="ctr">
              <a:lnSpc>
                <a:spcPts val="2379"/>
              </a:lnSpc>
              <a:spcBef>
                <a:spcPct val="0"/>
              </a:spcBef>
            </a:pPr>
            <a:r>
              <a:rPr lang="en-US" sz="1699" b="1">
                <a:solidFill>
                  <a:srgbClr val="000000"/>
                </a:solidFill>
                <a:latin typeface="Poppins Bold"/>
                <a:ea typeface="Poppins Bold"/>
                <a:cs typeface="Poppins Bold"/>
                <a:sym typeface="Poppins Bold"/>
              </a:rPr>
              <a:t>2)Tiếp tục mã hóa(Endcoding) các biến dạng text -&gt;số để có thể tính toán trong các mô hình sau này </a:t>
            </a:r>
          </a:p>
        </p:txBody>
      </p:sp>
      <p:sp>
        <p:nvSpPr>
          <p:cNvPr id="22" name="TextBox 22">
            <a:extLst>
              <a:ext uri="{FF2B5EF4-FFF2-40B4-BE49-F238E27FC236}">
                <a16:creationId xmlns:a16="http://schemas.microsoft.com/office/drawing/2014/main" id="{739C9A03-1AD6-AA32-A6B9-C5AD9AB6EBFA}"/>
              </a:ext>
            </a:extLst>
          </p:cNvPr>
          <p:cNvSpPr txBox="1"/>
          <p:nvPr/>
        </p:nvSpPr>
        <p:spPr>
          <a:xfrm>
            <a:off x="1005092" y="5694082"/>
            <a:ext cx="11263108" cy="289246"/>
          </a:xfrm>
          <a:prstGeom prst="rect">
            <a:avLst/>
          </a:prstGeom>
        </p:spPr>
        <p:txBody>
          <a:bodyPr wrap="square" lIns="0" tIns="0" rIns="0" bIns="0" rtlCol="0" anchor="t">
            <a:spAutoFit/>
          </a:bodyPr>
          <a:lstStyle/>
          <a:p>
            <a:pPr algn="ctr">
              <a:lnSpc>
                <a:spcPts val="2379"/>
              </a:lnSpc>
              <a:spcBef>
                <a:spcPct val="0"/>
              </a:spcBef>
            </a:pPr>
            <a:r>
              <a:rPr lang="en-US" sz="1699" b="1">
                <a:solidFill>
                  <a:srgbClr val="000000"/>
                </a:solidFill>
                <a:latin typeface="Poppins Bold"/>
                <a:ea typeface="Poppins Bold"/>
                <a:cs typeface="Poppins Bold"/>
                <a:sym typeface="Poppins Bold"/>
              </a:rPr>
              <a:t>3)Phân chia dữ liệu: Chia tập dữ liệu theo tỷ lệ chuẩn 80% để huấn luyện mô hình và 20% để kiểm thử</a:t>
            </a:r>
          </a:p>
        </p:txBody>
      </p:sp>
      <p:grpSp>
        <p:nvGrpSpPr>
          <p:cNvPr id="25" name="Group 24">
            <a:extLst>
              <a:ext uri="{FF2B5EF4-FFF2-40B4-BE49-F238E27FC236}">
                <a16:creationId xmlns:a16="http://schemas.microsoft.com/office/drawing/2014/main" id="{397D29B1-E56A-7EE7-D723-57FED7F57B98}"/>
              </a:ext>
            </a:extLst>
          </p:cNvPr>
          <p:cNvGrpSpPr/>
          <p:nvPr/>
        </p:nvGrpSpPr>
        <p:grpSpPr>
          <a:xfrm>
            <a:off x="1701221" y="6298294"/>
            <a:ext cx="9406560" cy="2523167"/>
            <a:chOff x="1337640" y="6735133"/>
            <a:chExt cx="9406560" cy="2523167"/>
          </a:xfrm>
        </p:grpSpPr>
        <p:sp>
          <p:nvSpPr>
            <p:cNvPr id="17" name="Freeform 17">
              <a:extLst>
                <a:ext uri="{FF2B5EF4-FFF2-40B4-BE49-F238E27FC236}">
                  <a16:creationId xmlns:a16="http://schemas.microsoft.com/office/drawing/2014/main" id="{3BC63503-3D4C-C555-B790-21FC68417727}"/>
                </a:ext>
              </a:extLst>
            </p:cNvPr>
            <p:cNvSpPr/>
            <p:nvPr/>
          </p:nvSpPr>
          <p:spPr>
            <a:xfrm>
              <a:off x="1337640" y="6735133"/>
              <a:ext cx="9406560" cy="2523167"/>
            </a:xfrm>
            <a:custGeom>
              <a:avLst/>
              <a:gdLst/>
              <a:ahLst/>
              <a:cxnLst/>
              <a:rect l="l" t="t" r="r" b="b"/>
              <a:pathLst>
                <a:path w="7041328" h="3579017">
                  <a:moveTo>
                    <a:pt x="0" y="0"/>
                  </a:moveTo>
                  <a:lnTo>
                    <a:pt x="7041328" y="0"/>
                  </a:lnTo>
                  <a:lnTo>
                    <a:pt x="7041328" y="3579017"/>
                  </a:lnTo>
                  <a:lnTo>
                    <a:pt x="0" y="3579017"/>
                  </a:lnTo>
                  <a:lnTo>
                    <a:pt x="0" y="0"/>
                  </a:lnTo>
                  <a:close/>
                </a:path>
              </a:pathLst>
            </a:custGeom>
            <a:blipFill>
              <a:blip r:embed="rId6"/>
              <a:stretch>
                <a:fillRect/>
              </a:stretch>
            </a:blipFill>
          </p:spPr>
          <p:txBody>
            <a:bodyPr/>
            <a:lstStyle/>
            <a:p>
              <a:endParaRPr lang="en-US"/>
            </a:p>
          </p:txBody>
        </p:sp>
        <p:sp>
          <p:nvSpPr>
            <p:cNvPr id="23" name="TextBox 23">
              <a:extLst>
                <a:ext uri="{FF2B5EF4-FFF2-40B4-BE49-F238E27FC236}">
                  <a16:creationId xmlns:a16="http://schemas.microsoft.com/office/drawing/2014/main" id="{DAF4140F-805A-7886-94EE-0C656219D37F}"/>
                </a:ext>
              </a:extLst>
            </p:cNvPr>
            <p:cNvSpPr txBox="1"/>
            <p:nvPr/>
          </p:nvSpPr>
          <p:spPr>
            <a:xfrm>
              <a:off x="4075476" y="7710709"/>
              <a:ext cx="2093130" cy="767454"/>
            </a:xfrm>
            <a:prstGeom prst="rect">
              <a:avLst/>
            </a:prstGeom>
          </p:spPr>
          <p:txBody>
            <a:bodyPr wrap="square" lIns="0" tIns="0" rIns="0" bIns="0" rtlCol="0" anchor="t">
              <a:spAutoFit/>
            </a:bodyPr>
            <a:lstStyle/>
            <a:p>
              <a:pPr algn="ctr">
                <a:lnSpc>
                  <a:spcPts val="6299"/>
                </a:lnSpc>
                <a:spcBef>
                  <a:spcPct val="0"/>
                </a:spcBef>
              </a:pPr>
              <a:r>
                <a:rPr lang="en-US" sz="4499" b="1">
                  <a:solidFill>
                    <a:srgbClr val="000000"/>
                  </a:solidFill>
                  <a:latin typeface="Poppins Bold"/>
                  <a:ea typeface="Poppins Bold"/>
                  <a:cs typeface="Poppins Bold"/>
                  <a:sym typeface="Poppins Bold"/>
                </a:rPr>
                <a:t>TRAIN</a:t>
              </a:r>
            </a:p>
          </p:txBody>
        </p:sp>
        <p:sp>
          <p:nvSpPr>
            <p:cNvPr id="24" name="TextBox 24">
              <a:extLst>
                <a:ext uri="{FF2B5EF4-FFF2-40B4-BE49-F238E27FC236}">
                  <a16:creationId xmlns:a16="http://schemas.microsoft.com/office/drawing/2014/main" id="{B1C796D4-755B-A496-5919-B4963AF4FB7E}"/>
                </a:ext>
              </a:extLst>
            </p:cNvPr>
            <p:cNvSpPr txBox="1"/>
            <p:nvPr/>
          </p:nvSpPr>
          <p:spPr>
            <a:xfrm>
              <a:off x="8700573" y="8134026"/>
              <a:ext cx="1709699" cy="767454"/>
            </a:xfrm>
            <a:prstGeom prst="rect">
              <a:avLst/>
            </a:prstGeom>
          </p:spPr>
          <p:txBody>
            <a:bodyPr wrap="square" lIns="0" tIns="0" rIns="0" bIns="0" rtlCol="0" anchor="t">
              <a:spAutoFit/>
            </a:bodyPr>
            <a:lstStyle/>
            <a:p>
              <a:pPr algn="ctr">
                <a:lnSpc>
                  <a:spcPts val="6299"/>
                </a:lnSpc>
                <a:spcBef>
                  <a:spcPct val="0"/>
                </a:spcBef>
              </a:pPr>
              <a:r>
                <a:rPr lang="en-US" sz="4499" b="1">
                  <a:solidFill>
                    <a:srgbClr val="000000"/>
                  </a:solidFill>
                  <a:latin typeface="Poppins Bold"/>
                  <a:ea typeface="Poppins Bold"/>
                  <a:cs typeface="Poppins Bold"/>
                  <a:sym typeface="Poppins Bold"/>
                </a:rPr>
                <a:t>TEST</a:t>
              </a:r>
            </a:p>
          </p:txBody>
        </p:sp>
      </p:grpSp>
      <p:sp>
        <p:nvSpPr>
          <p:cNvPr id="26" name="Slide Number Placeholder 25">
            <a:extLst>
              <a:ext uri="{FF2B5EF4-FFF2-40B4-BE49-F238E27FC236}">
                <a16:creationId xmlns:a16="http://schemas.microsoft.com/office/drawing/2014/main" id="{7851DD42-4CC2-5845-A96A-3D67E0B9CDCB}"/>
              </a:ext>
            </a:extLst>
          </p:cNvPr>
          <p:cNvSpPr>
            <a:spLocks noGrp="1"/>
          </p:cNvSpPr>
          <p:nvPr>
            <p:ph type="sldNum" sz="quarter" idx="12"/>
          </p:nvPr>
        </p:nvSpPr>
        <p:spPr/>
        <p:txBody>
          <a:bodyPr/>
          <a:lstStyle/>
          <a:p>
            <a:fld id="{B6F15528-21DE-4FAA-801E-634DDDAF4B2B}" type="slidenum">
              <a:rPr lang="en-US" smtClean="0"/>
              <a:pPr/>
              <a:t>5</a:t>
            </a:fld>
            <a:endParaRPr lang="en-US"/>
          </a:p>
        </p:txBody>
      </p:sp>
    </p:spTree>
    <p:extLst>
      <p:ext uri="{BB962C8B-B14F-4D97-AF65-F5344CB8AC3E}">
        <p14:creationId xmlns:p14="http://schemas.microsoft.com/office/powerpoint/2010/main" val="2727188169"/>
      </p:ext>
    </p:extLst>
  </p:cSld>
  <p:clrMapOvr>
    <a:masterClrMapping/>
  </p:clrMapOvr>
  <p:transition spd="med">
    <p:pull/>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5400000">
            <a:off x="2757622" y="-3817500"/>
            <a:ext cx="1672047" cy="8889313"/>
            <a:chOff x="0" y="0"/>
            <a:chExt cx="593374" cy="2377997"/>
          </a:xfrm>
        </p:grpSpPr>
        <p:sp>
          <p:nvSpPr>
            <p:cNvPr id="3" name="Freeform 3"/>
            <p:cNvSpPr/>
            <p:nvPr/>
          </p:nvSpPr>
          <p:spPr>
            <a:xfrm>
              <a:off x="0" y="0"/>
              <a:ext cx="593374" cy="2377997"/>
            </a:xfrm>
            <a:custGeom>
              <a:avLst/>
              <a:gdLst/>
              <a:ahLst/>
              <a:cxnLst/>
              <a:rect l="l" t="t" r="r" b="b"/>
              <a:pathLst>
                <a:path w="593374" h="2377997">
                  <a:moveTo>
                    <a:pt x="296687" y="0"/>
                  </a:moveTo>
                  <a:lnTo>
                    <a:pt x="296687" y="0"/>
                  </a:lnTo>
                  <a:cubicBezTo>
                    <a:pt x="375373" y="0"/>
                    <a:pt x="450837" y="31258"/>
                    <a:pt x="506476" y="86898"/>
                  </a:cubicBezTo>
                  <a:cubicBezTo>
                    <a:pt x="562116" y="142537"/>
                    <a:pt x="593374" y="218001"/>
                    <a:pt x="593374" y="296687"/>
                  </a:cubicBezTo>
                  <a:lnTo>
                    <a:pt x="593374" y="2081310"/>
                  </a:lnTo>
                  <a:cubicBezTo>
                    <a:pt x="593374" y="2159997"/>
                    <a:pt x="562116" y="2235460"/>
                    <a:pt x="506476" y="2291100"/>
                  </a:cubicBezTo>
                  <a:cubicBezTo>
                    <a:pt x="450837" y="2346740"/>
                    <a:pt x="375373" y="2377997"/>
                    <a:pt x="296687" y="2377997"/>
                  </a:cubicBezTo>
                  <a:lnTo>
                    <a:pt x="296687" y="2377997"/>
                  </a:lnTo>
                  <a:cubicBezTo>
                    <a:pt x="218001" y="2377997"/>
                    <a:pt x="142537" y="2346740"/>
                    <a:pt x="86898" y="2291100"/>
                  </a:cubicBezTo>
                  <a:cubicBezTo>
                    <a:pt x="31258" y="2235460"/>
                    <a:pt x="0" y="2159997"/>
                    <a:pt x="0" y="2081310"/>
                  </a:cubicBezTo>
                  <a:lnTo>
                    <a:pt x="0" y="296687"/>
                  </a:lnTo>
                  <a:cubicBezTo>
                    <a:pt x="0" y="218001"/>
                    <a:pt x="31258" y="142537"/>
                    <a:pt x="86898" y="86898"/>
                  </a:cubicBezTo>
                  <a:cubicBezTo>
                    <a:pt x="142537" y="31258"/>
                    <a:pt x="218001" y="0"/>
                    <a:pt x="296687" y="0"/>
                  </a:cubicBezTo>
                  <a:close/>
                </a:path>
              </a:pathLst>
            </a:custGeom>
            <a:gradFill rotWithShape="1">
              <a:gsLst>
                <a:gs pos="0">
                  <a:srgbClr val="398DFA">
                    <a:alpha val="50000"/>
                  </a:srgbClr>
                </a:gs>
                <a:gs pos="50000">
                  <a:srgbClr val="0151B8">
                    <a:alpha val="12000"/>
                  </a:srgbClr>
                </a:gs>
                <a:gs pos="100000">
                  <a:srgbClr val="0151B8">
                    <a:alpha val="0"/>
                  </a:srgbClr>
                </a:gs>
              </a:gsLst>
              <a:lin ang="0"/>
            </a:gradFill>
          </p:spPr>
          <p:txBody>
            <a:bodyPr/>
            <a:lstStyle/>
            <a:p>
              <a:endParaRPr lang="en-US"/>
            </a:p>
          </p:txBody>
        </p:sp>
        <p:sp>
          <p:nvSpPr>
            <p:cNvPr id="4" name="TextBox 4"/>
            <p:cNvSpPr txBox="1"/>
            <p:nvPr/>
          </p:nvSpPr>
          <p:spPr>
            <a:xfrm>
              <a:off x="0" y="-38100"/>
              <a:ext cx="593374" cy="241609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p:cNvSpPr/>
          <p:nvPr/>
        </p:nvSpPr>
        <p:spPr>
          <a:xfrm>
            <a:off x="9268825" y="364303"/>
            <a:ext cx="1233326" cy="664397"/>
          </a:xfrm>
          <a:custGeom>
            <a:avLst/>
            <a:gdLst/>
            <a:ahLst/>
            <a:cxnLst/>
            <a:rect l="l" t="t" r="r" b="b"/>
            <a:pathLst>
              <a:path w="1233326" h="664397">
                <a:moveTo>
                  <a:pt x="0" y="0"/>
                </a:moveTo>
                <a:lnTo>
                  <a:pt x="1233326" y="0"/>
                </a:lnTo>
                <a:lnTo>
                  <a:pt x="1233326" y="664397"/>
                </a:lnTo>
                <a:lnTo>
                  <a:pt x="0" y="664397"/>
                </a:lnTo>
                <a:lnTo>
                  <a:pt x="0" y="0"/>
                </a:lnTo>
                <a:close/>
              </a:path>
            </a:pathLst>
          </a:custGeom>
          <a:blipFill>
            <a:blip>
              <a:extLst>
                <a:ext uri="{96DAC541-7B7A-43D3-8B79-37D633B846F1}">
                  <asvg:svgBlip xmlns:asvg="http://schemas.microsoft.com/office/drawing/2016/SVG/main" r:embed="rId3"/>
                </a:ext>
              </a:extLst>
            </a:blip>
            <a:stretch>
              <a:fillRect b="-85630"/>
            </a:stretch>
          </a:blipFill>
        </p:spPr>
        <p:txBody>
          <a:bodyPr/>
          <a:lstStyle/>
          <a:p>
            <a:endParaRPr lang="en-US"/>
          </a:p>
        </p:txBody>
      </p:sp>
      <p:grpSp>
        <p:nvGrpSpPr>
          <p:cNvPr id="6" name="Group 6"/>
          <p:cNvGrpSpPr/>
          <p:nvPr/>
        </p:nvGrpSpPr>
        <p:grpSpPr>
          <a:xfrm>
            <a:off x="8006739" y="2691667"/>
            <a:ext cx="336668" cy="336668"/>
            <a:chOff x="0" y="0"/>
            <a:chExt cx="812800" cy="812800"/>
          </a:xfrm>
        </p:grpSpPr>
        <p:sp>
          <p:nvSpPr>
            <p:cNvPr id="7" name="Freeform 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8" name="TextBox 8"/>
            <p:cNvSpPr txBox="1"/>
            <p:nvPr/>
          </p:nvSpPr>
          <p:spPr>
            <a:xfrm>
              <a:off x="76200" y="19050"/>
              <a:ext cx="660400" cy="717550"/>
            </a:xfrm>
            <a:prstGeom prst="rect">
              <a:avLst/>
            </a:prstGeom>
          </p:spPr>
          <p:txBody>
            <a:bodyPr lIns="23649" tIns="23649" rIns="23649" bIns="23649" rtlCol="0" anchor="ctr"/>
            <a:lstStyle/>
            <a:p>
              <a:pPr algn="ctr">
                <a:lnSpc>
                  <a:spcPts val="2735"/>
                </a:lnSpc>
              </a:pPr>
              <a:endParaRPr/>
            </a:p>
          </p:txBody>
        </p:sp>
      </p:grpSp>
      <p:grpSp>
        <p:nvGrpSpPr>
          <p:cNvPr id="9" name="Group 9"/>
          <p:cNvGrpSpPr/>
          <p:nvPr/>
        </p:nvGrpSpPr>
        <p:grpSpPr>
          <a:xfrm>
            <a:off x="204787" y="2164262"/>
            <a:ext cx="4802842" cy="400237"/>
            <a:chOff x="0" y="0"/>
            <a:chExt cx="6096000" cy="508000"/>
          </a:xfrm>
        </p:grpSpPr>
        <p:sp>
          <p:nvSpPr>
            <p:cNvPr id="10" name="Freeform 10"/>
            <p:cNvSpPr/>
            <p:nvPr/>
          </p:nvSpPr>
          <p:spPr>
            <a:xfrm>
              <a:off x="0" y="0"/>
              <a:ext cx="6096000" cy="508000"/>
            </a:xfrm>
            <a:custGeom>
              <a:avLst/>
              <a:gdLst/>
              <a:ahLst/>
              <a:cxnLst/>
              <a:rect l="l" t="t" r="r" b="b"/>
              <a:pathLst>
                <a:path w="6096000" h="508000">
                  <a:moveTo>
                    <a:pt x="0" y="0"/>
                  </a:moveTo>
                  <a:lnTo>
                    <a:pt x="6096000" y="0"/>
                  </a:lnTo>
                  <a:lnTo>
                    <a:pt x="6096000" y="508000"/>
                  </a:lnTo>
                  <a:lnTo>
                    <a:pt x="0" y="508000"/>
                  </a:lnTo>
                  <a:close/>
                </a:path>
              </a:pathLst>
            </a:custGeom>
            <a:solidFill>
              <a:srgbClr val="E8F4FD"/>
            </a:solidFill>
            <a:ln w="19050" cap="sq">
              <a:solidFill>
                <a:srgbClr val="0151B8"/>
              </a:solidFill>
              <a:prstDash val="solid"/>
              <a:miter/>
            </a:ln>
          </p:spPr>
          <p:txBody>
            <a:bodyPr/>
            <a:lstStyle/>
            <a:p>
              <a:endParaRPr lang="en-US"/>
            </a:p>
          </p:txBody>
        </p:sp>
        <p:sp>
          <p:nvSpPr>
            <p:cNvPr id="11" name="TextBox 11"/>
            <p:cNvSpPr txBox="1"/>
            <p:nvPr/>
          </p:nvSpPr>
          <p:spPr>
            <a:xfrm>
              <a:off x="0" y="-57150"/>
              <a:ext cx="6096000" cy="565150"/>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151B8"/>
                  </a:solidFill>
                  <a:latin typeface="Poppins"/>
                  <a:ea typeface="Poppins"/>
                  <a:cs typeface="Poppins"/>
                  <a:sym typeface="Poppins"/>
                </a:rPr>
                <a:t>Age</a:t>
              </a:r>
            </a:p>
          </p:txBody>
        </p:sp>
      </p:grpSp>
      <p:grpSp>
        <p:nvGrpSpPr>
          <p:cNvPr id="12" name="Group 12"/>
          <p:cNvGrpSpPr/>
          <p:nvPr/>
        </p:nvGrpSpPr>
        <p:grpSpPr>
          <a:xfrm>
            <a:off x="204787" y="2564499"/>
            <a:ext cx="1600947" cy="360213"/>
            <a:chOff x="0" y="0"/>
            <a:chExt cx="2032000" cy="457200"/>
          </a:xfrm>
        </p:grpSpPr>
        <p:sp>
          <p:nvSpPr>
            <p:cNvPr id="13" name="Freeform 13"/>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14" name="TextBox 14"/>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Mean = 23.84</a:t>
              </a:r>
            </a:p>
          </p:txBody>
        </p:sp>
      </p:grpSp>
      <p:grpSp>
        <p:nvGrpSpPr>
          <p:cNvPr id="15" name="Group 15"/>
          <p:cNvGrpSpPr/>
          <p:nvPr/>
        </p:nvGrpSpPr>
        <p:grpSpPr>
          <a:xfrm>
            <a:off x="1805735" y="2564499"/>
            <a:ext cx="1600947" cy="360213"/>
            <a:chOff x="0" y="0"/>
            <a:chExt cx="2032000" cy="457200"/>
          </a:xfrm>
        </p:grpSpPr>
        <p:sp>
          <p:nvSpPr>
            <p:cNvPr id="16" name="Freeform 16"/>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17" name="TextBox 17"/>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Max = 61</a:t>
              </a:r>
            </a:p>
          </p:txBody>
        </p:sp>
      </p:grpSp>
      <p:grpSp>
        <p:nvGrpSpPr>
          <p:cNvPr id="18" name="Group 18"/>
          <p:cNvGrpSpPr/>
          <p:nvPr/>
        </p:nvGrpSpPr>
        <p:grpSpPr>
          <a:xfrm>
            <a:off x="3406682" y="2564499"/>
            <a:ext cx="1600947" cy="360213"/>
            <a:chOff x="0" y="0"/>
            <a:chExt cx="2032000" cy="457200"/>
          </a:xfrm>
        </p:grpSpPr>
        <p:sp>
          <p:nvSpPr>
            <p:cNvPr id="19" name="Freeform 19"/>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20" name="TextBox 20"/>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Min = 14</a:t>
              </a:r>
            </a:p>
          </p:txBody>
        </p:sp>
      </p:grpSp>
      <p:grpSp>
        <p:nvGrpSpPr>
          <p:cNvPr id="21" name="Group 21"/>
          <p:cNvGrpSpPr/>
          <p:nvPr/>
        </p:nvGrpSpPr>
        <p:grpSpPr>
          <a:xfrm>
            <a:off x="13274621" y="2184274"/>
            <a:ext cx="4802842" cy="400237"/>
            <a:chOff x="0" y="0"/>
            <a:chExt cx="6096000" cy="508000"/>
          </a:xfrm>
        </p:grpSpPr>
        <p:sp>
          <p:nvSpPr>
            <p:cNvPr id="22" name="Freeform 22"/>
            <p:cNvSpPr/>
            <p:nvPr/>
          </p:nvSpPr>
          <p:spPr>
            <a:xfrm>
              <a:off x="0" y="0"/>
              <a:ext cx="6096000" cy="508000"/>
            </a:xfrm>
            <a:custGeom>
              <a:avLst/>
              <a:gdLst/>
              <a:ahLst/>
              <a:cxnLst/>
              <a:rect l="l" t="t" r="r" b="b"/>
              <a:pathLst>
                <a:path w="6096000" h="508000">
                  <a:moveTo>
                    <a:pt x="0" y="0"/>
                  </a:moveTo>
                  <a:lnTo>
                    <a:pt x="6096000" y="0"/>
                  </a:lnTo>
                  <a:lnTo>
                    <a:pt x="6096000" y="508000"/>
                  </a:lnTo>
                  <a:lnTo>
                    <a:pt x="0" y="508000"/>
                  </a:lnTo>
                  <a:close/>
                </a:path>
              </a:pathLst>
            </a:custGeom>
            <a:solidFill>
              <a:srgbClr val="E8F4FD"/>
            </a:solidFill>
            <a:ln w="19050" cap="sq">
              <a:solidFill>
                <a:srgbClr val="0151B8"/>
              </a:solidFill>
              <a:prstDash val="solid"/>
              <a:miter/>
            </a:ln>
          </p:spPr>
          <p:txBody>
            <a:bodyPr/>
            <a:lstStyle/>
            <a:p>
              <a:endParaRPr lang="en-US"/>
            </a:p>
          </p:txBody>
        </p:sp>
        <p:sp>
          <p:nvSpPr>
            <p:cNvPr id="23" name="TextBox 23"/>
            <p:cNvSpPr txBox="1"/>
            <p:nvPr/>
          </p:nvSpPr>
          <p:spPr>
            <a:xfrm>
              <a:off x="0" y="-57150"/>
              <a:ext cx="6096000" cy="565150"/>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151B8"/>
                  </a:solidFill>
                  <a:latin typeface="Poppins"/>
                  <a:ea typeface="Poppins"/>
                  <a:cs typeface="Poppins"/>
                  <a:sym typeface="Poppins"/>
                </a:rPr>
                <a:t>Height</a:t>
              </a:r>
            </a:p>
          </p:txBody>
        </p:sp>
      </p:grpSp>
      <p:grpSp>
        <p:nvGrpSpPr>
          <p:cNvPr id="24" name="Group 24"/>
          <p:cNvGrpSpPr/>
          <p:nvPr/>
        </p:nvGrpSpPr>
        <p:grpSpPr>
          <a:xfrm>
            <a:off x="13274621" y="2584511"/>
            <a:ext cx="1600947" cy="360213"/>
            <a:chOff x="0" y="0"/>
            <a:chExt cx="2032000" cy="457200"/>
          </a:xfrm>
        </p:grpSpPr>
        <p:sp>
          <p:nvSpPr>
            <p:cNvPr id="25" name="Freeform 25"/>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26" name="TextBox 26"/>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Mean = 1.00</a:t>
              </a:r>
            </a:p>
          </p:txBody>
        </p:sp>
      </p:grpSp>
      <p:grpSp>
        <p:nvGrpSpPr>
          <p:cNvPr id="27" name="Group 27"/>
          <p:cNvGrpSpPr/>
          <p:nvPr/>
        </p:nvGrpSpPr>
        <p:grpSpPr>
          <a:xfrm>
            <a:off x="14875569" y="2584511"/>
            <a:ext cx="1600947" cy="360213"/>
            <a:chOff x="0" y="0"/>
            <a:chExt cx="2032000" cy="457200"/>
          </a:xfrm>
        </p:grpSpPr>
        <p:sp>
          <p:nvSpPr>
            <p:cNvPr id="28" name="Freeform 28"/>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29" name="TextBox 29"/>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Max = 1.98</a:t>
              </a:r>
            </a:p>
          </p:txBody>
        </p:sp>
      </p:grpSp>
      <p:grpSp>
        <p:nvGrpSpPr>
          <p:cNvPr id="30" name="Group 30"/>
          <p:cNvGrpSpPr/>
          <p:nvPr/>
        </p:nvGrpSpPr>
        <p:grpSpPr>
          <a:xfrm>
            <a:off x="16476516" y="2584511"/>
            <a:ext cx="1600947" cy="360213"/>
            <a:chOff x="0" y="0"/>
            <a:chExt cx="2032000" cy="457200"/>
          </a:xfrm>
        </p:grpSpPr>
        <p:sp>
          <p:nvSpPr>
            <p:cNvPr id="31" name="Freeform 31"/>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32" name="TextBox 32"/>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Min = 1.45</a:t>
              </a:r>
            </a:p>
          </p:txBody>
        </p:sp>
      </p:grpSp>
      <p:grpSp>
        <p:nvGrpSpPr>
          <p:cNvPr id="33" name="Group 33"/>
          <p:cNvGrpSpPr/>
          <p:nvPr/>
        </p:nvGrpSpPr>
        <p:grpSpPr>
          <a:xfrm>
            <a:off x="6870832" y="2184274"/>
            <a:ext cx="4802842" cy="400237"/>
            <a:chOff x="0" y="0"/>
            <a:chExt cx="6096000" cy="508000"/>
          </a:xfrm>
        </p:grpSpPr>
        <p:sp>
          <p:nvSpPr>
            <p:cNvPr id="34" name="Freeform 34"/>
            <p:cNvSpPr/>
            <p:nvPr/>
          </p:nvSpPr>
          <p:spPr>
            <a:xfrm>
              <a:off x="0" y="0"/>
              <a:ext cx="6096000" cy="508000"/>
            </a:xfrm>
            <a:custGeom>
              <a:avLst/>
              <a:gdLst/>
              <a:ahLst/>
              <a:cxnLst/>
              <a:rect l="l" t="t" r="r" b="b"/>
              <a:pathLst>
                <a:path w="6096000" h="508000">
                  <a:moveTo>
                    <a:pt x="0" y="0"/>
                  </a:moveTo>
                  <a:lnTo>
                    <a:pt x="6096000" y="0"/>
                  </a:lnTo>
                  <a:lnTo>
                    <a:pt x="6096000" y="508000"/>
                  </a:lnTo>
                  <a:lnTo>
                    <a:pt x="0" y="508000"/>
                  </a:lnTo>
                  <a:close/>
                </a:path>
              </a:pathLst>
            </a:custGeom>
            <a:solidFill>
              <a:srgbClr val="E8F4FD"/>
            </a:solidFill>
            <a:ln w="19050" cap="sq">
              <a:solidFill>
                <a:srgbClr val="0151B8"/>
              </a:solidFill>
              <a:prstDash val="solid"/>
              <a:miter/>
            </a:ln>
          </p:spPr>
          <p:txBody>
            <a:bodyPr/>
            <a:lstStyle/>
            <a:p>
              <a:endParaRPr lang="en-US"/>
            </a:p>
          </p:txBody>
        </p:sp>
        <p:sp>
          <p:nvSpPr>
            <p:cNvPr id="35" name="TextBox 35"/>
            <p:cNvSpPr txBox="1"/>
            <p:nvPr/>
          </p:nvSpPr>
          <p:spPr>
            <a:xfrm>
              <a:off x="0" y="-57150"/>
              <a:ext cx="6096000" cy="565150"/>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151B8"/>
                  </a:solidFill>
                  <a:latin typeface="Poppins"/>
                  <a:ea typeface="Poppins"/>
                  <a:cs typeface="Poppins"/>
                  <a:sym typeface="Poppins"/>
                </a:rPr>
                <a:t>Weight</a:t>
              </a:r>
            </a:p>
          </p:txBody>
        </p:sp>
      </p:grpSp>
      <p:grpSp>
        <p:nvGrpSpPr>
          <p:cNvPr id="36" name="Group 36"/>
          <p:cNvGrpSpPr/>
          <p:nvPr/>
        </p:nvGrpSpPr>
        <p:grpSpPr>
          <a:xfrm>
            <a:off x="6870832" y="2584511"/>
            <a:ext cx="1600947" cy="360213"/>
            <a:chOff x="0" y="0"/>
            <a:chExt cx="2032000" cy="457200"/>
          </a:xfrm>
        </p:grpSpPr>
        <p:sp>
          <p:nvSpPr>
            <p:cNvPr id="37" name="Freeform 37"/>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38" name="TextBox 38"/>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Mean = 87.89</a:t>
              </a:r>
            </a:p>
          </p:txBody>
        </p:sp>
      </p:grpSp>
      <p:grpSp>
        <p:nvGrpSpPr>
          <p:cNvPr id="39" name="Group 39"/>
          <p:cNvGrpSpPr/>
          <p:nvPr/>
        </p:nvGrpSpPr>
        <p:grpSpPr>
          <a:xfrm>
            <a:off x="8471780" y="2584511"/>
            <a:ext cx="1600947" cy="360213"/>
            <a:chOff x="0" y="0"/>
            <a:chExt cx="2032000" cy="457200"/>
          </a:xfrm>
        </p:grpSpPr>
        <p:sp>
          <p:nvSpPr>
            <p:cNvPr id="40" name="Freeform 40"/>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41" name="TextBox 41"/>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Max = 165.06</a:t>
              </a:r>
            </a:p>
          </p:txBody>
        </p:sp>
      </p:grpSp>
      <p:grpSp>
        <p:nvGrpSpPr>
          <p:cNvPr id="42" name="Group 42"/>
          <p:cNvGrpSpPr/>
          <p:nvPr/>
        </p:nvGrpSpPr>
        <p:grpSpPr>
          <a:xfrm>
            <a:off x="10072727" y="2584511"/>
            <a:ext cx="1600947" cy="360213"/>
            <a:chOff x="0" y="0"/>
            <a:chExt cx="2032000" cy="457200"/>
          </a:xfrm>
        </p:grpSpPr>
        <p:sp>
          <p:nvSpPr>
            <p:cNvPr id="43" name="Freeform 43"/>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44" name="TextBox 44"/>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Min = 39.0</a:t>
              </a:r>
            </a:p>
          </p:txBody>
        </p:sp>
      </p:grpSp>
      <p:sp>
        <p:nvSpPr>
          <p:cNvPr id="45" name="Freeform 45"/>
          <p:cNvSpPr/>
          <p:nvPr/>
        </p:nvSpPr>
        <p:spPr>
          <a:xfrm>
            <a:off x="9885488" y="3663638"/>
            <a:ext cx="8402512" cy="4837122"/>
          </a:xfrm>
          <a:custGeom>
            <a:avLst/>
            <a:gdLst/>
            <a:ahLst/>
            <a:cxnLst/>
            <a:rect l="l" t="t" r="r" b="b"/>
            <a:pathLst>
              <a:path w="8402512" h="4837122">
                <a:moveTo>
                  <a:pt x="0" y="0"/>
                </a:moveTo>
                <a:lnTo>
                  <a:pt x="8402512" y="0"/>
                </a:lnTo>
                <a:lnTo>
                  <a:pt x="8402512" y="4837121"/>
                </a:lnTo>
                <a:lnTo>
                  <a:pt x="0" y="4837121"/>
                </a:lnTo>
                <a:lnTo>
                  <a:pt x="0" y="0"/>
                </a:lnTo>
                <a:close/>
              </a:path>
            </a:pathLst>
          </a:custGeom>
          <a:blipFill>
            <a:blip r:embed="rId4"/>
            <a:stretch>
              <a:fillRect/>
            </a:stretch>
          </a:blipFill>
        </p:spPr>
        <p:txBody>
          <a:bodyPr/>
          <a:lstStyle/>
          <a:p>
            <a:endParaRPr lang="en-US"/>
          </a:p>
        </p:txBody>
      </p:sp>
      <p:sp>
        <p:nvSpPr>
          <p:cNvPr id="46" name="Freeform 46"/>
          <p:cNvSpPr/>
          <p:nvPr/>
        </p:nvSpPr>
        <p:spPr>
          <a:xfrm>
            <a:off x="332775" y="7011678"/>
            <a:ext cx="4053511" cy="3368797"/>
          </a:xfrm>
          <a:custGeom>
            <a:avLst/>
            <a:gdLst/>
            <a:ahLst/>
            <a:cxnLst/>
            <a:rect l="l" t="t" r="r" b="b"/>
            <a:pathLst>
              <a:path w="4053511" h="3368797">
                <a:moveTo>
                  <a:pt x="0" y="0"/>
                </a:moveTo>
                <a:lnTo>
                  <a:pt x="4053512" y="0"/>
                </a:lnTo>
                <a:lnTo>
                  <a:pt x="4053512" y="3368797"/>
                </a:lnTo>
                <a:lnTo>
                  <a:pt x="0" y="3368797"/>
                </a:lnTo>
                <a:lnTo>
                  <a:pt x="0" y="0"/>
                </a:lnTo>
                <a:close/>
              </a:path>
            </a:pathLst>
          </a:custGeom>
          <a:blipFill>
            <a:blip r:embed="rId5"/>
            <a:stretch>
              <a:fillRect/>
            </a:stretch>
          </a:blipFill>
        </p:spPr>
        <p:txBody>
          <a:bodyPr/>
          <a:lstStyle/>
          <a:p>
            <a:endParaRPr lang="en-US"/>
          </a:p>
        </p:txBody>
      </p:sp>
      <p:sp>
        <p:nvSpPr>
          <p:cNvPr id="48" name="AutoShape 48"/>
          <p:cNvSpPr/>
          <p:nvPr/>
        </p:nvSpPr>
        <p:spPr>
          <a:xfrm flipH="1">
            <a:off x="4934947" y="3145865"/>
            <a:ext cx="72682" cy="7537347"/>
          </a:xfrm>
          <a:prstGeom prst="line">
            <a:avLst/>
          </a:prstGeom>
          <a:ln w="19050" cap="rnd">
            <a:solidFill>
              <a:srgbClr val="0151B8"/>
            </a:solidFill>
            <a:prstDash val="solid"/>
            <a:headEnd type="none" w="sm" len="sm"/>
            <a:tailEnd type="none" w="sm" len="sm"/>
          </a:ln>
        </p:spPr>
        <p:txBody>
          <a:bodyPr/>
          <a:lstStyle/>
          <a:p>
            <a:endParaRPr lang="en-US"/>
          </a:p>
        </p:txBody>
      </p:sp>
      <p:sp>
        <p:nvSpPr>
          <p:cNvPr id="49" name="AutoShape 49"/>
          <p:cNvSpPr/>
          <p:nvPr/>
        </p:nvSpPr>
        <p:spPr>
          <a:xfrm>
            <a:off x="9885488" y="3145865"/>
            <a:ext cx="0" cy="7141101"/>
          </a:xfrm>
          <a:prstGeom prst="line">
            <a:avLst/>
          </a:prstGeom>
          <a:ln w="19050" cap="rnd">
            <a:solidFill>
              <a:srgbClr val="0151B8"/>
            </a:solidFill>
            <a:prstDash val="solid"/>
            <a:headEnd type="none" w="sm" len="sm"/>
            <a:tailEnd type="none" w="sm" len="sm"/>
          </a:ln>
        </p:spPr>
        <p:txBody>
          <a:bodyPr/>
          <a:lstStyle/>
          <a:p>
            <a:endParaRPr lang="en-US"/>
          </a:p>
        </p:txBody>
      </p:sp>
      <p:sp>
        <p:nvSpPr>
          <p:cNvPr id="50" name="AutoShape 50"/>
          <p:cNvSpPr/>
          <p:nvPr/>
        </p:nvSpPr>
        <p:spPr>
          <a:xfrm>
            <a:off x="204788" y="3145865"/>
            <a:ext cx="17878425" cy="0"/>
          </a:xfrm>
          <a:prstGeom prst="line">
            <a:avLst/>
          </a:prstGeom>
          <a:ln w="19050" cap="rnd">
            <a:solidFill>
              <a:srgbClr val="0151B8"/>
            </a:solidFill>
            <a:prstDash val="solid"/>
            <a:headEnd type="none" w="sm" len="sm"/>
            <a:tailEnd type="none" w="sm" len="sm"/>
          </a:ln>
        </p:spPr>
        <p:txBody>
          <a:bodyPr/>
          <a:lstStyle/>
          <a:p>
            <a:endParaRPr lang="en-US"/>
          </a:p>
        </p:txBody>
      </p:sp>
      <p:sp>
        <p:nvSpPr>
          <p:cNvPr id="52" name="TextBox 52"/>
          <p:cNvSpPr txBox="1"/>
          <p:nvPr/>
        </p:nvSpPr>
        <p:spPr>
          <a:xfrm>
            <a:off x="7143750" y="1600200"/>
            <a:ext cx="4010025" cy="368300"/>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3131"/>
                </a:solidFill>
                <a:latin typeface="Poppins"/>
                <a:ea typeface="Poppins"/>
                <a:cs typeface="Poppins"/>
                <a:sym typeface="Poppins"/>
              </a:rPr>
              <a:t>CƠ ĐỊA</a:t>
            </a:r>
          </a:p>
        </p:txBody>
      </p:sp>
      <p:sp>
        <p:nvSpPr>
          <p:cNvPr id="53" name="TextBox 53"/>
          <p:cNvSpPr txBox="1"/>
          <p:nvPr/>
        </p:nvSpPr>
        <p:spPr>
          <a:xfrm>
            <a:off x="365429" y="216539"/>
            <a:ext cx="8397571" cy="740780"/>
          </a:xfrm>
          <a:prstGeom prst="rect">
            <a:avLst/>
          </a:prstGeom>
        </p:spPr>
        <p:txBody>
          <a:bodyPr wrap="square" lIns="0" tIns="0" rIns="0" bIns="0" rtlCol="0" anchor="t">
            <a:spAutoFit/>
          </a:bodyPr>
          <a:lstStyle/>
          <a:p>
            <a:pPr marL="0" lvl="0" indent="0" algn="l">
              <a:lnSpc>
                <a:spcPts val="6201"/>
              </a:lnSpc>
              <a:spcBef>
                <a:spcPct val="0"/>
              </a:spcBef>
            </a:pPr>
            <a:r>
              <a:rPr lang="en-US" sz="4200" b="1" u="none" strike="noStrike">
                <a:solidFill>
                  <a:srgbClr val="000000"/>
                </a:solidFill>
                <a:latin typeface="Poppins Bold"/>
                <a:ea typeface="Poppins Bold"/>
                <a:cs typeface="Poppins Bold"/>
                <a:sym typeface="Poppins Bold"/>
              </a:rPr>
              <a:t>EDA 1 - Tổng quan dữ liệu</a:t>
            </a:r>
          </a:p>
        </p:txBody>
      </p:sp>
      <p:grpSp>
        <p:nvGrpSpPr>
          <p:cNvPr id="58" name="Group 57">
            <a:extLst>
              <a:ext uri="{FF2B5EF4-FFF2-40B4-BE49-F238E27FC236}">
                <a16:creationId xmlns:a16="http://schemas.microsoft.com/office/drawing/2014/main" id="{B87BB068-86F3-68E5-2B26-84B0DDCD4FDC}"/>
              </a:ext>
            </a:extLst>
          </p:cNvPr>
          <p:cNvGrpSpPr/>
          <p:nvPr/>
        </p:nvGrpSpPr>
        <p:grpSpPr>
          <a:xfrm>
            <a:off x="596287" y="3145865"/>
            <a:ext cx="3563065" cy="3904769"/>
            <a:chOff x="596287" y="3145865"/>
            <a:chExt cx="3563065" cy="3904769"/>
          </a:xfrm>
        </p:grpSpPr>
        <p:sp>
          <p:nvSpPr>
            <p:cNvPr id="51" name="Freeform 51"/>
            <p:cNvSpPr/>
            <p:nvPr/>
          </p:nvSpPr>
          <p:spPr>
            <a:xfrm>
              <a:off x="596287" y="3546625"/>
              <a:ext cx="3563065" cy="3504009"/>
            </a:xfrm>
            <a:custGeom>
              <a:avLst/>
              <a:gdLst/>
              <a:ahLst/>
              <a:cxnLst/>
              <a:rect l="l" t="t" r="r" b="b"/>
              <a:pathLst>
                <a:path w="3563065" h="3504009">
                  <a:moveTo>
                    <a:pt x="0" y="0"/>
                  </a:moveTo>
                  <a:lnTo>
                    <a:pt x="3563066" y="0"/>
                  </a:lnTo>
                  <a:lnTo>
                    <a:pt x="3563066" y="3504009"/>
                  </a:lnTo>
                  <a:lnTo>
                    <a:pt x="0" y="3504009"/>
                  </a:lnTo>
                  <a:lnTo>
                    <a:pt x="0" y="0"/>
                  </a:lnTo>
                  <a:close/>
                </a:path>
              </a:pathLst>
            </a:custGeom>
            <a:blipFill>
              <a:blip r:embed="rId6"/>
              <a:stretch>
                <a:fillRect/>
              </a:stretch>
            </a:blipFill>
          </p:spPr>
          <p:txBody>
            <a:bodyPr/>
            <a:lstStyle/>
            <a:p>
              <a:endParaRPr lang="en-US"/>
            </a:p>
          </p:txBody>
        </p:sp>
        <p:sp>
          <p:nvSpPr>
            <p:cNvPr id="54" name="TextBox 54"/>
            <p:cNvSpPr txBox="1"/>
            <p:nvPr/>
          </p:nvSpPr>
          <p:spPr>
            <a:xfrm>
              <a:off x="928703" y="3145865"/>
              <a:ext cx="3214146" cy="350423"/>
            </a:xfrm>
            <a:prstGeom prst="rect">
              <a:avLst/>
            </a:prstGeom>
          </p:spPr>
          <p:txBody>
            <a:bodyPr lIns="0" tIns="0" rIns="0" bIns="0" rtlCol="0" anchor="t">
              <a:spAutoFit/>
            </a:bodyPr>
            <a:lstStyle/>
            <a:p>
              <a:pPr algn="ctr">
                <a:lnSpc>
                  <a:spcPts val="2735"/>
                </a:lnSpc>
                <a:spcBef>
                  <a:spcPct val="0"/>
                </a:spcBef>
              </a:pPr>
              <a:r>
                <a:rPr lang="en-US" sz="1953">
                  <a:solidFill>
                    <a:srgbClr val="FF3131"/>
                  </a:solidFill>
                  <a:latin typeface="Poppins"/>
                  <a:ea typeface="Poppins"/>
                  <a:cs typeface="Poppins"/>
                  <a:sym typeface="Poppins"/>
                </a:rPr>
                <a:t>Dinh Dưỡng Và Sinh Hoạt</a:t>
              </a:r>
            </a:p>
          </p:txBody>
        </p:sp>
      </p:grpSp>
      <p:grpSp>
        <p:nvGrpSpPr>
          <p:cNvPr id="59" name="Group 58">
            <a:extLst>
              <a:ext uri="{FF2B5EF4-FFF2-40B4-BE49-F238E27FC236}">
                <a16:creationId xmlns:a16="http://schemas.microsoft.com/office/drawing/2014/main" id="{46782FAB-73D8-648E-1613-53C1B4393369}"/>
              </a:ext>
            </a:extLst>
          </p:cNvPr>
          <p:cNvGrpSpPr/>
          <p:nvPr/>
        </p:nvGrpSpPr>
        <p:grpSpPr>
          <a:xfrm>
            <a:off x="5390960" y="3866959"/>
            <a:ext cx="4111198" cy="5100165"/>
            <a:chOff x="5390960" y="3866959"/>
            <a:chExt cx="4111198" cy="5100165"/>
          </a:xfrm>
        </p:grpSpPr>
        <p:sp>
          <p:nvSpPr>
            <p:cNvPr id="47" name="Freeform 47"/>
            <p:cNvSpPr/>
            <p:nvPr/>
          </p:nvSpPr>
          <p:spPr>
            <a:xfrm>
              <a:off x="5390960" y="4286862"/>
              <a:ext cx="4111198" cy="4680262"/>
            </a:xfrm>
            <a:custGeom>
              <a:avLst/>
              <a:gdLst/>
              <a:ahLst/>
              <a:cxnLst/>
              <a:rect l="l" t="t" r="r" b="b"/>
              <a:pathLst>
                <a:path w="4111198" h="4680262">
                  <a:moveTo>
                    <a:pt x="0" y="0"/>
                  </a:moveTo>
                  <a:lnTo>
                    <a:pt x="4111198" y="0"/>
                  </a:lnTo>
                  <a:lnTo>
                    <a:pt x="4111198" y="4680263"/>
                  </a:lnTo>
                  <a:lnTo>
                    <a:pt x="0" y="4680263"/>
                  </a:lnTo>
                  <a:lnTo>
                    <a:pt x="0" y="0"/>
                  </a:lnTo>
                  <a:close/>
                </a:path>
              </a:pathLst>
            </a:custGeom>
            <a:blipFill>
              <a:blip r:embed="rId7"/>
              <a:stretch>
                <a:fillRect/>
              </a:stretch>
            </a:blipFill>
          </p:spPr>
          <p:txBody>
            <a:bodyPr/>
            <a:lstStyle/>
            <a:p>
              <a:endParaRPr lang="en-US"/>
            </a:p>
          </p:txBody>
        </p:sp>
        <p:sp>
          <p:nvSpPr>
            <p:cNvPr id="55" name="TextBox 55"/>
            <p:cNvSpPr txBox="1"/>
            <p:nvPr/>
          </p:nvSpPr>
          <p:spPr>
            <a:xfrm>
              <a:off x="6863055" y="3866959"/>
              <a:ext cx="1126629" cy="350423"/>
            </a:xfrm>
            <a:prstGeom prst="rect">
              <a:avLst/>
            </a:prstGeom>
          </p:spPr>
          <p:txBody>
            <a:bodyPr lIns="0" tIns="0" rIns="0" bIns="0" rtlCol="0" anchor="t">
              <a:spAutoFit/>
            </a:bodyPr>
            <a:lstStyle/>
            <a:p>
              <a:pPr algn="ctr">
                <a:lnSpc>
                  <a:spcPts val="2735"/>
                </a:lnSpc>
                <a:spcBef>
                  <a:spcPct val="0"/>
                </a:spcBef>
              </a:pPr>
              <a:r>
                <a:rPr lang="en-US" sz="1953">
                  <a:solidFill>
                    <a:srgbClr val="FF3A3A"/>
                  </a:solidFill>
                  <a:latin typeface="Poppins"/>
                  <a:ea typeface="Poppins"/>
                  <a:cs typeface="Poppins"/>
                  <a:sym typeface="Poppins"/>
                </a:rPr>
                <a:t>Di Truyền</a:t>
              </a:r>
            </a:p>
          </p:txBody>
        </p:sp>
      </p:grpSp>
      <p:sp>
        <p:nvSpPr>
          <p:cNvPr id="57" name="Slide Number Placeholder 56">
            <a:extLst>
              <a:ext uri="{FF2B5EF4-FFF2-40B4-BE49-F238E27FC236}">
                <a16:creationId xmlns:a16="http://schemas.microsoft.com/office/drawing/2014/main" id="{5486F375-C7DC-81F1-F3C9-D1D49F9E03A4}"/>
              </a:ext>
            </a:extLst>
          </p:cNvPr>
          <p:cNvSpPr>
            <a:spLocks noGrp="1"/>
          </p:cNvSpPr>
          <p:nvPr>
            <p:ph type="sldNum" sz="quarter" idx="12"/>
          </p:nvPr>
        </p:nvSpPr>
        <p:spPr/>
        <p:txBody>
          <a:bodyPr/>
          <a:lstStyle/>
          <a:p>
            <a:fld id="{B6F15528-21DE-4FAA-801E-634DDDAF4B2B}" type="slidenum">
              <a:rPr lang="en-US" smtClean="0"/>
              <a:pPr/>
              <a:t>6</a:t>
            </a:fld>
            <a:endParaRPr lang="en-US"/>
          </a:p>
        </p:txBody>
      </p:sp>
    </p:spTree>
  </p:cSld>
  <p:clrMapOvr>
    <a:masterClrMapping/>
  </p:clrMapOvr>
  <p:transition spd="med">
    <p:pull/>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FA61F8-3CC9-864B-31EB-B53E18CED0DB}"/>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7F3BFB39-61BC-91F8-AFB2-26B2DE45A049}"/>
              </a:ext>
            </a:extLst>
          </p:cNvPr>
          <p:cNvGrpSpPr/>
          <p:nvPr/>
        </p:nvGrpSpPr>
        <p:grpSpPr>
          <a:xfrm rot="-5400000">
            <a:off x="2890119" y="-3949996"/>
            <a:ext cx="1674552" cy="9156811"/>
            <a:chOff x="0" y="0"/>
            <a:chExt cx="593374" cy="2377997"/>
          </a:xfrm>
        </p:grpSpPr>
        <p:sp>
          <p:nvSpPr>
            <p:cNvPr id="3" name="Freeform 3">
              <a:extLst>
                <a:ext uri="{FF2B5EF4-FFF2-40B4-BE49-F238E27FC236}">
                  <a16:creationId xmlns:a16="http://schemas.microsoft.com/office/drawing/2014/main" id="{C2370E55-7A55-11F7-D278-61A9683F5485}"/>
                </a:ext>
              </a:extLst>
            </p:cNvPr>
            <p:cNvSpPr/>
            <p:nvPr/>
          </p:nvSpPr>
          <p:spPr>
            <a:xfrm>
              <a:off x="0" y="0"/>
              <a:ext cx="593374" cy="2377997"/>
            </a:xfrm>
            <a:custGeom>
              <a:avLst/>
              <a:gdLst/>
              <a:ahLst/>
              <a:cxnLst/>
              <a:rect l="l" t="t" r="r" b="b"/>
              <a:pathLst>
                <a:path w="593374" h="2377997">
                  <a:moveTo>
                    <a:pt x="296687" y="0"/>
                  </a:moveTo>
                  <a:lnTo>
                    <a:pt x="296687" y="0"/>
                  </a:lnTo>
                  <a:cubicBezTo>
                    <a:pt x="375373" y="0"/>
                    <a:pt x="450837" y="31258"/>
                    <a:pt x="506476" y="86898"/>
                  </a:cubicBezTo>
                  <a:cubicBezTo>
                    <a:pt x="562116" y="142537"/>
                    <a:pt x="593374" y="218001"/>
                    <a:pt x="593374" y="296687"/>
                  </a:cubicBezTo>
                  <a:lnTo>
                    <a:pt x="593374" y="2081310"/>
                  </a:lnTo>
                  <a:cubicBezTo>
                    <a:pt x="593374" y="2159997"/>
                    <a:pt x="562116" y="2235460"/>
                    <a:pt x="506476" y="2291100"/>
                  </a:cubicBezTo>
                  <a:cubicBezTo>
                    <a:pt x="450837" y="2346740"/>
                    <a:pt x="375373" y="2377997"/>
                    <a:pt x="296687" y="2377997"/>
                  </a:cubicBezTo>
                  <a:lnTo>
                    <a:pt x="296687" y="2377997"/>
                  </a:lnTo>
                  <a:cubicBezTo>
                    <a:pt x="218001" y="2377997"/>
                    <a:pt x="142537" y="2346740"/>
                    <a:pt x="86898" y="2291100"/>
                  </a:cubicBezTo>
                  <a:cubicBezTo>
                    <a:pt x="31258" y="2235460"/>
                    <a:pt x="0" y="2159997"/>
                    <a:pt x="0" y="2081310"/>
                  </a:cubicBezTo>
                  <a:lnTo>
                    <a:pt x="0" y="296687"/>
                  </a:lnTo>
                  <a:cubicBezTo>
                    <a:pt x="0" y="218001"/>
                    <a:pt x="31258" y="142537"/>
                    <a:pt x="86898" y="86898"/>
                  </a:cubicBezTo>
                  <a:cubicBezTo>
                    <a:pt x="142537" y="31258"/>
                    <a:pt x="218001" y="0"/>
                    <a:pt x="296687" y="0"/>
                  </a:cubicBezTo>
                  <a:close/>
                </a:path>
              </a:pathLst>
            </a:custGeom>
            <a:gradFill rotWithShape="1">
              <a:gsLst>
                <a:gs pos="0">
                  <a:srgbClr val="398DFA">
                    <a:alpha val="50000"/>
                  </a:srgbClr>
                </a:gs>
                <a:gs pos="50000">
                  <a:srgbClr val="0151B8">
                    <a:alpha val="12000"/>
                  </a:srgbClr>
                </a:gs>
                <a:gs pos="100000">
                  <a:srgbClr val="0151B8">
                    <a:alpha val="0"/>
                  </a:srgbClr>
                </a:gs>
              </a:gsLst>
              <a:lin ang="0"/>
            </a:gradFill>
          </p:spPr>
          <p:txBody>
            <a:bodyPr/>
            <a:lstStyle/>
            <a:p>
              <a:endParaRPr lang="en-US"/>
            </a:p>
          </p:txBody>
        </p:sp>
        <p:sp>
          <p:nvSpPr>
            <p:cNvPr id="4" name="TextBox 4">
              <a:extLst>
                <a:ext uri="{FF2B5EF4-FFF2-40B4-BE49-F238E27FC236}">
                  <a16:creationId xmlns:a16="http://schemas.microsoft.com/office/drawing/2014/main" id="{0DB45B09-F9E7-0DEE-647B-42FF9A64E677}"/>
                </a:ext>
              </a:extLst>
            </p:cNvPr>
            <p:cNvSpPr txBox="1"/>
            <p:nvPr/>
          </p:nvSpPr>
          <p:spPr>
            <a:xfrm>
              <a:off x="0" y="-38100"/>
              <a:ext cx="593374" cy="241609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a:extLst>
              <a:ext uri="{FF2B5EF4-FFF2-40B4-BE49-F238E27FC236}">
                <a16:creationId xmlns:a16="http://schemas.microsoft.com/office/drawing/2014/main" id="{8204BD40-C6FB-DE73-D94A-611EBB59F11E}"/>
              </a:ext>
            </a:extLst>
          </p:cNvPr>
          <p:cNvSpPr/>
          <p:nvPr/>
        </p:nvSpPr>
        <p:spPr>
          <a:xfrm>
            <a:off x="9268825" y="364303"/>
            <a:ext cx="1233326" cy="664397"/>
          </a:xfrm>
          <a:custGeom>
            <a:avLst/>
            <a:gdLst/>
            <a:ahLst/>
            <a:cxnLst/>
            <a:rect l="l" t="t" r="r" b="b"/>
            <a:pathLst>
              <a:path w="1233326" h="664397">
                <a:moveTo>
                  <a:pt x="0" y="0"/>
                </a:moveTo>
                <a:lnTo>
                  <a:pt x="1233326" y="0"/>
                </a:lnTo>
                <a:lnTo>
                  <a:pt x="1233326" y="664397"/>
                </a:lnTo>
                <a:lnTo>
                  <a:pt x="0" y="664397"/>
                </a:lnTo>
                <a:lnTo>
                  <a:pt x="0" y="0"/>
                </a:lnTo>
                <a:close/>
              </a:path>
            </a:pathLst>
          </a:custGeom>
          <a:blipFill>
            <a:blip>
              <a:extLst>
                <a:ext uri="{96DAC541-7B7A-43D3-8B79-37D633B846F1}">
                  <asvg:svgBlip xmlns:asvg="http://schemas.microsoft.com/office/drawing/2016/SVG/main" r:embed="rId3"/>
                </a:ext>
              </a:extLst>
            </a:blip>
            <a:stretch>
              <a:fillRect b="-85630"/>
            </a:stretch>
          </a:blipFill>
        </p:spPr>
        <p:txBody>
          <a:bodyPr/>
          <a:lstStyle/>
          <a:p>
            <a:endParaRPr lang="en-US"/>
          </a:p>
        </p:txBody>
      </p:sp>
      <p:grpSp>
        <p:nvGrpSpPr>
          <p:cNvPr id="6" name="Group 6">
            <a:extLst>
              <a:ext uri="{FF2B5EF4-FFF2-40B4-BE49-F238E27FC236}">
                <a16:creationId xmlns:a16="http://schemas.microsoft.com/office/drawing/2014/main" id="{F76D402F-CF98-B05E-F837-48FBC21DD421}"/>
              </a:ext>
            </a:extLst>
          </p:cNvPr>
          <p:cNvGrpSpPr/>
          <p:nvPr/>
        </p:nvGrpSpPr>
        <p:grpSpPr>
          <a:xfrm>
            <a:off x="13106400" y="1457795"/>
            <a:ext cx="336668" cy="336668"/>
            <a:chOff x="0" y="0"/>
            <a:chExt cx="812800" cy="812800"/>
          </a:xfrm>
        </p:grpSpPr>
        <p:sp>
          <p:nvSpPr>
            <p:cNvPr id="7" name="Freeform 7">
              <a:extLst>
                <a:ext uri="{FF2B5EF4-FFF2-40B4-BE49-F238E27FC236}">
                  <a16:creationId xmlns:a16="http://schemas.microsoft.com/office/drawing/2014/main" id="{A3BC74A5-4DA1-2BE8-5128-FC55892ABA44}"/>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8" name="TextBox 8">
              <a:extLst>
                <a:ext uri="{FF2B5EF4-FFF2-40B4-BE49-F238E27FC236}">
                  <a16:creationId xmlns:a16="http://schemas.microsoft.com/office/drawing/2014/main" id="{980A7620-FB8A-3251-6825-9C4CFA87C620}"/>
                </a:ext>
              </a:extLst>
            </p:cNvPr>
            <p:cNvSpPr txBox="1"/>
            <p:nvPr/>
          </p:nvSpPr>
          <p:spPr>
            <a:xfrm>
              <a:off x="76200" y="19050"/>
              <a:ext cx="660400" cy="717550"/>
            </a:xfrm>
            <a:prstGeom prst="rect">
              <a:avLst/>
            </a:prstGeom>
          </p:spPr>
          <p:txBody>
            <a:bodyPr lIns="23649" tIns="23649" rIns="23649" bIns="23649" rtlCol="0" anchor="ctr"/>
            <a:lstStyle/>
            <a:p>
              <a:pPr algn="ctr">
                <a:lnSpc>
                  <a:spcPts val="2735"/>
                </a:lnSpc>
              </a:pPr>
              <a:endParaRPr/>
            </a:p>
          </p:txBody>
        </p:sp>
      </p:grpSp>
      <p:grpSp>
        <p:nvGrpSpPr>
          <p:cNvPr id="9" name="Group 9">
            <a:extLst>
              <a:ext uri="{FF2B5EF4-FFF2-40B4-BE49-F238E27FC236}">
                <a16:creationId xmlns:a16="http://schemas.microsoft.com/office/drawing/2014/main" id="{207C2BE7-6BF9-C52B-1E37-BEBA2B11EBA6}"/>
              </a:ext>
            </a:extLst>
          </p:cNvPr>
          <p:cNvGrpSpPr/>
          <p:nvPr/>
        </p:nvGrpSpPr>
        <p:grpSpPr>
          <a:xfrm>
            <a:off x="11977751" y="63510"/>
            <a:ext cx="4802842" cy="400237"/>
            <a:chOff x="0" y="0"/>
            <a:chExt cx="6096000" cy="508000"/>
          </a:xfrm>
        </p:grpSpPr>
        <p:sp>
          <p:nvSpPr>
            <p:cNvPr id="10" name="Freeform 10">
              <a:extLst>
                <a:ext uri="{FF2B5EF4-FFF2-40B4-BE49-F238E27FC236}">
                  <a16:creationId xmlns:a16="http://schemas.microsoft.com/office/drawing/2014/main" id="{C2F43426-1F48-EC0F-40F8-1E784285014B}"/>
                </a:ext>
              </a:extLst>
            </p:cNvPr>
            <p:cNvSpPr/>
            <p:nvPr/>
          </p:nvSpPr>
          <p:spPr>
            <a:xfrm>
              <a:off x="0" y="0"/>
              <a:ext cx="6096000" cy="508000"/>
            </a:xfrm>
            <a:custGeom>
              <a:avLst/>
              <a:gdLst/>
              <a:ahLst/>
              <a:cxnLst/>
              <a:rect l="l" t="t" r="r" b="b"/>
              <a:pathLst>
                <a:path w="6096000" h="508000">
                  <a:moveTo>
                    <a:pt x="0" y="0"/>
                  </a:moveTo>
                  <a:lnTo>
                    <a:pt x="6096000" y="0"/>
                  </a:lnTo>
                  <a:lnTo>
                    <a:pt x="6096000" y="508000"/>
                  </a:lnTo>
                  <a:lnTo>
                    <a:pt x="0" y="508000"/>
                  </a:lnTo>
                  <a:close/>
                </a:path>
              </a:pathLst>
            </a:custGeom>
            <a:solidFill>
              <a:srgbClr val="E8F4FD"/>
            </a:solidFill>
            <a:ln w="19050" cap="sq">
              <a:solidFill>
                <a:srgbClr val="0151B8"/>
              </a:solidFill>
              <a:prstDash val="solid"/>
              <a:miter/>
            </a:ln>
          </p:spPr>
          <p:txBody>
            <a:bodyPr/>
            <a:lstStyle/>
            <a:p>
              <a:endParaRPr lang="en-US"/>
            </a:p>
          </p:txBody>
        </p:sp>
        <p:sp>
          <p:nvSpPr>
            <p:cNvPr id="11" name="TextBox 11">
              <a:extLst>
                <a:ext uri="{FF2B5EF4-FFF2-40B4-BE49-F238E27FC236}">
                  <a16:creationId xmlns:a16="http://schemas.microsoft.com/office/drawing/2014/main" id="{28F947C4-6EDA-0BA1-0430-785351F5D7DD}"/>
                </a:ext>
              </a:extLst>
            </p:cNvPr>
            <p:cNvSpPr txBox="1"/>
            <p:nvPr/>
          </p:nvSpPr>
          <p:spPr>
            <a:xfrm>
              <a:off x="0" y="-57150"/>
              <a:ext cx="6096000" cy="565150"/>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151B8"/>
                  </a:solidFill>
                  <a:latin typeface="Poppins"/>
                  <a:ea typeface="Poppins"/>
                  <a:cs typeface="Poppins"/>
                  <a:sym typeface="Poppins"/>
                </a:rPr>
                <a:t>Age</a:t>
              </a:r>
            </a:p>
          </p:txBody>
        </p:sp>
      </p:grpSp>
      <p:grpSp>
        <p:nvGrpSpPr>
          <p:cNvPr id="12" name="Group 12">
            <a:extLst>
              <a:ext uri="{FF2B5EF4-FFF2-40B4-BE49-F238E27FC236}">
                <a16:creationId xmlns:a16="http://schemas.microsoft.com/office/drawing/2014/main" id="{ED3EE184-4473-7BE9-00F0-BF196A59C6E0}"/>
              </a:ext>
            </a:extLst>
          </p:cNvPr>
          <p:cNvGrpSpPr/>
          <p:nvPr/>
        </p:nvGrpSpPr>
        <p:grpSpPr>
          <a:xfrm>
            <a:off x="11977751" y="463747"/>
            <a:ext cx="1600947" cy="360213"/>
            <a:chOff x="0" y="0"/>
            <a:chExt cx="2032000" cy="457200"/>
          </a:xfrm>
        </p:grpSpPr>
        <p:sp>
          <p:nvSpPr>
            <p:cNvPr id="13" name="Freeform 13">
              <a:extLst>
                <a:ext uri="{FF2B5EF4-FFF2-40B4-BE49-F238E27FC236}">
                  <a16:creationId xmlns:a16="http://schemas.microsoft.com/office/drawing/2014/main" id="{49AFBDE0-C58A-9C76-65BF-6090442B58D3}"/>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14" name="TextBox 14">
              <a:extLst>
                <a:ext uri="{FF2B5EF4-FFF2-40B4-BE49-F238E27FC236}">
                  <a16:creationId xmlns:a16="http://schemas.microsoft.com/office/drawing/2014/main" id="{2960AC5F-4430-8A67-DC96-4BA8E8738695}"/>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Mean = 23.84</a:t>
              </a:r>
            </a:p>
          </p:txBody>
        </p:sp>
      </p:grpSp>
      <p:grpSp>
        <p:nvGrpSpPr>
          <p:cNvPr id="15" name="Group 15">
            <a:extLst>
              <a:ext uri="{FF2B5EF4-FFF2-40B4-BE49-F238E27FC236}">
                <a16:creationId xmlns:a16="http://schemas.microsoft.com/office/drawing/2014/main" id="{02266056-D2AE-4509-ACC2-927702F7B4DD}"/>
              </a:ext>
            </a:extLst>
          </p:cNvPr>
          <p:cNvGrpSpPr/>
          <p:nvPr/>
        </p:nvGrpSpPr>
        <p:grpSpPr>
          <a:xfrm>
            <a:off x="13578699" y="463747"/>
            <a:ext cx="1600947" cy="360213"/>
            <a:chOff x="0" y="0"/>
            <a:chExt cx="2032000" cy="457200"/>
          </a:xfrm>
        </p:grpSpPr>
        <p:sp>
          <p:nvSpPr>
            <p:cNvPr id="16" name="Freeform 16">
              <a:extLst>
                <a:ext uri="{FF2B5EF4-FFF2-40B4-BE49-F238E27FC236}">
                  <a16:creationId xmlns:a16="http://schemas.microsoft.com/office/drawing/2014/main" id="{C3AB3CE4-04DB-81BC-366E-F67CD407C741}"/>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17" name="TextBox 17">
              <a:extLst>
                <a:ext uri="{FF2B5EF4-FFF2-40B4-BE49-F238E27FC236}">
                  <a16:creationId xmlns:a16="http://schemas.microsoft.com/office/drawing/2014/main" id="{22B92199-1EFC-D4BF-0C5F-C24CA8F13B6F}"/>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Max = 61</a:t>
              </a:r>
            </a:p>
          </p:txBody>
        </p:sp>
      </p:grpSp>
      <p:grpSp>
        <p:nvGrpSpPr>
          <p:cNvPr id="18" name="Group 18">
            <a:extLst>
              <a:ext uri="{FF2B5EF4-FFF2-40B4-BE49-F238E27FC236}">
                <a16:creationId xmlns:a16="http://schemas.microsoft.com/office/drawing/2014/main" id="{962EF67E-2E46-E851-48CF-2267CC137B04}"/>
              </a:ext>
            </a:extLst>
          </p:cNvPr>
          <p:cNvGrpSpPr/>
          <p:nvPr/>
        </p:nvGrpSpPr>
        <p:grpSpPr>
          <a:xfrm>
            <a:off x="15179646" y="463747"/>
            <a:ext cx="1600947" cy="360213"/>
            <a:chOff x="0" y="0"/>
            <a:chExt cx="2032000" cy="457200"/>
          </a:xfrm>
        </p:grpSpPr>
        <p:sp>
          <p:nvSpPr>
            <p:cNvPr id="19" name="Freeform 19">
              <a:extLst>
                <a:ext uri="{FF2B5EF4-FFF2-40B4-BE49-F238E27FC236}">
                  <a16:creationId xmlns:a16="http://schemas.microsoft.com/office/drawing/2014/main" id="{0C86D7C1-5406-867D-3AF0-199C8B8C83F1}"/>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20" name="TextBox 20">
              <a:extLst>
                <a:ext uri="{FF2B5EF4-FFF2-40B4-BE49-F238E27FC236}">
                  <a16:creationId xmlns:a16="http://schemas.microsoft.com/office/drawing/2014/main" id="{76597F97-C697-2409-7EA9-0184BBD195E7}"/>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Min = 14</a:t>
              </a:r>
            </a:p>
          </p:txBody>
        </p:sp>
      </p:grpSp>
      <p:grpSp>
        <p:nvGrpSpPr>
          <p:cNvPr id="21" name="Group 21">
            <a:extLst>
              <a:ext uri="{FF2B5EF4-FFF2-40B4-BE49-F238E27FC236}">
                <a16:creationId xmlns:a16="http://schemas.microsoft.com/office/drawing/2014/main" id="{5AAF6711-4524-B1EB-1DA6-88D707B30146}"/>
              </a:ext>
            </a:extLst>
          </p:cNvPr>
          <p:cNvGrpSpPr/>
          <p:nvPr/>
        </p:nvGrpSpPr>
        <p:grpSpPr>
          <a:xfrm>
            <a:off x="11970493" y="1890202"/>
            <a:ext cx="4802842" cy="400237"/>
            <a:chOff x="0" y="0"/>
            <a:chExt cx="6096000" cy="508000"/>
          </a:xfrm>
        </p:grpSpPr>
        <p:sp>
          <p:nvSpPr>
            <p:cNvPr id="22" name="Freeform 22">
              <a:extLst>
                <a:ext uri="{FF2B5EF4-FFF2-40B4-BE49-F238E27FC236}">
                  <a16:creationId xmlns:a16="http://schemas.microsoft.com/office/drawing/2014/main" id="{F2542215-E201-9CF4-D34F-D792511FF51C}"/>
                </a:ext>
              </a:extLst>
            </p:cNvPr>
            <p:cNvSpPr/>
            <p:nvPr/>
          </p:nvSpPr>
          <p:spPr>
            <a:xfrm>
              <a:off x="0" y="0"/>
              <a:ext cx="6096000" cy="508000"/>
            </a:xfrm>
            <a:custGeom>
              <a:avLst/>
              <a:gdLst/>
              <a:ahLst/>
              <a:cxnLst/>
              <a:rect l="l" t="t" r="r" b="b"/>
              <a:pathLst>
                <a:path w="6096000" h="508000">
                  <a:moveTo>
                    <a:pt x="0" y="0"/>
                  </a:moveTo>
                  <a:lnTo>
                    <a:pt x="6096000" y="0"/>
                  </a:lnTo>
                  <a:lnTo>
                    <a:pt x="6096000" y="508000"/>
                  </a:lnTo>
                  <a:lnTo>
                    <a:pt x="0" y="508000"/>
                  </a:lnTo>
                  <a:close/>
                </a:path>
              </a:pathLst>
            </a:custGeom>
            <a:solidFill>
              <a:srgbClr val="E8F4FD"/>
            </a:solidFill>
            <a:ln w="19050" cap="sq">
              <a:solidFill>
                <a:srgbClr val="0151B8"/>
              </a:solidFill>
              <a:prstDash val="solid"/>
              <a:miter/>
            </a:ln>
          </p:spPr>
          <p:txBody>
            <a:bodyPr/>
            <a:lstStyle/>
            <a:p>
              <a:endParaRPr lang="en-US"/>
            </a:p>
          </p:txBody>
        </p:sp>
        <p:sp>
          <p:nvSpPr>
            <p:cNvPr id="23" name="TextBox 23">
              <a:extLst>
                <a:ext uri="{FF2B5EF4-FFF2-40B4-BE49-F238E27FC236}">
                  <a16:creationId xmlns:a16="http://schemas.microsoft.com/office/drawing/2014/main" id="{0D4D037D-891E-FC6C-9A0C-DB72EC0EE031}"/>
                </a:ext>
              </a:extLst>
            </p:cNvPr>
            <p:cNvSpPr txBox="1"/>
            <p:nvPr/>
          </p:nvSpPr>
          <p:spPr>
            <a:xfrm>
              <a:off x="0" y="-57150"/>
              <a:ext cx="6096000" cy="565150"/>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151B8"/>
                  </a:solidFill>
                  <a:latin typeface="Poppins"/>
                  <a:ea typeface="Poppins"/>
                  <a:cs typeface="Poppins"/>
                  <a:sym typeface="Poppins"/>
                </a:rPr>
                <a:t>Height</a:t>
              </a:r>
            </a:p>
          </p:txBody>
        </p:sp>
      </p:grpSp>
      <p:grpSp>
        <p:nvGrpSpPr>
          <p:cNvPr id="24" name="Group 24">
            <a:extLst>
              <a:ext uri="{FF2B5EF4-FFF2-40B4-BE49-F238E27FC236}">
                <a16:creationId xmlns:a16="http://schemas.microsoft.com/office/drawing/2014/main" id="{CAAC6BFC-68E8-E14A-1929-B0A76CDF4AC9}"/>
              </a:ext>
            </a:extLst>
          </p:cNvPr>
          <p:cNvGrpSpPr/>
          <p:nvPr/>
        </p:nvGrpSpPr>
        <p:grpSpPr>
          <a:xfrm>
            <a:off x="11970493" y="2290439"/>
            <a:ext cx="1600947" cy="360213"/>
            <a:chOff x="0" y="0"/>
            <a:chExt cx="2032000" cy="457200"/>
          </a:xfrm>
        </p:grpSpPr>
        <p:sp>
          <p:nvSpPr>
            <p:cNvPr id="25" name="Freeform 25">
              <a:extLst>
                <a:ext uri="{FF2B5EF4-FFF2-40B4-BE49-F238E27FC236}">
                  <a16:creationId xmlns:a16="http://schemas.microsoft.com/office/drawing/2014/main" id="{32A12B16-E5B8-2B71-8AA3-7C5A6FC2549C}"/>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26" name="TextBox 26">
              <a:extLst>
                <a:ext uri="{FF2B5EF4-FFF2-40B4-BE49-F238E27FC236}">
                  <a16:creationId xmlns:a16="http://schemas.microsoft.com/office/drawing/2014/main" id="{2BBB586A-49C8-6E0C-0E7A-61A66DA99716}"/>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Mean = 1.00</a:t>
              </a:r>
            </a:p>
          </p:txBody>
        </p:sp>
      </p:grpSp>
      <p:grpSp>
        <p:nvGrpSpPr>
          <p:cNvPr id="27" name="Group 27">
            <a:extLst>
              <a:ext uri="{FF2B5EF4-FFF2-40B4-BE49-F238E27FC236}">
                <a16:creationId xmlns:a16="http://schemas.microsoft.com/office/drawing/2014/main" id="{7218C438-F8A0-C12F-7C63-DEF223768531}"/>
              </a:ext>
            </a:extLst>
          </p:cNvPr>
          <p:cNvGrpSpPr/>
          <p:nvPr/>
        </p:nvGrpSpPr>
        <p:grpSpPr>
          <a:xfrm>
            <a:off x="13571441" y="2290439"/>
            <a:ext cx="1600947" cy="360213"/>
            <a:chOff x="0" y="0"/>
            <a:chExt cx="2032000" cy="457200"/>
          </a:xfrm>
        </p:grpSpPr>
        <p:sp>
          <p:nvSpPr>
            <p:cNvPr id="28" name="Freeform 28">
              <a:extLst>
                <a:ext uri="{FF2B5EF4-FFF2-40B4-BE49-F238E27FC236}">
                  <a16:creationId xmlns:a16="http://schemas.microsoft.com/office/drawing/2014/main" id="{404536E2-D923-551D-7387-2386928B6CE2}"/>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29" name="TextBox 29">
              <a:extLst>
                <a:ext uri="{FF2B5EF4-FFF2-40B4-BE49-F238E27FC236}">
                  <a16:creationId xmlns:a16="http://schemas.microsoft.com/office/drawing/2014/main" id="{6B7CDD30-6337-DF26-3E73-A3885A93586D}"/>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Max = 1.98</a:t>
              </a:r>
            </a:p>
          </p:txBody>
        </p:sp>
      </p:grpSp>
      <p:grpSp>
        <p:nvGrpSpPr>
          <p:cNvPr id="30" name="Group 30">
            <a:extLst>
              <a:ext uri="{FF2B5EF4-FFF2-40B4-BE49-F238E27FC236}">
                <a16:creationId xmlns:a16="http://schemas.microsoft.com/office/drawing/2014/main" id="{334D4841-450A-97A4-3592-246C9A2E1232}"/>
              </a:ext>
            </a:extLst>
          </p:cNvPr>
          <p:cNvGrpSpPr/>
          <p:nvPr/>
        </p:nvGrpSpPr>
        <p:grpSpPr>
          <a:xfrm>
            <a:off x="15172388" y="2290439"/>
            <a:ext cx="1600947" cy="360213"/>
            <a:chOff x="0" y="0"/>
            <a:chExt cx="2032000" cy="457200"/>
          </a:xfrm>
        </p:grpSpPr>
        <p:sp>
          <p:nvSpPr>
            <p:cNvPr id="31" name="Freeform 31">
              <a:extLst>
                <a:ext uri="{FF2B5EF4-FFF2-40B4-BE49-F238E27FC236}">
                  <a16:creationId xmlns:a16="http://schemas.microsoft.com/office/drawing/2014/main" id="{A97637C2-324D-11CA-4EB0-3E69A53B3B29}"/>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32" name="TextBox 32">
              <a:extLst>
                <a:ext uri="{FF2B5EF4-FFF2-40B4-BE49-F238E27FC236}">
                  <a16:creationId xmlns:a16="http://schemas.microsoft.com/office/drawing/2014/main" id="{EA26D12D-B5B8-72F0-02EA-7F1EC7E62FEE}"/>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Min = 1.45</a:t>
              </a:r>
            </a:p>
          </p:txBody>
        </p:sp>
      </p:grpSp>
      <p:grpSp>
        <p:nvGrpSpPr>
          <p:cNvPr id="33" name="Group 33">
            <a:extLst>
              <a:ext uri="{FF2B5EF4-FFF2-40B4-BE49-F238E27FC236}">
                <a16:creationId xmlns:a16="http://schemas.microsoft.com/office/drawing/2014/main" id="{AD68C676-46E2-4716-F7ED-ACB05DE64594}"/>
              </a:ext>
            </a:extLst>
          </p:cNvPr>
          <p:cNvGrpSpPr/>
          <p:nvPr/>
        </p:nvGrpSpPr>
        <p:grpSpPr>
          <a:xfrm>
            <a:off x="11970493" y="950402"/>
            <a:ext cx="4802842" cy="400237"/>
            <a:chOff x="0" y="0"/>
            <a:chExt cx="6096000" cy="508000"/>
          </a:xfrm>
        </p:grpSpPr>
        <p:sp>
          <p:nvSpPr>
            <p:cNvPr id="34" name="Freeform 34">
              <a:extLst>
                <a:ext uri="{FF2B5EF4-FFF2-40B4-BE49-F238E27FC236}">
                  <a16:creationId xmlns:a16="http://schemas.microsoft.com/office/drawing/2014/main" id="{AE19C619-1C5C-B1AF-A183-ED56CC1C7108}"/>
                </a:ext>
              </a:extLst>
            </p:cNvPr>
            <p:cNvSpPr/>
            <p:nvPr/>
          </p:nvSpPr>
          <p:spPr>
            <a:xfrm>
              <a:off x="0" y="0"/>
              <a:ext cx="6096000" cy="508000"/>
            </a:xfrm>
            <a:custGeom>
              <a:avLst/>
              <a:gdLst/>
              <a:ahLst/>
              <a:cxnLst/>
              <a:rect l="l" t="t" r="r" b="b"/>
              <a:pathLst>
                <a:path w="6096000" h="508000">
                  <a:moveTo>
                    <a:pt x="0" y="0"/>
                  </a:moveTo>
                  <a:lnTo>
                    <a:pt x="6096000" y="0"/>
                  </a:lnTo>
                  <a:lnTo>
                    <a:pt x="6096000" y="508000"/>
                  </a:lnTo>
                  <a:lnTo>
                    <a:pt x="0" y="508000"/>
                  </a:lnTo>
                  <a:close/>
                </a:path>
              </a:pathLst>
            </a:custGeom>
            <a:solidFill>
              <a:srgbClr val="E8F4FD"/>
            </a:solidFill>
            <a:ln w="19050" cap="sq">
              <a:solidFill>
                <a:srgbClr val="0151B8"/>
              </a:solidFill>
              <a:prstDash val="solid"/>
              <a:miter/>
            </a:ln>
          </p:spPr>
          <p:txBody>
            <a:bodyPr/>
            <a:lstStyle/>
            <a:p>
              <a:endParaRPr lang="en-US"/>
            </a:p>
          </p:txBody>
        </p:sp>
        <p:sp>
          <p:nvSpPr>
            <p:cNvPr id="35" name="TextBox 35">
              <a:extLst>
                <a:ext uri="{FF2B5EF4-FFF2-40B4-BE49-F238E27FC236}">
                  <a16:creationId xmlns:a16="http://schemas.microsoft.com/office/drawing/2014/main" id="{405FCB34-C45B-3355-2AB3-D013F2C36899}"/>
                </a:ext>
              </a:extLst>
            </p:cNvPr>
            <p:cNvSpPr txBox="1"/>
            <p:nvPr/>
          </p:nvSpPr>
          <p:spPr>
            <a:xfrm>
              <a:off x="0" y="-57150"/>
              <a:ext cx="6096000" cy="565150"/>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151B8"/>
                  </a:solidFill>
                  <a:latin typeface="Poppins"/>
                  <a:ea typeface="Poppins"/>
                  <a:cs typeface="Poppins"/>
                  <a:sym typeface="Poppins"/>
                </a:rPr>
                <a:t>Weight</a:t>
              </a:r>
            </a:p>
          </p:txBody>
        </p:sp>
      </p:grpSp>
      <p:grpSp>
        <p:nvGrpSpPr>
          <p:cNvPr id="36" name="Group 36">
            <a:extLst>
              <a:ext uri="{FF2B5EF4-FFF2-40B4-BE49-F238E27FC236}">
                <a16:creationId xmlns:a16="http://schemas.microsoft.com/office/drawing/2014/main" id="{705EEFDF-B0D3-E037-B53C-4FD16091A8CE}"/>
              </a:ext>
            </a:extLst>
          </p:cNvPr>
          <p:cNvGrpSpPr/>
          <p:nvPr/>
        </p:nvGrpSpPr>
        <p:grpSpPr>
          <a:xfrm>
            <a:off x="11970493" y="1350639"/>
            <a:ext cx="1600947" cy="360213"/>
            <a:chOff x="0" y="0"/>
            <a:chExt cx="2032000" cy="457200"/>
          </a:xfrm>
        </p:grpSpPr>
        <p:sp>
          <p:nvSpPr>
            <p:cNvPr id="37" name="Freeform 37">
              <a:extLst>
                <a:ext uri="{FF2B5EF4-FFF2-40B4-BE49-F238E27FC236}">
                  <a16:creationId xmlns:a16="http://schemas.microsoft.com/office/drawing/2014/main" id="{30BAA03D-2414-56CA-321A-0252006C466C}"/>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38" name="TextBox 38">
              <a:extLst>
                <a:ext uri="{FF2B5EF4-FFF2-40B4-BE49-F238E27FC236}">
                  <a16:creationId xmlns:a16="http://schemas.microsoft.com/office/drawing/2014/main" id="{4D237C63-49F6-0D2F-2912-5D1648F002AE}"/>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Mean = 87.89</a:t>
              </a:r>
            </a:p>
          </p:txBody>
        </p:sp>
      </p:grpSp>
      <p:grpSp>
        <p:nvGrpSpPr>
          <p:cNvPr id="39" name="Group 39">
            <a:extLst>
              <a:ext uri="{FF2B5EF4-FFF2-40B4-BE49-F238E27FC236}">
                <a16:creationId xmlns:a16="http://schemas.microsoft.com/office/drawing/2014/main" id="{07A95751-B96E-DC98-F8CE-B6C7DB6D6D2C}"/>
              </a:ext>
            </a:extLst>
          </p:cNvPr>
          <p:cNvGrpSpPr/>
          <p:nvPr/>
        </p:nvGrpSpPr>
        <p:grpSpPr>
          <a:xfrm>
            <a:off x="13571441" y="1350639"/>
            <a:ext cx="1600947" cy="360213"/>
            <a:chOff x="0" y="0"/>
            <a:chExt cx="2032000" cy="457200"/>
          </a:xfrm>
        </p:grpSpPr>
        <p:sp>
          <p:nvSpPr>
            <p:cNvPr id="40" name="Freeform 40">
              <a:extLst>
                <a:ext uri="{FF2B5EF4-FFF2-40B4-BE49-F238E27FC236}">
                  <a16:creationId xmlns:a16="http://schemas.microsoft.com/office/drawing/2014/main" id="{8A29F34E-989A-AFAF-A8D6-FF7791D3EEC1}"/>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41" name="TextBox 41">
              <a:extLst>
                <a:ext uri="{FF2B5EF4-FFF2-40B4-BE49-F238E27FC236}">
                  <a16:creationId xmlns:a16="http://schemas.microsoft.com/office/drawing/2014/main" id="{A125D2F1-E922-5533-7299-A39D75378B3C}"/>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Max = 165.06</a:t>
              </a:r>
            </a:p>
          </p:txBody>
        </p:sp>
      </p:grpSp>
      <p:grpSp>
        <p:nvGrpSpPr>
          <p:cNvPr id="42" name="Group 42">
            <a:extLst>
              <a:ext uri="{FF2B5EF4-FFF2-40B4-BE49-F238E27FC236}">
                <a16:creationId xmlns:a16="http://schemas.microsoft.com/office/drawing/2014/main" id="{3D5DBE49-8E06-21CE-096E-979063BA6049}"/>
              </a:ext>
            </a:extLst>
          </p:cNvPr>
          <p:cNvGrpSpPr/>
          <p:nvPr/>
        </p:nvGrpSpPr>
        <p:grpSpPr>
          <a:xfrm>
            <a:off x="15172388" y="1350639"/>
            <a:ext cx="1600947" cy="360213"/>
            <a:chOff x="0" y="0"/>
            <a:chExt cx="2032000" cy="457200"/>
          </a:xfrm>
        </p:grpSpPr>
        <p:sp>
          <p:nvSpPr>
            <p:cNvPr id="43" name="Freeform 43">
              <a:extLst>
                <a:ext uri="{FF2B5EF4-FFF2-40B4-BE49-F238E27FC236}">
                  <a16:creationId xmlns:a16="http://schemas.microsoft.com/office/drawing/2014/main" id="{B919D892-C981-132B-BB55-A1BB07A504B0}"/>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44" name="TextBox 44">
              <a:extLst>
                <a:ext uri="{FF2B5EF4-FFF2-40B4-BE49-F238E27FC236}">
                  <a16:creationId xmlns:a16="http://schemas.microsoft.com/office/drawing/2014/main" id="{0958EC5D-1FB6-73AB-F30F-5BD5B125669C}"/>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Min = 39.0</a:t>
              </a:r>
            </a:p>
          </p:txBody>
        </p:sp>
      </p:grpSp>
      <p:sp>
        <p:nvSpPr>
          <p:cNvPr id="45" name="Freeform 45">
            <a:extLst>
              <a:ext uri="{FF2B5EF4-FFF2-40B4-BE49-F238E27FC236}">
                <a16:creationId xmlns:a16="http://schemas.microsoft.com/office/drawing/2014/main" id="{E32EEF8C-0259-2895-A7CD-E92F3842C25F}"/>
              </a:ext>
            </a:extLst>
          </p:cNvPr>
          <p:cNvSpPr/>
          <p:nvPr/>
        </p:nvSpPr>
        <p:spPr>
          <a:xfrm>
            <a:off x="23764234" y="3330614"/>
            <a:ext cx="8402512" cy="4837122"/>
          </a:xfrm>
          <a:custGeom>
            <a:avLst/>
            <a:gdLst/>
            <a:ahLst/>
            <a:cxnLst/>
            <a:rect l="l" t="t" r="r" b="b"/>
            <a:pathLst>
              <a:path w="8402512" h="4837122">
                <a:moveTo>
                  <a:pt x="0" y="0"/>
                </a:moveTo>
                <a:lnTo>
                  <a:pt x="8402512" y="0"/>
                </a:lnTo>
                <a:lnTo>
                  <a:pt x="8402512" y="4837121"/>
                </a:lnTo>
                <a:lnTo>
                  <a:pt x="0" y="4837121"/>
                </a:lnTo>
                <a:lnTo>
                  <a:pt x="0" y="0"/>
                </a:lnTo>
                <a:close/>
              </a:path>
            </a:pathLst>
          </a:custGeom>
          <a:blipFill>
            <a:blip r:embed="rId4"/>
            <a:stretch>
              <a:fillRect/>
            </a:stretch>
          </a:blipFill>
        </p:spPr>
        <p:txBody>
          <a:bodyPr/>
          <a:lstStyle/>
          <a:p>
            <a:endParaRPr lang="en-US"/>
          </a:p>
        </p:txBody>
      </p:sp>
      <p:sp>
        <p:nvSpPr>
          <p:cNvPr id="46" name="Freeform 46">
            <a:extLst>
              <a:ext uri="{FF2B5EF4-FFF2-40B4-BE49-F238E27FC236}">
                <a16:creationId xmlns:a16="http://schemas.microsoft.com/office/drawing/2014/main" id="{B456F71D-534F-11CB-C9A7-66495D9CC35B}"/>
              </a:ext>
            </a:extLst>
          </p:cNvPr>
          <p:cNvSpPr/>
          <p:nvPr/>
        </p:nvSpPr>
        <p:spPr>
          <a:xfrm>
            <a:off x="9677400" y="3643674"/>
            <a:ext cx="7341834" cy="6101660"/>
          </a:xfrm>
          <a:custGeom>
            <a:avLst/>
            <a:gdLst/>
            <a:ahLst/>
            <a:cxnLst/>
            <a:rect l="l" t="t" r="r" b="b"/>
            <a:pathLst>
              <a:path w="4053511" h="3368797">
                <a:moveTo>
                  <a:pt x="0" y="0"/>
                </a:moveTo>
                <a:lnTo>
                  <a:pt x="4053512" y="0"/>
                </a:lnTo>
                <a:lnTo>
                  <a:pt x="4053512" y="3368797"/>
                </a:lnTo>
                <a:lnTo>
                  <a:pt x="0" y="3368797"/>
                </a:lnTo>
                <a:lnTo>
                  <a:pt x="0" y="0"/>
                </a:lnTo>
                <a:close/>
              </a:path>
            </a:pathLst>
          </a:custGeom>
          <a:blipFill>
            <a:blip r:embed="rId5"/>
            <a:stretch>
              <a:fillRect/>
            </a:stretch>
          </a:blipFill>
        </p:spPr>
        <p:txBody>
          <a:bodyPr/>
          <a:lstStyle/>
          <a:p>
            <a:endParaRPr lang="en-US"/>
          </a:p>
        </p:txBody>
      </p:sp>
      <p:sp>
        <p:nvSpPr>
          <p:cNvPr id="50" name="AutoShape 50">
            <a:extLst>
              <a:ext uri="{FF2B5EF4-FFF2-40B4-BE49-F238E27FC236}">
                <a16:creationId xmlns:a16="http://schemas.microsoft.com/office/drawing/2014/main" id="{5EEE1B5F-91E7-490C-4855-5953F5662419}"/>
              </a:ext>
            </a:extLst>
          </p:cNvPr>
          <p:cNvSpPr/>
          <p:nvPr/>
        </p:nvSpPr>
        <p:spPr>
          <a:xfrm>
            <a:off x="204787" y="3308484"/>
            <a:ext cx="17878425" cy="0"/>
          </a:xfrm>
          <a:prstGeom prst="line">
            <a:avLst/>
          </a:prstGeom>
          <a:ln w="19050" cap="rnd">
            <a:solidFill>
              <a:srgbClr val="0151B8"/>
            </a:solidFill>
            <a:prstDash val="solid"/>
            <a:headEnd type="none" w="sm" len="sm"/>
            <a:tailEnd type="none" w="sm" len="sm"/>
          </a:ln>
        </p:spPr>
        <p:txBody>
          <a:bodyPr/>
          <a:lstStyle/>
          <a:p>
            <a:endParaRPr lang="en-US"/>
          </a:p>
        </p:txBody>
      </p:sp>
      <p:sp>
        <p:nvSpPr>
          <p:cNvPr id="52" name="TextBox 52">
            <a:extLst>
              <a:ext uri="{FF2B5EF4-FFF2-40B4-BE49-F238E27FC236}">
                <a16:creationId xmlns:a16="http://schemas.microsoft.com/office/drawing/2014/main" id="{27E6F18A-B6FA-7454-F7BE-241D4DA40B96}"/>
              </a:ext>
            </a:extLst>
          </p:cNvPr>
          <p:cNvSpPr txBox="1"/>
          <p:nvPr/>
        </p:nvSpPr>
        <p:spPr>
          <a:xfrm>
            <a:off x="8153400" y="-736319"/>
            <a:ext cx="4010025" cy="368300"/>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3131"/>
                </a:solidFill>
                <a:latin typeface="Poppins"/>
                <a:ea typeface="Poppins"/>
                <a:cs typeface="Poppins"/>
                <a:sym typeface="Poppins"/>
              </a:rPr>
              <a:t>CƠ ĐỊA</a:t>
            </a:r>
          </a:p>
        </p:txBody>
      </p:sp>
      <p:sp>
        <p:nvSpPr>
          <p:cNvPr id="53" name="TextBox 53">
            <a:extLst>
              <a:ext uri="{FF2B5EF4-FFF2-40B4-BE49-F238E27FC236}">
                <a16:creationId xmlns:a16="http://schemas.microsoft.com/office/drawing/2014/main" id="{CC846B3D-FCAA-55F0-4860-2BE99BDE2CD5}"/>
              </a:ext>
            </a:extLst>
          </p:cNvPr>
          <p:cNvSpPr txBox="1"/>
          <p:nvPr/>
        </p:nvSpPr>
        <p:spPr>
          <a:xfrm>
            <a:off x="365430" y="216538"/>
            <a:ext cx="7427796" cy="740780"/>
          </a:xfrm>
          <a:prstGeom prst="rect">
            <a:avLst/>
          </a:prstGeom>
        </p:spPr>
        <p:txBody>
          <a:bodyPr wrap="square" lIns="0" tIns="0" rIns="0" bIns="0" rtlCol="0" anchor="t">
            <a:spAutoFit/>
          </a:bodyPr>
          <a:lstStyle/>
          <a:p>
            <a:pPr marL="0" lvl="0" indent="0" algn="l">
              <a:lnSpc>
                <a:spcPts val="6201"/>
              </a:lnSpc>
              <a:spcBef>
                <a:spcPct val="0"/>
              </a:spcBef>
            </a:pPr>
            <a:r>
              <a:rPr lang="en-US" sz="4200" b="1" u="none" strike="noStrike">
                <a:solidFill>
                  <a:srgbClr val="000000"/>
                </a:solidFill>
                <a:latin typeface="Poppins Bold"/>
                <a:ea typeface="Poppins Bold"/>
                <a:cs typeface="Poppins Bold"/>
                <a:sym typeface="Poppins Bold"/>
              </a:rPr>
              <a:t>EDA 1 - Tổng quan dữ liệu</a:t>
            </a:r>
          </a:p>
        </p:txBody>
      </p:sp>
      <p:grpSp>
        <p:nvGrpSpPr>
          <p:cNvPr id="58" name="Group 57">
            <a:extLst>
              <a:ext uri="{FF2B5EF4-FFF2-40B4-BE49-F238E27FC236}">
                <a16:creationId xmlns:a16="http://schemas.microsoft.com/office/drawing/2014/main" id="{0732F71B-6369-849D-ED3C-752D74AA654F}"/>
              </a:ext>
            </a:extLst>
          </p:cNvPr>
          <p:cNvGrpSpPr/>
          <p:nvPr/>
        </p:nvGrpSpPr>
        <p:grpSpPr>
          <a:xfrm>
            <a:off x="1480171" y="3581545"/>
            <a:ext cx="5759962" cy="6312352"/>
            <a:chOff x="596287" y="3145865"/>
            <a:chExt cx="3563065" cy="3904769"/>
          </a:xfrm>
        </p:grpSpPr>
        <p:sp>
          <p:nvSpPr>
            <p:cNvPr id="51" name="Freeform 51">
              <a:extLst>
                <a:ext uri="{FF2B5EF4-FFF2-40B4-BE49-F238E27FC236}">
                  <a16:creationId xmlns:a16="http://schemas.microsoft.com/office/drawing/2014/main" id="{E751E7A1-1D78-05EA-FCDF-E734EB339118}"/>
                </a:ext>
              </a:extLst>
            </p:cNvPr>
            <p:cNvSpPr/>
            <p:nvPr/>
          </p:nvSpPr>
          <p:spPr>
            <a:xfrm>
              <a:off x="596287" y="3546625"/>
              <a:ext cx="3563065" cy="3504009"/>
            </a:xfrm>
            <a:custGeom>
              <a:avLst/>
              <a:gdLst/>
              <a:ahLst/>
              <a:cxnLst/>
              <a:rect l="l" t="t" r="r" b="b"/>
              <a:pathLst>
                <a:path w="3563065" h="3504009">
                  <a:moveTo>
                    <a:pt x="0" y="0"/>
                  </a:moveTo>
                  <a:lnTo>
                    <a:pt x="3563066" y="0"/>
                  </a:lnTo>
                  <a:lnTo>
                    <a:pt x="3563066" y="3504009"/>
                  </a:lnTo>
                  <a:lnTo>
                    <a:pt x="0" y="3504009"/>
                  </a:lnTo>
                  <a:lnTo>
                    <a:pt x="0" y="0"/>
                  </a:lnTo>
                  <a:close/>
                </a:path>
              </a:pathLst>
            </a:custGeom>
            <a:blipFill>
              <a:blip r:embed="rId6"/>
              <a:stretch>
                <a:fillRect/>
              </a:stretch>
            </a:blipFill>
          </p:spPr>
          <p:txBody>
            <a:bodyPr/>
            <a:lstStyle/>
            <a:p>
              <a:endParaRPr lang="en-US"/>
            </a:p>
          </p:txBody>
        </p:sp>
        <p:sp>
          <p:nvSpPr>
            <p:cNvPr id="54" name="TextBox 54">
              <a:extLst>
                <a:ext uri="{FF2B5EF4-FFF2-40B4-BE49-F238E27FC236}">
                  <a16:creationId xmlns:a16="http://schemas.microsoft.com/office/drawing/2014/main" id="{3A60B7E1-7DF1-BBE1-6A00-692C6A4A0B8E}"/>
                </a:ext>
              </a:extLst>
            </p:cNvPr>
            <p:cNvSpPr txBox="1"/>
            <p:nvPr/>
          </p:nvSpPr>
          <p:spPr>
            <a:xfrm>
              <a:off x="928703" y="3145865"/>
              <a:ext cx="3214146" cy="350423"/>
            </a:xfrm>
            <a:prstGeom prst="rect">
              <a:avLst/>
            </a:prstGeom>
          </p:spPr>
          <p:txBody>
            <a:bodyPr lIns="0" tIns="0" rIns="0" bIns="0" rtlCol="0" anchor="t">
              <a:spAutoFit/>
            </a:bodyPr>
            <a:lstStyle/>
            <a:p>
              <a:pPr algn="ctr">
                <a:lnSpc>
                  <a:spcPts val="2735"/>
                </a:lnSpc>
                <a:spcBef>
                  <a:spcPct val="0"/>
                </a:spcBef>
              </a:pPr>
              <a:r>
                <a:rPr lang="en-US" sz="1953">
                  <a:solidFill>
                    <a:srgbClr val="FF3131"/>
                  </a:solidFill>
                  <a:latin typeface="Poppins"/>
                  <a:ea typeface="Poppins"/>
                  <a:cs typeface="Poppins"/>
                  <a:sym typeface="Poppins"/>
                </a:rPr>
                <a:t>Dinh Dưỡng Và Sinh Hoạt</a:t>
              </a:r>
            </a:p>
          </p:txBody>
        </p:sp>
      </p:grpSp>
      <p:grpSp>
        <p:nvGrpSpPr>
          <p:cNvPr id="59" name="Group 58">
            <a:extLst>
              <a:ext uri="{FF2B5EF4-FFF2-40B4-BE49-F238E27FC236}">
                <a16:creationId xmlns:a16="http://schemas.microsoft.com/office/drawing/2014/main" id="{1BB43123-B796-26A1-791B-A6BC17EEC4E2}"/>
              </a:ext>
            </a:extLst>
          </p:cNvPr>
          <p:cNvGrpSpPr/>
          <p:nvPr/>
        </p:nvGrpSpPr>
        <p:grpSpPr>
          <a:xfrm>
            <a:off x="19269706" y="3533935"/>
            <a:ext cx="4111198" cy="5100165"/>
            <a:chOff x="5390960" y="3866959"/>
            <a:chExt cx="4111198" cy="5100165"/>
          </a:xfrm>
        </p:grpSpPr>
        <p:sp>
          <p:nvSpPr>
            <p:cNvPr id="47" name="Freeform 47">
              <a:extLst>
                <a:ext uri="{FF2B5EF4-FFF2-40B4-BE49-F238E27FC236}">
                  <a16:creationId xmlns:a16="http://schemas.microsoft.com/office/drawing/2014/main" id="{67B6D60A-7ECB-333D-4566-811DEF01CCC2}"/>
                </a:ext>
              </a:extLst>
            </p:cNvPr>
            <p:cNvSpPr/>
            <p:nvPr/>
          </p:nvSpPr>
          <p:spPr>
            <a:xfrm>
              <a:off x="5390960" y="4286862"/>
              <a:ext cx="4111198" cy="4680262"/>
            </a:xfrm>
            <a:custGeom>
              <a:avLst/>
              <a:gdLst/>
              <a:ahLst/>
              <a:cxnLst/>
              <a:rect l="l" t="t" r="r" b="b"/>
              <a:pathLst>
                <a:path w="4111198" h="4680262">
                  <a:moveTo>
                    <a:pt x="0" y="0"/>
                  </a:moveTo>
                  <a:lnTo>
                    <a:pt x="4111198" y="0"/>
                  </a:lnTo>
                  <a:lnTo>
                    <a:pt x="4111198" y="4680263"/>
                  </a:lnTo>
                  <a:lnTo>
                    <a:pt x="0" y="4680263"/>
                  </a:lnTo>
                  <a:lnTo>
                    <a:pt x="0" y="0"/>
                  </a:lnTo>
                  <a:close/>
                </a:path>
              </a:pathLst>
            </a:custGeom>
            <a:blipFill>
              <a:blip r:embed="rId7"/>
              <a:stretch>
                <a:fillRect/>
              </a:stretch>
            </a:blipFill>
          </p:spPr>
          <p:txBody>
            <a:bodyPr/>
            <a:lstStyle/>
            <a:p>
              <a:endParaRPr lang="en-US"/>
            </a:p>
          </p:txBody>
        </p:sp>
        <p:sp>
          <p:nvSpPr>
            <p:cNvPr id="55" name="TextBox 55">
              <a:extLst>
                <a:ext uri="{FF2B5EF4-FFF2-40B4-BE49-F238E27FC236}">
                  <a16:creationId xmlns:a16="http://schemas.microsoft.com/office/drawing/2014/main" id="{70E343EB-0A3D-7DAD-17CC-255B3F50C2B2}"/>
                </a:ext>
              </a:extLst>
            </p:cNvPr>
            <p:cNvSpPr txBox="1"/>
            <p:nvPr/>
          </p:nvSpPr>
          <p:spPr>
            <a:xfrm>
              <a:off x="6863055" y="3866959"/>
              <a:ext cx="1126629" cy="350423"/>
            </a:xfrm>
            <a:prstGeom prst="rect">
              <a:avLst/>
            </a:prstGeom>
          </p:spPr>
          <p:txBody>
            <a:bodyPr lIns="0" tIns="0" rIns="0" bIns="0" rtlCol="0" anchor="t">
              <a:spAutoFit/>
            </a:bodyPr>
            <a:lstStyle/>
            <a:p>
              <a:pPr algn="ctr">
                <a:lnSpc>
                  <a:spcPts val="2735"/>
                </a:lnSpc>
                <a:spcBef>
                  <a:spcPct val="0"/>
                </a:spcBef>
              </a:pPr>
              <a:r>
                <a:rPr lang="en-US" sz="1953">
                  <a:solidFill>
                    <a:srgbClr val="FF3A3A"/>
                  </a:solidFill>
                  <a:latin typeface="Poppins"/>
                  <a:ea typeface="Poppins"/>
                  <a:cs typeface="Poppins"/>
                  <a:sym typeface="Poppins"/>
                </a:rPr>
                <a:t>Di Truyền</a:t>
              </a:r>
            </a:p>
          </p:txBody>
        </p:sp>
      </p:grpSp>
      <p:sp>
        <p:nvSpPr>
          <p:cNvPr id="57" name="Slide Number Placeholder 56">
            <a:extLst>
              <a:ext uri="{FF2B5EF4-FFF2-40B4-BE49-F238E27FC236}">
                <a16:creationId xmlns:a16="http://schemas.microsoft.com/office/drawing/2014/main" id="{273FB9B1-D7E2-A8DB-A7F2-42E038485DA9}"/>
              </a:ext>
            </a:extLst>
          </p:cNvPr>
          <p:cNvSpPr>
            <a:spLocks noGrp="1"/>
          </p:cNvSpPr>
          <p:nvPr>
            <p:ph type="sldNum" sz="quarter" idx="12"/>
          </p:nvPr>
        </p:nvSpPr>
        <p:spPr>
          <a:xfrm>
            <a:off x="15741029" y="9745334"/>
            <a:ext cx="2133600" cy="365125"/>
          </a:xfrm>
        </p:spPr>
        <p:txBody>
          <a:bodyPr/>
          <a:lstStyle/>
          <a:p>
            <a:fld id="{B6F15528-21DE-4FAA-801E-634DDDAF4B2B}" type="slidenum">
              <a:rPr lang="en-US" smtClean="0"/>
              <a:pPr/>
              <a:t>7</a:t>
            </a:fld>
            <a:endParaRPr lang="en-US"/>
          </a:p>
        </p:txBody>
      </p:sp>
    </p:spTree>
    <p:extLst>
      <p:ext uri="{BB962C8B-B14F-4D97-AF65-F5344CB8AC3E}">
        <p14:creationId xmlns:p14="http://schemas.microsoft.com/office/powerpoint/2010/main" val="571915691"/>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D21B7A-9ED7-9095-9A55-16E49CC9C466}"/>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00053A72-A879-85F9-7B8B-AFA5FBF33B65}"/>
              </a:ext>
            </a:extLst>
          </p:cNvPr>
          <p:cNvGrpSpPr/>
          <p:nvPr/>
        </p:nvGrpSpPr>
        <p:grpSpPr>
          <a:xfrm rot="-5400000">
            <a:off x="2713749" y="-3773626"/>
            <a:ext cx="1521975" cy="8651494"/>
            <a:chOff x="0" y="0"/>
            <a:chExt cx="593374" cy="2377997"/>
          </a:xfrm>
        </p:grpSpPr>
        <p:sp>
          <p:nvSpPr>
            <p:cNvPr id="3" name="Freeform 3">
              <a:extLst>
                <a:ext uri="{FF2B5EF4-FFF2-40B4-BE49-F238E27FC236}">
                  <a16:creationId xmlns:a16="http://schemas.microsoft.com/office/drawing/2014/main" id="{07FB2414-66A9-5F7F-7286-DF6BA76752CD}"/>
                </a:ext>
              </a:extLst>
            </p:cNvPr>
            <p:cNvSpPr/>
            <p:nvPr/>
          </p:nvSpPr>
          <p:spPr>
            <a:xfrm>
              <a:off x="0" y="0"/>
              <a:ext cx="593374" cy="2377997"/>
            </a:xfrm>
            <a:custGeom>
              <a:avLst/>
              <a:gdLst/>
              <a:ahLst/>
              <a:cxnLst/>
              <a:rect l="l" t="t" r="r" b="b"/>
              <a:pathLst>
                <a:path w="593374" h="2377997">
                  <a:moveTo>
                    <a:pt x="296687" y="0"/>
                  </a:moveTo>
                  <a:lnTo>
                    <a:pt x="296687" y="0"/>
                  </a:lnTo>
                  <a:cubicBezTo>
                    <a:pt x="375373" y="0"/>
                    <a:pt x="450837" y="31258"/>
                    <a:pt x="506476" y="86898"/>
                  </a:cubicBezTo>
                  <a:cubicBezTo>
                    <a:pt x="562116" y="142537"/>
                    <a:pt x="593374" y="218001"/>
                    <a:pt x="593374" y="296687"/>
                  </a:cubicBezTo>
                  <a:lnTo>
                    <a:pt x="593374" y="2081310"/>
                  </a:lnTo>
                  <a:cubicBezTo>
                    <a:pt x="593374" y="2159997"/>
                    <a:pt x="562116" y="2235460"/>
                    <a:pt x="506476" y="2291100"/>
                  </a:cubicBezTo>
                  <a:cubicBezTo>
                    <a:pt x="450837" y="2346740"/>
                    <a:pt x="375373" y="2377997"/>
                    <a:pt x="296687" y="2377997"/>
                  </a:cubicBezTo>
                  <a:lnTo>
                    <a:pt x="296687" y="2377997"/>
                  </a:lnTo>
                  <a:cubicBezTo>
                    <a:pt x="218001" y="2377997"/>
                    <a:pt x="142537" y="2346740"/>
                    <a:pt x="86898" y="2291100"/>
                  </a:cubicBezTo>
                  <a:cubicBezTo>
                    <a:pt x="31258" y="2235460"/>
                    <a:pt x="0" y="2159997"/>
                    <a:pt x="0" y="2081310"/>
                  </a:cubicBezTo>
                  <a:lnTo>
                    <a:pt x="0" y="296687"/>
                  </a:lnTo>
                  <a:cubicBezTo>
                    <a:pt x="0" y="218001"/>
                    <a:pt x="31258" y="142537"/>
                    <a:pt x="86898" y="86898"/>
                  </a:cubicBezTo>
                  <a:cubicBezTo>
                    <a:pt x="142537" y="31258"/>
                    <a:pt x="218001" y="0"/>
                    <a:pt x="296687" y="0"/>
                  </a:cubicBezTo>
                  <a:close/>
                </a:path>
              </a:pathLst>
            </a:custGeom>
            <a:gradFill rotWithShape="1">
              <a:gsLst>
                <a:gs pos="0">
                  <a:srgbClr val="398DFA">
                    <a:alpha val="50000"/>
                  </a:srgbClr>
                </a:gs>
                <a:gs pos="50000">
                  <a:srgbClr val="0151B8">
                    <a:alpha val="12000"/>
                  </a:srgbClr>
                </a:gs>
                <a:gs pos="100000">
                  <a:srgbClr val="0151B8">
                    <a:alpha val="0"/>
                  </a:srgbClr>
                </a:gs>
              </a:gsLst>
              <a:lin ang="0"/>
            </a:gradFill>
          </p:spPr>
          <p:txBody>
            <a:bodyPr/>
            <a:lstStyle/>
            <a:p>
              <a:endParaRPr lang="en-US"/>
            </a:p>
          </p:txBody>
        </p:sp>
        <p:sp>
          <p:nvSpPr>
            <p:cNvPr id="4" name="TextBox 4">
              <a:extLst>
                <a:ext uri="{FF2B5EF4-FFF2-40B4-BE49-F238E27FC236}">
                  <a16:creationId xmlns:a16="http://schemas.microsoft.com/office/drawing/2014/main" id="{56C19FCF-E3FF-2EBD-F625-5F566DD19CA7}"/>
                </a:ext>
              </a:extLst>
            </p:cNvPr>
            <p:cNvSpPr txBox="1"/>
            <p:nvPr/>
          </p:nvSpPr>
          <p:spPr>
            <a:xfrm>
              <a:off x="0" y="-38100"/>
              <a:ext cx="593374" cy="2416097"/>
            </a:xfrm>
            <a:prstGeom prst="rect">
              <a:avLst/>
            </a:prstGeom>
          </p:spPr>
          <p:txBody>
            <a:bodyPr lIns="50800" tIns="50800" rIns="50800" bIns="50800" rtlCol="0" anchor="ctr"/>
            <a:lstStyle/>
            <a:p>
              <a:pPr algn="ctr">
                <a:lnSpc>
                  <a:spcPts val="2659"/>
                </a:lnSpc>
                <a:spcBef>
                  <a:spcPct val="0"/>
                </a:spcBef>
              </a:pPr>
              <a:endParaRPr/>
            </a:p>
          </p:txBody>
        </p:sp>
      </p:grpSp>
      <p:sp>
        <p:nvSpPr>
          <p:cNvPr id="5" name="Freeform 5">
            <a:extLst>
              <a:ext uri="{FF2B5EF4-FFF2-40B4-BE49-F238E27FC236}">
                <a16:creationId xmlns:a16="http://schemas.microsoft.com/office/drawing/2014/main" id="{EA1371D8-AE97-AF5A-38CA-DD4F9D938283}"/>
              </a:ext>
            </a:extLst>
          </p:cNvPr>
          <p:cNvSpPr/>
          <p:nvPr/>
        </p:nvSpPr>
        <p:spPr>
          <a:xfrm>
            <a:off x="9268825" y="364303"/>
            <a:ext cx="1233326" cy="664397"/>
          </a:xfrm>
          <a:custGeom>
            <a:avLst/>
            <a:gdLst/>
            <a:ahLst/>
            <a:cxnLst/>
            <a:rect l="l" t="t" r="r" b="b"/>
            <a:pathLst>
              <a:path w="1233326" h="664397">
                <a:moveTo>
                  <a:pt x="0" y="0"/>
                </a:moveTo>
                <a:lnTo>
                  <a:pt x="1233326" y="0"/>
                </a:lnTo>
                <a:lnTo>
                  <a:pt x="1233326" y="664397"/>
                </a:lnTo>
                <a:lnTo>
                  <a:pt x="0" y="664397"/>
                </a:lnTo>
                <a:lnTo>
                  <a:pt x="0" y="0"/>
                </a:lnTo>
                <a:close/>
              </a:path>
            </a:pathLst>
          </a:custGeom>
          <a:blipFill>
            <a:blip>
              <a:extLst>
                <a:ext uri="{96DAC541-7B7A-43D3-8B79-37D633B846F1}">
                  <asvg:svgBlip xmlns:asvg="http://schemas.microsoft.com/office/drawing/2016/SVG/main" r:embed="rId3"/>
                </a:ext>
              </a:extLst>
            </a:blip>
            <a:stretch>
              <a:fillRect b="-85630"/>
            </a:stretch>
          </a:blipFill>
        </p:spPr>
        <p:txBody>
          <a:bodyPr/>
          <a:lstStyle/>
          <a:p>
            <a:endParaRPr lang="en-US"/>
          </a:p>
        </p:txBody>
      </p:sp>
      <p:grpSp>
        <p:nvGrpSpPr>
          <p:cNvPr id="6" name="Group 6">
            <a:extLst>
              <a:ext uri="{FF2B5EF4-FFF2-40B4-BE49-F238E27FC236}">
                <a16:creationId xmlns:a16="http://schemas.microsoft.com/office/drawing/2014/main" id="{DF0DD4CD-331D-AC10-2C19-08FDBC31617F}"/>
              </a:ext>
            </a:extLst>
          </p:cNvPr>
          <p:cNvGrpSpPr/>
          <p:nvPr/>
        </p:nvGrpSpPr>
        <p:grpSpPr>
          <a:xfrm>
            <a:off x="13106400" y="1457795"/>
            <a:ext cx="336668" cy="336668"/>
            <a:chOff x="0" y="0"/>
            <a:chExt cx="812800" cy="812800"/>
          </a:xfrm>
        </p:grpSpPr>
        <p:sp>
          <p:nvSpPr>
            <p:cNvPr id="7" name="Freeform 7">
              <a:extLst>
                <a:ext uri="{FF2B5EF4-FFF2-40B4-BE49-F238E27FC236}">
                  <a16:creationId xmlns:a16="http://schemas.microsoft.com/office/drawing/2014/main" id="{08C9661E-0AE6-092F-CDDE-B780F27DE003}"/>
                </a:ext>
              </a:extLst>
            </p:cNvPr>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8" name="TextBox 8">
              <a:extLst>
                <a:ext uri="{FF2B5EF4-FFF2-40B4-BE49-F238E27FC236}">
                  <a16:creationId xmlns:a16="http://schemas.microsoft.com/office/drawing/2014/main" id="{F6157085-CBC4-CB7D-E6CB-B2DCB08BE55C}"/>
                </a:ext>
              </a:extLst>
            </p:cNvPr>
            <p:cNvSpPr txBox="1"/>
            <p:nvPr/>
          </p:nvSpPr>
          <p:spPr>
            <a:xfrm>
              <a:off x="76200" y="19050"/>
              <a:ext cx="660400" cy="717550"/>
            </a:xfrm>
            <a:prstGeom prst="rect">
              <a:avLst/>
            </a:prstGeom>
          </p:spPr>
          <p:txBody>
            <a:bodyPr lIns="23649" tIns="23649" rIns="23649" bIns="23649" rtlCol="0" anchor="ctr"/>
            <a:lstStyle/>
            <a:p>
              <a:pPr algn="ctr">
                <a:lnSpc>
                  <a:spcPts val="2735"/>
                </a:lnSpc>
              </a:pPr>
              <a:endParaRPr/>
            </a:p>
          </p:txBody>
        </p:sp>
      </p:grpSp>
      <p:grpSp>
        <p:nvGrpSpPr>
          <p:cNvPr id="9" name="Group 9">
            <a:extLst>
              <a:ext uri="{FF2B5EF4-FFF2-40B4-BE49-F238E27FC236}">
                <a16:creationId xmlns:a16="http://schemas.microsoft.com/office/drawing/2014/main" id="{BD55532C-CA37-F861-DC73-CBDDD2D9377E}"/>
              </a:ext>
            </a:extLst>
          </p:cNvPr>
          <p:cNvGrpSpPr/>
          <p:nvPr/>
        </p:nvGrpSpPr>
        <p:grpSpPr>
          <a:xfrm>
            <a:off x="11977751" y="63510"/>
            <a:ext cx="4802842" cy="400237"/>
            <a:chOff x="0" y="0"/>
            <a:chExt cx="6096000" cy="508000"/>
          </a:xfrm>
        </p:grpSpPr>
        <p:sp>
          <p:nvSpPr>
            <p:cNvPr id="10" name="Freeform 10">
              <a:extLst>
                <a:ext uri="{FF2B5EF4-FFF2-40B4-BE49-F238E27FC236}">
                  <a16:creationId xmlns:a16="http://schemas.microsoft.com/office/drawing/2014/main" id="{A0B24390-348A-715C-45CC-0204DA4312FD}"/>
                </a:ext>
              </a:extLst>
            </p:cNvPr>
            <p:cNvSpPr/>
            <p:nvPr/>
          </p:nvSpPr>
          <p:spPr>
            <a:xfrm>
              <a:off x="0" y="0"/>
              <a:ext cx="6096000" cy="508000"/>
            </a:xfrm>
            <a:custGeom>
              <a:avLst/>
              <a:gdLst/>
              <a:ahLst/>
              <a:cxnLst/>
              <a:rect l="l" t="t" r="r" b="b"/>
              <a:pathLst>
                <a:path w="6096000" h="508000">
                  <a:moveTo>
                    <a:pt x="0" y="0"/>
                  </a:moveTo>
                  <a:lnTo>
                    <a:pt x="6096000" y="0"/>
                  </a:lnTo>
                  <a:lnTo>
                    <a:pt x="6096000" y="508000"/>
                  </a:lnTo>
                  <a:lnTo>
                    <a:pt x="0" y="508000"/>
                  </a:lnTo>
                  <a:close/>
                </a:path>
              </a:pathLst>
            </a:custGeom>
            <a:solidFill>
              <a:srgbClr val="E8F4FD"/>
            </a:solidFill>
            <a:ln w="19050" cap="sq">
              <a:solidFill>
                <a:srgbClr val="0151B8"/>
              </a:solidFill>
              <a:prstDash val="solid"/>
              <a:miter/>
            </a:ln>
          </p:spPr>
          <p:txBody>
            <a:bodyPr/>
            <a:lstStyle/>
            <a:p>
              <a:endParaRPr lang="en-US"/>
            </a:p>
          </p:txBody>
        </p:sp>
        <p:sp>
          <p:nvSpPr>
            <p:cNvPr id="11" name="TextBox 11">
              <a:extLst>
                <a:ext uri="{FF2B5EF4-FFF2-40B4-BE49-F238E27FC236}">
                  <a16:creationId xmlns:a16="http://schemas.microsoft.com/office/drawing/2014/main" id="{1CECE24B-8B30-410B-2C3A-2226D9D66441}"/>
                </a:ext>
              </a:extLst>
            </p:cNvPr>
            <p:cNvSpPr txBox="1"/>
            <p:nvPr/>
          </p:nvSpPr>
          <p:spPr>
            <a:xfrm>
              <a:off x="0" y="-57150"/>
              <a:ext cx="6096000" cy="565150"/>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151B8"/>
                  </a:solidFill>
                  <a:latin typeface="Poppins"/>
                  <a:ea typeface="Poppins"/>
                  <a:cs typeface="Poppins"/>
                  <a:sym typeface="Poppins"/>
                </a:rPr>
                <a:t>Age</a:t>
              </a:r>
            </a:p>
          </p:txBody>
        </p:sp>
      </p:grpSp>
      <p:grpSp>
        <p:nvGrpSpPr>
          <p:cNvPr id="12" name="Group 12">
            <a:extLst>
              <a:ext uri="{FF2B5EF4-FFF2-40B4-BE49-F238E27FC236}">
                <a16:creationId xmlns:a16="http://schemas.microsoft.com/office/drawing/2014/main" id="{60F8A430-5334-EE6C-23C5-336F87A0C686}"/>
              </a:ext>
            </a:extLst>
          </p:cNvPr>
          <p:cNvGrpSpPr/>
          <p:nvPr/>
        </p:nvGrpSpPr>
        <p:grpSpPr>
          <a:xfrm>
            <a:off x="11977751" y="463747"/>
            <a:ext cx="1600947" cy="360213"/>
            <a:chOff x="0" y="0"/>
            <a:chExt cx="2032000" cy="457200"/>
          </a:xfrm>
        </p:grpSpPr>
        <p:sp>
          <p:nvSpPr>
            <p:cNvPr id="13" name="Freeform 13">
              <a:extLst>
                <a:ext uri="{FF2B5EF4-FFF2-40B4-BE49-F238E27FC236}">
                  <a16:creationId xmlns:a16="http://schemas.microsoft.com/office/drawing/2014/main" id="{3C6E049D-7D05-AE22-997C-AAEB13E6B882}"/>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14" name="TextBox 14">
              <a:extLst>
                <a:ext uri="{FF2B5EF4-FFF2-40B4-BE49-F238E27FC236}">
                  <a16:creationId xmlns:a16="http://schemas.microsoft.com/office/drawing/2014/main" id="{D5AFA2CA-2331-27E1-7343-75612E8CCEB0}"/>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Mean = 23.84</a:t>
              </a:r>
            </a:p>
          </p:txBody>
        </p:sp>
      </p:grpSp>
      <p:grpSp>
        <p:nvGrpSpPr>
          <p:cNvPr id="15" name="Group 15">
            <a:extLst>
              <a:ext uri="{FF2B5EF4-FFF2-40B4-BE49-F238E27FC236}">
                <a16:creationId xmlns:a16="http://schemas.microsoft.com/office/drawing/2014/main" id="{BC0884C2-A7F7-7628-834E-4EA5494BEB1F}"/>
              </a:ext>
            </a:extLst>
          </p:cNvPr>
          <p:cNvGrpSpPr/>
          <p:nvPr/>
        </p:nvGrpSpPr>
        <p:grpSpPr>
          <a:xfrm>
            <a:off x="13578699" y="463747"/>
            <a:ext cx="1600947" cy="360213"/>
            <a:chOff x="0" y="0"/>
            <a:chExt cx="2032000" cy="457200"/>
          </a:xfrm>
        </p:grpSpPr>
        <p:sp>
          <p:nvSpPr>
            <p:cNvPr id="16" name="Freeform 16">
              <a:extLst>
                <a:ext uri="{FF2B5EF4-FFF2-40B4-BE49-F238E27FC236}">
                  <a16:creationId xmlns:a16="http://schemas.microsoft.com/office/drawing/2014/main" id="{0959A57B-D3CB-8D32-7DE5-08AE3C226655}"/>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17" name="TextBox 17">
              <a:extLst>
                <a:ext uri="{FF2B5EF4-FFF2-40B4-BE49-F238E27FC236}">
                  <a16:creationId xmlns:a16="http://schemas.microsoft.com/office/drawing/2014/main" id="{1C018E80-0212-A1EE-4990-485B08CA2AED}"/>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Max = 61</a:t>
              </a:r>
            </a:p>
          </p:txBody>
        </p:sp>
      </p:grpSp>
      <p:grpSp>
        <p:nvGrpSpPr>
          <p:cNvPr id="18" name="Group 18">
            <a:extLst>
              <a:ext uri="{FF2B5EF4-FFF2-40B4-BE49-F238E27FC236}">
                <a16:creationId xmlns:a16="http://schemas.microsoft.com/office/drawing/2014/main" id="{77EC5727-F739-9B46-9F3F-5F963D2B8927}"/>
              </a:ext>
            </a:extLst>
          </p:cNvPr>
          <p:cNvGrpSpPr/>
          <p:nvPr/>
        </p:nvGrpSpPr>
        <p:grpSpPr>
          <a:xfrm>
            <a:off x="15179646" y="463747"/>
            <a:ext cx="1600947" cy="360213"/>
            <a:chOff x="0" y="0"/>
            <a:chExt cx="2032000" cy="457200"/>
          </a:xfrm>
        </p:grpSpPr>
        <p:sp>
          <p:nvSpPr>
            <p:cNvPr id="19" name="Freeform 19">
              <a:extLst>
                <a:ext uri="{FF2B5EF4-FFF2-40B4-BE49-F238E27FC236}">
                  <a16:creationId xmlns:a16="http://schemas.microsoft.com/office/drawing/2014/main" id="{29FA5F62-AC0A-484E-7F05-503D221C169F}"/>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20" name="TextBox 20">
              <a:extLst>
                <a:ext uri="{FF2B5EF4-FFF2-40B4-BE49-F238E27FC236}">
                  <a16:creationId xmlns:a16="http://schemas.microsoft.com/office/drawing/2014/main" id="{C88CD1E0-5E45-4FF2-6FAB-D97C8E5AE359}"/>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Min = 14</a:t>
              </a:r>
            </a:p>
          </p:txBody>
        </p:sp>
      </p:grpSp>
      <p:grpSp>
        <p:nvGrpSpPr>
          <p:cNvPr id="21" name="Group 21">
            <a:extLst>
              <a:ext uri="{FF2B5EF4-FFF2-40B4-BE49-F238E27FC236}">
                <a16:creationId xmlns:a16="http://schemas.microsoft.com/office/drawing/2014/main" id="{C393F6DC-054F-6A1B-898F-107564B92A52}"/>
              </a:ext>
            </a:extLst>
          </p:cNvPr>
          <p:cNvGrpSpPr/>
          <p:nvPr/>
        </p:nvGrpSpPr>
        <p:grpSpPr>
          <a:xfrm>
            <a:off x="11970493" y="1890202"/>
            <a:ext cx="4802842" cy="400237"/>
            <a:chOff x="0" y="0"/>
            <a:chExt cx="6096000" cy="508000"/>
          </a:xfrm>
        </p:grpSpPr>
        <p:sp>
          <p:nvSpPr>
            <p:cNvPr id="22" name="Freeform 22">
              <a:extLst>
                <a:ext uri="{FF2B5EF4-FFF2-40B4-BE49-F238E27FC236}">
                  <a16:creationId xmlns:a16="http://schemas.microsoft.com/office/drawing/2014/main" id="{035504D0-AE10-DFB2-32FC-99EA8CF1F22F}"/>
                </a:ext>
              </a:extLst>
            </p:cNvPr>
            <p:cNvSpPr/>
            <p:nvPr/>
          </p:nvSpPr>
          <p:spPr>
            <a:xfrm>
              <a:off x="0" y="0"/>
              <a:ext cx="6096000" cy="508000"/>
            </a:xfrm>
            <a:custGeom>
              <a:avLst/>
              <a:gdLst/>
              <a:ahLst/>
              <a:cxnLst/>
              <a:rect l="l" t="t" r="r" b="b"/>
              <a:pathLst>
                <a:path w="6096000" h="508000">
                  <a:moveTo>
                    <a:pt x="0" y="0"/>
                  </a:moveTo>
                  <a:lnTo>
                    <a:pt x="6096000" y="0"/>
                  </a:lnTo>
                  <a:lnTo>
                    <a:pt x="6096000" y="508000"/>
                  </a:lnTo>
                  <a:lnTo>
                    <a:pt x="0" y="508000"/>
                  </a:lnTo>
                  <a:close/>
                </a:path>
              </a:pathLst>
            </a:custGeom>
            <a:solidFill>
              <a:srgbClr val="E8F4FD"/>
            </a:solidFill>
            <a:ln w="19050" cap="sq">
              <a:solidFill>
                <a:srgbClr val="0151B8"/>
              </a:solidFill>
              <a:prstDash val="solid"/>
              <a:miter/>
            </a:ln>
          </p:spPr>
          <p:txBody>
            <a:bodyPr/>
            <a:lstStyle/>
            <a:p>
              <a:endParaRPr lang="en-US"/>
            </a:p>
          </p:txBody>
        </p:sp>
        <p:sp>
          <p:nvSpPr>
            <p:cNvPr id="23" name="TextBox 23">
              <a:extLst>
                <a:ext uri="{FF2B5EF4-FFF2-40B4-BE49-F238E27FC236}">
                  <a16:creationId xmlns:a16="http://schemas.microsoft.com/office/drawing/2014/main" id="{6AF7DA27-26EC-DB7B-4ECC-915CBAA4CFCC}"/>
                </a:ext>
              </a:extLst>
            </p:cNvPr>
            <p:cNvSpPr txBox="1"/>
            <p:nvPr/>
          </p:nvSpPr>
          <p:spPr>
            <a:xfrm>
              <a:off x="0" y="-57150"/>
              <a:ext cx="6096000" cy="565150"/>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151B8"/>
                  </a:solidFill>
                  <a:latin typeface="Poppins"/>
                  <a:ea typeface="Poppins"/>
                  <a:cs typeface="Poppins"/>
                  <a:sym typeface="Poppins"/>
                </a:rPr>
                <a:t>Height</a:t>
              </a:r>
            </a:p>
          </p:txBody>
        </p:sp>
      </p:grpSp>
      <p:grpSp>
        <p:nvGrpSpPr>
          <p:cNvPr id="24" name="Group 24">
            <a:extLst>
              <a:ext uri="{FF2B5EF4-FFF2-40B4-BE49-F238E27FC236}">
                <a16:creationId xmlns:a16="http://schemas.microsoft.com/office/drawing/2014/main" id="{98FFEF7E-667F-065F-7FCC-5523C39B167D}"/>
              </a:ext>
            </a:extLst>
          </p:cNvPr>
          <p:cNvGrpSpPr/>
          <p:nvPr/>
        </p:nvGrpSpPr>
        <p:grpSpPr>
          <a:xfrm>
            <a:off x="11970493" y="2290439"/>
            <a:ext cx="1600947" cy="360213"/>
            <a:chOff x="0" y="0"/>
            <a:chExt cx="2032000" cy="457200"/>
          </a:xfrm>
        </p:grpSpPr>
        <p:sp>
          <p:nvSpPr>
            <p:cNvPr id="25" name="Freeform 25">
              <a:extLst>
                <a:ext uri="{FF2B5EF4-FFF2-40B4-BE49-F238E27FC236}">
                  <a16:creationId xmlns:a16="http://schemas.microsoft.com/office/drawing/2014/main" id="{A54422C7-07C1-246D-F9D8-07DDD9F827B9}"/>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26" name="TextBox 26">
              <a:extLst>
                <a:ext uri="{FF2B5EF4-FFF2-40B4-BE49-F238E27FC236}">
                  <a16:creationId xmlns:a16="http://schemas.microsoft.com/office/drawing/2014/main" id="{E1F1C6D0-912D-22E2-D7F2-7CB6927DC9A0}"/>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Mean = 1.00</a:t>
              </a:r>
            </a:p>
          </p:txBody>
        </p:sp>
      </p:grpSp>
      <p:grpSp>
        <p:nvGrpSpPr>
          <p:cNvPr id="27" name="Group 27">
            <a:extLst>
              <a:ext uri="{FF2B5EF4-FFF2-40B4-BE49-F238E27FC236}">
                <a16:creationId xmlns:a16="http://schemas.microsoft.com/office/drawing/2014/main" id="{3136FC2A-E3DB-B655-56ED-DE52C1BCD503}"/>
              </a:ext>
            </a:extLst>
          </p:cNvPr>
          <p:cNvGrpSpPr/>
          <p:nvPr/>
        </p:nvGrpSpPr>
        <p:grpSpPr>
          <a:xfrm>
            <a:off x="13571441" y="2290439"/>
            <a:ext cx="1600947" cy="360213"/>
            <a:chOff x="0" y="0"/>
            <a:chExt cx="2032000" cy="457200"/>
          </a:xfrm>
        </p:grpSpPr>
        <p:sp>
          <p:nvSpPr>
            <p:cNvPr id="28" name="Freeform 28">
              <a:extLst>
                <a:ext uri="{FF2B5EF4-FFF2-40B4-BE49-F238E27FC236}">
                  <a16:creationId xmlns:a16="http://schemas.microsoft.com/office/drawing/2014/main" id="{1577730A-8342-5FBD-CAF4-7442AC771B35}"/>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29" name="TextBox 29">
              <a:extLst>
                <a:ext uri="{FF2B5EF4-FFF2-40B4-BE49-F238E27FC236}">
                  <a16:creationId xmlns:a16="http://schemas.microsoft.com/office/drawing/2014/main" id="{40521BF7-06DC-BD22-70AE-DCC9B165596C}"/>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Max = 1.98</a:t>
              </a:r>
            </a:p>
          </p:txBody>
        </p:sp>
      </p:grpSp>
      <p:grpSp>
        <p:nvGrpSpPr>
          <p:cNvPr id="30" name="Group 30">
            <a:extLst>
              <a:ext uri="{FF2B5EF4-FFF2-40B4-BE49-F238E27FC236}">
                <a16:creationId xmlns:a16="http://schemas.microsoft.com/office/drawing/2014/main" id="{343806A3-39E6-76FC-ABF0-3618FB7844D8}"/>
              </a:ext>
            </a:extLst>
          </p:cNvPr>
          <p:cNvGrpSpPr/>
          <p:nvPr/>
        </p:nvGrpSpPr>
        <p:grpSpPr>
          <a:xfrm>
            <a:off x="15172388" y="2290439"/>
            <a:ext cx="1600947" cy="360213"/>
            <a:chOff x="0" y="0"/>
            <a:chExt cx="2032000" cy="457200"/>
          </a:xfrm>
        </p:grpSpPr>
        <p:sp>
          <p:nvSpPr>
            <p:cNvPr id="31" name="Freeform 31">
              <a:extLst>
                <a:ext uri="{FF2B5EF4-FFF2-40B4-BE49-F238E27FC236}">
                  <a16:creationId xmlns:a16="http://schemas.microsoft.com/office/drawing/2014/main" id="{7A657D48-96BB-92C3-9336-38B26F5A944D}"/>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32" name="TextBox 32">
              <a:extLst>
                <a:ext uri="{FF2B5EF4-FFF2-40B4-BE49-F238E27FC236}">
                  <a16:creationId xmlns:a16="http://schemas.microsoft.com/office/drawing/2014/main" id="{A21A37B4-6E80-77AA-1F8B-724C294DBADA}"/>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Min = 1.45</a:t>
              </a:r>
            </a:p>
          </p:txBody>
        </p:sp>
      </p:grpSp>
      <p:grpSp>
        <p:nvGrpSpPr>
          <p:cNvPr id="33" name="Group 33">
            <a:extLst>
              <a:ext uri="{FF2B5EF4-FFF2-40B4-BE49-F238E27FC236}">
                <a16:creationId xmlns:a16="http://schemas.microsoft.com/office/drawing/2014/main" id="{A90A2328-9B66-168F-3BC1-6BE0059FDAC7}"/>
              </a:ext>
            </a:extLst>
          </p:cNvPr>
          <p:cNvGrpSpPr/>
          <p:nvPr/>
        </p:nvGrpSpPr>
        <p:grpSpPr>
          <a:xfrm>
            <a:off x="11970493" y="950402"/>
            <a:ext cx="4802842" cy="400237"/>
            <a:chOff x="0" y="0"/>
            <a:chExt cx="6096000" cy="508000"/>
          </a:xfrm>
        </p:grpSpPr>
        <p:sp>
          <p:nvSpPr>
            <p:cNvPr id="34" name="Freeform 34">
              <a:extLst>
                <a:ext uri="{FF2B5EF4-FFF2-40B4-BE49-F238E27FC236}">
                  <a16:creationId xmlns:a16="http://schemas.microsoft.com/office/drawing/2014/main" id="{5AF1A9E5-7A76-760D-39CB-0F305CC922AA}"/>
                </a:ext>
              </a:extLst>
            </p:cNvPr>
            <p:cNvSpPr/>
            <p:nvPr/>
          </p:nvSpPr>
          <p:spPr>
            <a:xfrm>
              <a:off x="0" y="0"/>
              <a:ext cx="6096000" cy="508000"/>
            </a:xfrm>
            <a:custGeom>
              <a:avLst/>
              <a:gdLst/>
              <a:ahLst/>
              <a:cxnLst/>
              <a:rect l="l" t="t" r="r" b="b"/>
              <a:pathLst>
                <a:path w="6096000" h="508000">
                  <a:moveTo>
                    <a:pt x="0" y="0"/>
                  </a:moveTo>
                  <a:lnTo>
                    <a:pt x="6096000" y="0"/>
                  </a:lnTo>
                  <a:lnTo>
                    <a:pt x="6096000" y="508000"/>
                  </a:lnTo>
                  <a:lnTo>
                    <a:pt x="0" y="508000"/>
                  </a:lnTo>
                  <a:close/>
                </a:path>
              </a:pathLst>
            </a:custGeom>
            <a:solidFill>
              <a:srgbClr val="E8F4FD"/>
            </a:solidFill>
            <a:ln w="19050" cap="sq">
              <a:solidFill>
                <a:srgbClr val="0151B8"/>
              </a:solidFill>
              <a:prstDash val="solid"/>
              <a:miter/>
            </a:ln>
          </p:spPr>
          <p:txBody>
            <a:bodyPr/>
            <a:lstStyle/>
            <a:p>
              <a:endParaRPr lang="en-US"/>
            </a:p>
          </p:txBody>
        </p:sp>
        <p:sp>
          <p:nvSpPr>
            <p:cNvPr id="35" name="TextBox 35">
              <a:extLst>
                <a:ext uri="{FF2B5EF4-FFF2-40B4-BE49-F238E27FC236}">
                  <a16:creationId xmlns:a16="http://schemas.microsoft.com/office/drawing/2014/main" id="{D00AB298-CC4E-61F7-6B3D-C1C5600097CB}"/>
                </a:ext>
              </a:extLst>
            </p:cNvPr>
            <p:cNvSpPr txBox="1"/>
            <p:nvPr/>
          </p:nvSpPr>
          <p:spPr>
            <a:xfrm>
              <a:off x="0" y="-57150"/>
              <a:ext cx="6096000" cy="565150"/>
            </a:xfrm>
            <a:prstGeom prst="rect">
              <a:avLst/>
            </a:prstGeom>
          </p:spPr>
          <p:txBody>
            <a:bodyPr lIns="50800" tIns="50800" rIns="50800" bIns="50800" rtlCol="0" anchor="ctr"/>
            <a:lstStyle/>
            <a:p>
              <a:pPr marL="0" lvl="0" indent="0" algn="ctr">
                <a:lnSpc>
                  <a:spcPts val="2520"/>
                </a:lnSpc>
                <a:spcBef>
                  <a:spcPct val="0"/>
                </a:spcBef>
              </a:pPr>
              <a:r>
                <a:rPr lang="en-US" sz="1800" u="none" strike="noStrike">
                  <a:solidFill>
                    <a:srgbClr val="0151B8"/>
                  </a:solidFill>
                  <a:latin typeface="Poppins"/>
                  <a:ea typeface="Poppins"/>
                  <a:cs typeface="Poppins"/>
                  <a:sym typeface="Poppins"/>
                </a:rPr>
                <a:t>Weight</a:t>
              </a:r>
            </a:p>
          </p:txBody>
        </p:sp>
      </p:grpSp>
      <p:grpSp>
        <p:nvGrpSpPr>
          <p:cNvPr id="36" name="Group 36">
            <a:extLst>
              <a:ext uri="{FF2B5EF4-FFF2-40B4-BE49-F238E27FC236}">
                <a16:creationId xmlns:a16="http://schemas.microsoft.com/office/drawing/2014/main" id="{BDF767F0-6404-8A19-A8D9-554204E961AE}"/>
              </a:ext>
            </a:extLst>
          </p:cNvPr>
          <p:cNvGrpSpPr/>
          <p:nvPr/>
        </p:nvGrpSpPr>
        <p:grpSpPr>
          <a:xfrm>
            <a:off x="11970493" y="1350639"/>
            <a:ext cx="1600947" cy="360213"/>
            <a:chOff x="0" y="0"/>
            <a:chExt cx="2032000" cy="457200"/>
          </a:xfrm>
        </p:grpSpPr>
        <p:sp>
          <p:nvSpPr>
            <p:cNvPr id="37" name="Freeform 37">
              <a:extLst>
                <a:ext uri="{FF2B5EF4-FFF2-40B4-BE49-F238E27FC236}">
                  <a16:creationId xmlns:a16="http://schemas.microsoft.com/office/drawing/2014/main" id="{D541AF7B-81D0-E988-C78C-63D7C5F5965E}"/>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38" name="TextBox 38">
              <a:extLst>
                <a:ext uri="{FF2B5EF4-FFF2-40B4-BE49-F238E27FC236}">
                  <a16:creationId xmlns:a16="http://schemas.microsoft.com/office/drawing/2014/main" id="{AA9E2EA5-E40C-E194-A6F7-68C26B344C8F}"/>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Mean = 87.89</a:t>
              </a:r>
            </a:p>
          </p:txBody>
        </p:sp>
      </p:grpSp>
      <p:grpSp>
        <p:nvGrpSpPr>
          <p:cNvPr id="39" name="Group 39">
            <a:extLst>
              <a:ext uri="{FF2B5EF4-FFF2-40B4-BE49-F238E27FC236}">
                <a16:creationId xmlns:a16="http://schemas.microsoft.com/office/drawing/2014/main" id="{BF493C83-ED73-584F-5F93-5C8F53486D38}"/>
              </a:ext>
            </a:extLst>
          </p:cNvPr>
          <p:cNvGrpSpPr/>
          <p:nvPr/>
        </p:nvGrpSpPr>
        <p:grpSpPr>
          <a:xfrm>
            <a:off x="13571441" y="1350639"/>
            <a:ext cx="1600947" cy="360213"/>
            <a:chOff x="0" y="0"/>
            <a:chExt cx="2032000" cy="457200"/>
          </a:xfrm>
        </p:grpSpPr>
        <p:sp>
          <p:nvSpPr>
            <p:cNvPr id="40" name="Freeform 40">
              <a:extLst>
                <a:ext uri="{FF2B5EF4-FFF2-40B4-BE49-F238E27FC236}">
                  <a16:creationId xmlns:a16="http://schemas.microsoft.com/office/drawing/2014/main" id="{D7F96D16-70F2-96F0-7EAC-A0B2BC232368}"/>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41" name="TextBox 41">
              <a:extLst>
                <a:ext uri="{FF2B5EF4-FFF2-40B4-BE49-F238E27FC236}">
                  <a16:creationId xmlns:a16="http://schemas.microsoft.com/office/drawing/2014/main" id="{F6DE46E8-BBB1-CB83-F8FD-4B45076FAC36}"/>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Max = 165.06</a:t>
              </a:r>
            </a:p>
          </p:txBody>
        </p:sp>
      </p:grpSp>
      <p:grpSp>
        <p:nvGrpSpPr>
          <p:cNvPr id="42" name="Group 42">
            <a:extLst>
              <a:ext uri="{FF2B5EF4-FFF2-40B4-BE49-F238E27FC236}">
                <a16:creationId xmlns:a16="http://schemas.microsoft.com/office/drawing/2014/main" id="{AD274088-8E86-B5A7-80DE-7CC1CC3D15FB}"/>
              </a:ext>
            </a:extLst>
          </p:cNvPr>
          <p:cNvGrpSpPr/>
          <p:nvPr/>
        </p:nvGrpSpPr>
        <p:grpSpPr>
          <a:xfrm>
            <a:off x="15172388" y="1350639"/>
            <a:ext cx="1600947" cy="360213"/>
            <a:chOff x="0" y="0"/>
            <a:chExt cx="2032000" cy="457200"/>
          </a:xfrm>
        </p:grpSpPr>
        <p:sp>
          <p:nvSpPr>
            <p:cNvPr id="43" name="Freeform 43">
              <a:extLst>
                <a:ext uri="{FF2B5EF4-FFF2-40B4-BE49-F238E27FC236}">
                  <a16:creationId xmlns:a16="http://schemas.microsoft.com/office/drawing/2014/main" id="{0B9BCF18-1679-8DF6-49FB-E83E41F1E569}"/>
                </a:ext>
              </a:extLst>
            </p:cNvPr>
            <p:cNvSpPr/>
            <p:nvPr/>
          </p:nvSpPr>
          <p:spPr>
            <a:xfrm>
              <a:off x="0" y="0"/>
              <a:ext cx="2032000" cy="457200"/>
            </a:xfrm>
            <a:custGeom>
              <a:avLst/>
              <a:gdLst/>
              <a:ahLst/>
              <a:cxnLst/>
              <a:rect l="l" t="t" r="r" b="b"/>
              <a:pathLst>
                <a:path w="2032000" h="457200">
                  <a:moveTo>
                    <a:pt x="0" y="0"/>
                  </a:moveTo>
                  <a:lnTo>
                    <a:pt x="2032000" y="0"/>
                  </a:lnTo>
                  <a:lnTo>
                    <a:pt x="2032000" y="457200"/>
                  </a:lnTo>
                  <a:lnTo>
                    <a:pt x="0" y="457200"/>
                  </a:lnTo>
                  <a:close/>
                </a:path>
              </a:pathLst>
            </a:custGeom>
            <a:solidFill>
              <a:srgbClr val="E8F4FD"/>
            </a:solidFill>
            <a:ln w="19050" cap="sq">
              <a:solidFill>
                <a:srgbClr val="0151B8"/>
              </a:solidFill>
              <a:prstDash val="solid"/>
              <a:miter/>
            </a:ln>
          </p:spPr>
          <p:txBody>
            <a:bodyPr/>
            <a:lstStyle/>
            <a:p>
              <a:endParaRPr lang="en-US"/>
            </a:p>
          </p:txBody>
        </p:sp>
        <p:sp>
          <p:nvSpPr>
            <p:cNvPr id="44" name="TextBox 44">
              <a:extLst>
                <a:ext uri="{FF2B5EF4-FFF2-40B4-BE49-F238E27FC236}">
                  <a16:creationId xmlns:a16="http://schemas.microsoft.com/office/drawing/2014/main" id="{5B98266D-657C-E622-9D3E-710E62CA3C99}"/>
                </a:ext>
              </a:extLst>
            </p:cNvPr>
            <p:cNvSpPr txBox="1"/>
            <p:nvPr/>
          </p:nvSpPr>
          <p:spPr>
            <a:xfrm>
              <a:off x="0" y="-47625"/>
              <a:ext cx="2032000" cy="504825"/>
            </a:xfrm>
            <a:prstGeom prst="rect">
              <a:avLst/>
            </a:prstGeom>
          </p:spPr>
          <p:txBody>
            <a:bodyPr lIns="50800" tIns="50800" rIns="50800" bIns="50800" rtlCol="0" anchor="ctr"/>
            <a:lstStyle/>
            <a:p>
              <a:pPr marL="0" lvl="0" indent="0" algn="ctr">
                <a:lnSpc>
                  <a:spcPts val="1960"/>
                </a:lnSpc>
                <a:spcBef>
                  <a:spcPct val="0"/>
                </a:spcBef>
              </a:pPr>
              <a:r>
                <a:rPr lang="en-US" sz="1400" u="none" strike="noStrike">
                  <a:solidFill>
                    <a:srgbClr val="000000"/>
                  </a:solidFill>
                  <a:latin typeface="Poppins"/>
                  <a:ea typeface="Poppins"/>
                  <a:cs typeface="Poppins"/>
                  <a:sym typeface="Poppins"/>
                </a:rPr>
                <a:t>Min = 39.0</a:t>
              </a:r>
            </a:p>
          </p:txBody>
        </p:sp>
      </p:grpSp>
      <p:sp>
        <p:nvSpPr>
          <p:cNvPr id="45" name="Freeform 45">
            <a:extLst>
              <a:ext uri="{FF2B5EF4-FFF2-40B4-BE49-F238E27FC236}">
                <a16:creationId xmlns:a16="http://schemas.microsoft.com/office/drawing/2014/main" id="{97625692-DBEF-22E7-E571-336BE4A76B4F}"/>
              </a:ext>
            </a:extLst>
          </p:cNvPr>
          <p:cNvSpPr/>
          <p:nvPr/>
        </p:nvSpPr>
        <p:spPr>
          <a:xfrm>
            <a:off x="7252039" y="3557677"/>
            <a:ext cx="9822772" cy="5654732"/>
          </a:xfrm>
          <a:custGeom>
            <a:avLst/>
            <a:gdLst/>
            <a:ahLst/>
            <a:cxnLst/>
            <a:rect l="l" t="t" r="r" b="b"/>
            <a:pathLst>
              <a:path w="8402512" h="4837122">
                <a:moveTo>
                  <a:pt x="0" y="0"/>
                </a:moveTo>
                <a:lnTo>
                  <a:pt x="8402512" y="0"/>
                </a:lnTo>
                <a:lnTo>
                  <a:pt x="8402512" y="4837121"/>
                </a:lnTo>
                <a:lnTo>
                  <a:pt x="0" y="4837121"/>
                </a:lnTo>
                <a:lnTo>
                  <a:pt x="0" y="0"/>
                </a:lnTo>
                <a:close/>
              </a:path>
            </a:pathLst>
          </a:custGeom>
          <a:blipFill>
            <a:blip r:embed="rId4"/>
            <a:stretch>
              <a:fillRect/>
            </a:stretch>
          </a:blipFill>
        </p:spPr>
        <p:txBody>
          <a:bodyPr/>
          <a:lstStyle/>
          <a:p>
            <a:endParaRPr lang="en-US"/>
          </a:p>
        </p:txBody>
      </p:sp>
      <p:sp>
        <p:nvSpPr>
          <p:cNvPr id="46" name="Freeform 46">
            <a:extLst>
              <a:ext uri="{FF2B5EF4-FFF2-40B4-BE49-F238E27FC236}">
                <a16:creationId xmlns:a16="http://schemas.microsoft.com/office/drawing/2014/main" id="{A2A8F396-30F5-DDC0-27F6-99268870CBAE}"/>
              </a:ext>
            </a:extLst>
          </p:cNvPr>
          <p:cNvSpPr/>
          <p:nvPr/>
        </p:nvSpPr>
        <p:spPr>
          <a:xfrm>
            <a:off x="-12954000" y="11239500"/>
            <a:ext cx="7341834" cy="6101660"/>
          </a:xfrm>
          <a:custGeom>
            <a:avLst/>
            <a:gdLst/>
            <a:ahLst/>
            <a:cxnLst/>
            <a:rect l="l" t="t" r="r" b="b"/>
            <a:pathLst>
              <a:path w="4053511" h="3368797">
                <a:moveTo>
                  <a:pt x="0" y="0"/>
                </a:moveTo>
                <a:lnTo>
                  <a:pt x="4053512" y="0"/>
                </a:lnTo>
                <a:lnTo>
                  <a:pt x="4053512" y="3368797"/>
                </a:lnTo>
                <a:lnTo>
                  <a:pt x="0" y="3368797"/>
                </a:lnTo>
                <a:lnTo>
                  <a:pt x="0" y="0"/>
                </a:lnTo>
                <a:close/>
              </a:path>
            </a:pathLst>
          </a:custGeom>
          <a:blipFill>
            <a:blip r:embed="rId5"/>
            <a:stretch>
              <a:fillRect/>
            </a:stretch>
          </a:blipFill>
        </p:spPr>
        <p:txBody>
          <a:bodyPr/>
          <a:lstStyle/>
          <a:p>
            <a:endParaRPr lang="en-US"/>
          </a:p>
        </p:txBody>
      </p:sp>
      <p:sp>
        <p:nvSpPr>
          <p:cNvPr id="50" name="AutoShape 50">
            <a:extLst>
              <a:ext uri="{FF2B5EF4-FFF2-40B4-BE49-F238E27FC236}">
                <a16:creationId xmlns:a16="http://schemas.microsoft.com/office/drawing/2014/main" id="{884C9F82-468E-8814-0764-DDFD526C663A}"/>
              </a:ext>
            </a:extLst>
          </p:cNvPr>
          <p:cNvSpPr/>
          <p:nvPr/>
        </p:nvSpPr>
        <p:spPr>
          <a:xfrm>
            <a:off x="204787" y="3308484"/>
            <a:ext cx="17878425" cy="0"/>
          </a:xfrm>
          <a:prstGeom prst="line">
            <a:avLst/>
          </a:prstGeom>
          <a:ln w="19050" cap="rnd">
            <a:solidFill>
              <a:srgbClr val="0151B8"/>
            </a:solidFill>
            <a:prstDash val="solid"/>
            <a:headEnd type="none" w="sm" len="sm"/>
            <a:tailEnd type="none" w="sm" len="sm"/>
          </a:ln>
        </p:spPr>
        <p:txBody>
          <a:bodyPr/>
          <a:lstStyle/>
          <a:p>
            <a:endParaRPr lang="en-US"/>
          </a:p>
        </p:txBody>
      </p:sp>
      <p:sp>
        <p:nvSpPr>
          <p:cNvPr id="52" name="TextBox 52">
            <a:extLst>
              <a:ext uri="{FF2B5EF4-FFF2-40B4-BE49-F238E27FC236}">
                <a16:creationId xmlns:a16="http://schemas.microsoft.com/office/drawing/2014/main" id="{E533A57D-948C-0EA7-82D8-16B8B12ABBDF}"/>
              </a:ext>
            </a:extLst>
          </p:cNvPr>
          <p:cNvSpPr txBox="1"/>
          <p:nvPr/>
        </p:nvSpPr>
        <p:spPr>
          <a:xfrm>
            <a:off x="8153400" y="-736319"/>
            <a:ext cx="4010025" cy="368300"/>
          </a:xfrm>
          <a:prstGeom prst="rect">
            <a:avLst/>
          </a:prstGeom>
        </p:spPr>
        <p:txBody>
          <a:bodyPr lIns="0" tIns="0" rIns="0" bIns="0" rtlCol="0" anchor="t">
            <a:spAutoFit/>
          </a:bodyPr>
          <a:lstStyle/>
          <a:p>
            <a:pPr marL="0" lvl="0" indent="0" algn="ctr">
              <a:lnSpc>
                <a:spcPts val="2800"/>
              </a:lnSpc>
              <a:spcBef>
                <a:spcPct val="0"/>
              </a:spcBef>
            </a:pPr>
            <a:r>
              <a:rPr lang="en-US" sz="2000" u="none" strike="noStrike">
                <a:solidFill>
                  <a:srgbClr val="FF3131"/>
                </a:solidFill>
                <a:latin typeface="Poppins"/>
                <a:ea typeface="Poppins"/>
                <a:cs typeface="Poppins"/>
                <a:sym typeface="Poppins"/>
              </a:rPr>
              <a:t>CƠ ĐỊA</a:t>
            </a:r>
          </a:p>
        </p:txBody>
      </p:sp>
      <p:sp>
        <p:nvSpPr>
          <p:cNvPr id="53" name="TextBox 53">
            <a:extLst>
              <a:ext uri="{FF2B5EF4-FFF2-40B4-BE49-F238E27FC236}">
                <a16:creationId xmlns:a16="http://schemas.microsoft.com/office/drawing/2014/main" id="{9DA3554B-C2AB-59E4-4144-428ADAEB240C}"/>
              </a:ext>
            </a:extLst>
          </p:cNvPr>
          <p:cNvSpPr txBox="1"/>
          <p:nvPr/>
        </p:nvSpPr>
        <p:spPr>
          <a:xfrm>
            <a:off x="365429" y="216539"/>
            <a:ext cx="8397571" cy="740780"/>
          </a:xfrm>
          <a:prstGeom prst="rect">
            <a:avLst/>
          </a:prstGeom>
        </p:spPr>
        <p:txBody>
          <a:bodyPr wrap="square" lIns="0" tIns="0" rIns="0" bIns="0" rtlCol="0" anchor="t">
            <a:spAutoFit/>
          </a:bodyPr>
          <a:lstStyle/>
          <a:p>
            <a:pPr marL="0" lvl="0" indent="0" algn="l">
              <a:lnSpc>
                <a:spcPts val="6201"/>
              </a:lnSpc>
              <a:spcBef>
                <a:spcPct val="0"/>
              </a:spcBef>
            </a:pPr>
            <a:r>
              <a:rPr lang="en-US" sz="4200" b="1" u="none" strike="noStrike">
                <a:solidFill>
                  <a:srgbClr val="000000"/>
                </a:solidFill>
                <a:latin typeface="Poppins Bold"/>
                <a:ea typeface="Poppins Bold"/>
                <a:cs typeface="Poppins Bold"/>
                <a:sym typeface="Poppins Bold"/>
              </a:rPr>
              <a:t>EDA 1 - Tổng quan dữ liệu</a:t>
            </a:r>
          </a:p>
        </p:txBody>
      </p:sp>
      <p:grpSp>
        <p:nvGrpSpPr>
          <p:cNvPr id="58" name="Group 57">
            <a:extLst>
              <a:ext uri="{FF2B5EF4-FFF2-40B4-BE49-F238E27FC236}">
                <a16:creationId xmlns:a16="http://schemas.microsoft.com/office/drawing/2014/main" id="{F1E90905-5B5D-9613-4E47-2C0C44C719ED}"/>
              </a:ext>
            </a:extLst>
          </p:cNvPr>
          <p:cNvGrpSpPr/>
          <p:nvPr/>
        </p:nvGrpSpPr>
        <p:grpSpPr>
          <a:xfrm>
            <a:off x="-21151229" y="11177371"/>
            <a:ext cx="5759962" cy="6312352"/>
            <a:chOff x="596287" y="3145865"/>
            <a:chExt cx="3563065" cy="3904769"/>
          </a:xfrm>
        </p:grpSpPr>
        <p:sp>
          <p:nvSpPr>
            <p:cNvPr id="51" name="Freeform 51">
              <a:extLst>
                <a:ext uri="{FF2B5EF4-FFF2-40B4-BE49-F238E27FC236}">
                  <a16:creationId xmlns:a16="http://schemas.microsoft.com/office/drawing/2014/main" id="{8B17B214-BA88-8AE1-C5C3-0A50AAB22D70}"/>
                </a:ext>
              </a:extLst>
            </p:cNvPr>
            <p:cNvSpPr/>
            <p:nvPr/>
          </p:nvSpPr>
          <p:spPr>
            <a:xfrm>
              <a:off x="596287" y="3546625"/>
              <a:ext cx="3563065" cy="3504009"/>
            </a:xfrm>
            <a:custGeom>
              <a:avLst/>
              <a:gdLst/>
              <a:ahLst/>
              <a:cxnLst/>
              <a:rect l="l" t="t" r="r" b="b"/>
              <a:pathLst>
                <a:path w="3563065" h="3504009">
                  <a:moveTo>
                    <a:pt x="0" y="0"/>
                  </a:moveTo>
                  <a:lnTo>
                    <a:pt x="3563066" y="0"/>
                  </a:lnTo>
                  <a:lnTo>
                    <a:pt x="3563066" y="3504009"/>
                  </a:lnTo>
                  <a:lnTo>
                    <a:pt x="0" y="3504009"/>
                  </a:lnTo>
                  <a:lnTo>
                    <a:pt x="0" y="0"/>
                  </a:lnTo>
                  <a:close/>
                </a:path>
              </a:pathLst>
            </a:custGeom>
            <a:blipFill>
              <a:blip r:embed="rId6"/>
              <a:stretch>
                <a:fillRect/>
              </a:stretch>
            </a:blipFill>
          </p:spPr>
          <p:txBody>
            <a:bodyPr/>
            <a:lstStyle/>
            <a:p>
              <a:endParaRPr lang="en-US"/>
            </a:p>
          </p:txBody>
        </p:sp>
        <p:sp>
          <p:nvSpPr>
            <p:cNvPr id="54" name="TextBox 54">
              <a:extLst>
                <a:ext uri="{FF2B5EF4-FFF2-40B4-BE49-F238E27FC236}">
                  <a16:creationId xmlns:a16="http://schemas.microsoft.com/office/drawing/2014/main" id="{402658E8-D4DD-4A57-F46B-7B54ECF19FF0}"/>
                </a:ext>
              </a:extLst>
            </p:cNvPr>
            <p:cNvSpPr txBox="1"/>
            <p:nvPr/>
          </p:nvSpPr>
          <p:spPr>
            <a:xfrm>
              <a:off x="928703" y="3145865"/>
              <a:ext cx="3214146" cy="350423"/>
            </a:xfrm>
            <a:prstGeom prst="rect">
              <a:avLst/>
            </a:prstGeom>
          </p:spPr>
          <p:txBody>
            <a:bodyPr lIns="0" tIns="0" rIns="0" bIns="0" rtlCol="0" anchor="t">
              <a:spAutoFit/>
            </a:bodyPr>
            <a:lstStyle/>
            <a:p>
              <a:pPr algn="ctr">
                <a:lnSpc>
                  <a:spcPts val="2735"/>
                </a:lnSpc>
                <a:spcBef>
                  <a:spcPct val="0"/>
                </a:spcBef>
              </a:pPr>
              <a:r>
                <a:rPr lang="en-US" sz="1953">
                  <a:solidFill>
                    <a:srgbClr val="FF3131"/>
                  </a:solidFill>
                  <a:latin typeface="Poppins"/>
                  <a:ea typeface="Poppins"/>
                  <a:cs typeface="Poppins"/>
                  <a:sym typeface="Poppins"/>
                </a:rPr>
                <a:t>Dinh Dưỡng Và Sinh Hoạt</a:t>
              </a:r>
            </a:p>
          </p:txBody>
        </p:sp>
      </p:grpSp>
      <p:grpSp>
        <p:nvGrpSpPr>
          <p:cNvPr id="59" name="Group 58">
            <a:extLst>
              <a:ext uri="{FF2B5EF4-FFF2-40B4-BE49-F238E27FC236}">
                <a16:creationId xmlns:a16="http://schemas.microsoft.com/office/drawing/2014/main" id="{DAEB5EBC-FD21-CC62-69DD-3DC7EE9AE2B5}"/>
              </a:ext>
            </a:extLst>
          </p:cNvPr>
          <p:cNvGrpSpPr/>
          <p:nvPr/>
        </p:nvGrpSpPr>
        <p:grpSpPr>
          <a:xfrm>
            <a:off x="1885147" y="3736765"/>
            <a:ext cx="4413868" cy="5475644"/>
            <a:chOff x="5390960" y="3866959"/>
            <a:chExt cx="4111198" cy="5100165"/>
          </a:xfrm>
        </p:grpSpPr>
        <p:sp>
          <p:nvSpPr>
            <p:cNvPr id="47" name="Freeform 47">
              <a:extLst>
                <a:ext uri="{FF2B5EF4-FFF2-40B4-BE49-F238E27FC236}">
                  <a16:creationId xmlns:a16="http://schemas.microsoft.com/office/drawing/2014/main" id="{36586C63-440D-7DE5-063D-CEC43F5FE845}"/>
                </a:ext>
              </a:extLst>
            </p:cNvPr>
            <p:cNvSpPr/>
            <p:nvPr/>
          </p:nvSpPr>
          <p:spPr>
            <a:xfrm>
              <a:off x="5390960" y="4286862"/>
              <a:ext cx="4111198" cy="4680262"/>
            </a:xfrm>
            <a:custGeom>
              <a:avLst/>
              <a:gdLst/>
              <a:ahLst/>
              <a:cxnLst/>
              <a:rect l="l" t="t" r="r" b="b"/>
              <a:pathLst>
                <a:path w="4111198" h="4680262">
                  <a:moveTo>
                    <a:pt x="0" y="0"/>
                  </a:moveTo>
                  <a:lnTo>
                    <a:pt x="4111198" y="0"/>
                  </a:lnTo>
                  <a:lnTo>
                    <a:pt x="4111198" y="4680263"/>
                  </a:lnTo>
                  <a:lnTo>
                    <a:pt x="0" y="4680263"/>
                  </a:lnTo>
                  <a:lnTo>
                    <a:pt x="0" y="0"/>
                  </a:lnTo>
                  <a:close/>
                </a:path>
              </a:pathLst>
            </a:custGeom>
            <a:blipFill>
              <a:blip r:embed="rId7"/>
              <a:stretch>
                <a:fillRect/>
              </a:stretch>
            </a:blipFill>
          </p:spPr>
          <p:txBody>
            <a:bodyPr/>
            <a:lstStyle/>
            <a:p>
              <a:endParaRPr lang="en-US"/>
            </a:p>
          </p:txBody>
        </p:sp>
        <p:sp>
          <p:nvSpPr>
            <p:cNvPr id="55" name="TextBox 55">
              <a:extLst>
                <a:ext uri="{FF2B5EF4-FFF2-40B4-BE49-F238E27FC236}">
                  <a16:creationId xmlns:a16="http://schemas.microsoft.com/office/drawing/2014/main" id="{33259623-F9FF-764E-08CB-FA70398AC85E}"/>
                </a:ext>
              </a:extLst>
            </p:cNvPr>
            <p:cNvSpPr txBox="1"/>
            <p:nvPr/>
          </p:nvSpPr>
          <p:spPr>
            <a:xfrm>
              <a:off x="6863055" y="3866959"/>
              <a:ext cx="1126629" cy="350423"/>
            </a:xfrm>
            <a:prstGeom prst="rect">
              <a:avLst/>
            </a:prstGeom>
          </p:spPr>
          <p:txBody>
            <a:bodyPr lIns="0" tIns="0" rIns="0" bIns="0" rtlCol="0" anchor="t">
              <a:spAutoFit/>
            </a:bodyPr>
            <a:lstStyle/>
            <a:p>
              <a:pPr algn="ctr">
                <a:lnSpc>
                  <a:spcPts val="2735"/>
                </a:lnSpc>
                <a:spcBef>
                  <a:spcPct val="0"/>
                </a:spcBef>
              </a:pPr>
              <a:r>
                <a:rPr lang="en-US" sz="1953">
                  <a:solidFill>
                    <a:srgbClr val="FF3A3A"/>
                  </a:solidFill>
                  <a:latin typeface="Poppins"/>
                  <a:ea typeface="Poppins"/>
                  <a:cs typeface="Poppins"/>
                  <a:sym typeface="Poppins"/>
                </a:rPr>
                <a:t>Di Truyền</a:t>
              </a:r>
            </a:p>
          </p:txBody>
        </p:sp>
      </p:grpSp>
      <p:sp>
        <p:nvSpPr>
          <p:cNvPr id="57" name="Slide Number Placeholder 56">
            <a:extLst>
              <a:ext uri="{FF2B5EF4-FFF2-40B4-BE49-F238E27FC236}">
                <a16:creationId xmlns:a16="http://schemas.microsoft.com/office/drawing/2014/main" id="{478E1866-F1B2-C6E6-87D7-26568310A73C}"/>
              </a:ext>
            </a:extLst>
          </p:cNvPr>
          <p:cNvSpPr>
            <a:spLocks noGrp="1"/>
          </p:cNvSpPr>
          <p:nvPr>
            <p:ph type="sldNum" sz="quarter" idx="12"/>
          </p:nvPr>
        </p:nvSpPr>
        <p:spPr>
          <a:xfrm>
            <a:off x="15713793" y="9640690"/>
            <a:ext cx="2133600" cy="365125"/>
          </a:xfrm>
        </p:spPr>
        <p:txBody>
          <a:bodyPr/>
          <a:lstStyle/>
          <a:p>
            <a:fld id="{B6F15528-21DE-4FAA-801E-634DDDAF4B2B}" type="slidenum">
              <a:rPr lang="en-US" smtClean="0"/>
              <a:pPr/>
              <a:t>8</a:t>
            </a:fld>
            <a:endParaRPr lang="en-US"/>
          </a:p>
        </p:txBody>
      </p:sp>
    </p:spTree>
    <p:extLst>
      <p:ext uri="{BB962C8B-B14F-4D97-AF65-F5344CB8AC3E}">
        <p14:creationId xmlns:p14="http://schemas.microsoft.com/office/powerpoint/2010/main" val="292775738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nodeType="clickEffect">
                                  <p:stCondLst>
                                    <p:cond delay="0"/>
                                  </p:stCondLst>
                                  <p:childTnLst>
                                    <p:animMotion origin="layout" path="M 2.08333E-6 -9.87654E-7 L -0.53056 -9.87654E-7 " pathEditMode="relative" rAng="0" ptsTypes="AA">
                                      <p:cBhvr>
                                        <p:cTn id="6" dur="2000" fill="hold"/>
                                        <p:tgtEl>
                                          <p:spTgt spid="59"/>
                                        </p:tgtEl>
                                        <p:attrNameLst>
                                          <p:attrName>ppt_x</p:attrName>
                                          <p:attrName>ppt_y</p:attrName>
                                        </p:attrNameLst>
                                      </p:cBhvr>
                                      <p:rCtr x="-26528" y="0"/>
                                    </p:animMotion>
                                  </p:childTnLst>
                                </p:cTn>
                              </p:par>
                              <p:par>
                                <p:cTn id="7" presetID="42" presetClass="path" presetSubtype="0" accel="50000" decel="50000" fill="hold" grpId="0" nodeType="withEffect">
                                  <p:stCondLst>
                                    <p:cond delay="0"/>
                                  </p:stCondLst>
                                  <p:childTnLst>
                                    <p:animMotion origin="layout" path="M -4.16667E-6 9.87654E-7 L -0.18593 0.00525 " pathEditMode="relative" rAng="0" ptsTypes="AA">
                                      <p:cBhvr>
                                        <p:cTn id="8" dur="2000" fill="hold"/>
                                        <p:tgtEl>
                                          <p:spTgt spid="45"/>
                                        </p:tgtEl>
                                        <p:attrNameLst>
                                          <p:attrName>ppt_x</p:attrName>
                                          <p:attrName>ppt_y</p:attrName>
                                        </p:attrNameLst>
                                      </p:cBhvr>
                                      <p:rCtr x="-9297" y="262"/>
                                    </p:animMotion>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848018-19A9-A7B1-0C7F-DA140706F9AD}"/>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1D235A7B-7B3C-8E35-B364-FE376DD50787}"/>
              </a:ext>
            </a:extLst>
          </p:cNvPr>
          <p:cNvSpPr/>
          <p:nvPr/>
        </p:nvSpPr>
        <p:spPr>
          <a:xfrm>
            <a:off x="10202406" y="7545865"/>
            <a:ext cx="303930" cy="218828"/>
          </a:xfrm>
          <a:custGeom>
            <a:avLst/>
            <a:gdLst/>
            <a:ahLst/>
            <a:cxnLst/>
            <a:rect l="l" t="t" r="r" b="b"/>
            <a:pathLst>
              <a:path w="234433" h="168792">
                <a:moveTo>
                  <a:pt x="0" y="0"/>
                </a:moveTo>
                <a:lnTo>
                  <a:pt x="234434" y="0"/>
                </a:lnTo>
                <a:lnTo>
                  <a:pt x="234434" y="168792"/>
                </a:lnTo>
                <a:lnTo>
                  <a:pt x="0" y="1687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a:extLst>
              <a:ext uri="{FF2B5EF4-FFF2-40B4-BE49-F238E27FC236}">
                <a16:creationId xmlns:a16="http://schemas.microsoft.com/office/drawing/2014/main" id="{8ACC9CCD-2BD9-8493-B805-94A37E909E13}"/>
              </a:ext>
            </a:extLst>
          </p:cNvPr>
          <p:cNvGrpSpPr/>
          <p:nvPr/>
        </p:nvGrpSpPr>
        <p:grpSpPr>
          <a:xfrm>
            <a:off x="-439650" y="-84113"/>
            <a:ext cx="11099731" cy="2002811"/>
            <a:chOff x="0" y="0"/>
            <a:chExt cx="3252604" cy="586893"/>
          </a:xfrm>
        </p:grpSpPr>
        <p:sp>
          <p:nvSpPr>
            <p:cNvPr id="4" name="Freeform 4">
              <a:extLst>
                <a:ext uri="{FF2B5EF4-FFF2-40B4-BE49-F238E27FC236}">
                  <a16:creationId xmlns:a16="http://schemas.microsoft.com/office/drawing/2014/main" id="{537FE6B3-0CEE-4714-8D48-8319B24D53D4}"/>
                </a:ext>
              </a:extLst>
            </p:cNvPr>
            <p:cNvSpPr/>
            <p:nvPr/>
          </p:nvSpPr>
          <p:spPr>
            <a:xfrm>
              <a:off x="0" y="0"/>
              <a:ext cx="3252604" cy="586893"/>
            </a:xfrm>
            <a:custGeom>
              <a:avLst/>
              <a:gdLst/>
              <a:ahLst/>
              <a:cxnLst/>
              <a:rect l="l" t="t" r="r" b="b"/>
              <a:pathLst>
                <a:path w="3252604" h="586893">
                  <a:moveTo>
                    <a:pt x="69749" y="0"/>
                  </a:moveTo>
                  <a:lnTo>
                    <a:pt x="3182856" y="0"/>
                  </a:lnTo>
                  <a:cubicBezTo>
                    <a:pt x="3201354" y="0"/>
                    <a:pt x="3219095" y="7349"/>
                    <a:pt x="3232175" y="20429"/>
                  </a:cubicBezTo>
                  <a:cubicBezTo>
                    <a:pt x="3245256" y="33509"/>
                    <a:pt x="3252604" y="51250"/>
                    <a:pt x="3252604" y="69749"/>
                  </a:cubicBezTo>
                  <a:lnTo>
                    <a:pt x="3252604" y="517144"/>
                  </a:lnTo>
                  <a:cubicBezTo>
                    <a:pt x="3252604" y="555665"/>
                    <a:pt x="3221377" y="586893"/>
                    <a:pt x="3182856" y="586893"/>
                  </a:cubicBezTo>
                  <a:lnTo>
                    <a:pt x="69749" y="586893"/>
                  </a:lnTo>
                  <a:cubicBezTo>
                    <a:pt x="51250" y="586893"/>
                    <a:pt x="33509" y="579544"/>
                    <a:pt x="20429" y="566464"/>
                  </a:cubicBezTo>
                  <a:cubicBezTo>
                    <a:pt x="7349" y="553384"/>
                    <a:pt x="0" y="535643"/>
                    <a:pt x="0" y="517144"/>
                  </a:cubicBezTo>
                  <a:lnTo>
                    <a:pt x="0" y="69749"/>
                  </a:lnTo>
                  <a:cubicBezTo>
                    <a:pt x="0" y="31228"/>
                    <a:pt x="31228" y="0"/>
                    <a:pt x="69749"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5" name="TextBox 5">
              <a:extLst>
                <a:ext uri="{FF2B5EF4-FFF2-40B4-BE49-F238E27FC236}">
                  <a16:creationId xmlns:a16="http://schemas.microsoft.com/office/drawing/2014/main" id="{7F103287-D6B7-6C17-E3E8-CD66ADF3B089}"/>
                </a:ext>
              </a:extLst>
            </p:cNvPr>
            <p:cNvSpPr txBox="1"/>
            <p:nvPr/>
          </p:nvSpPr>
          <p:spPr>
            <a:xfrm>
              <a:off x="0" y="-38100"/>
              <a:ext cx="3252604" cy="624993"/>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9BB645DD-FFC4-51D7-D294-5D8A3BE92638}"/>
              </a:ext>
            </a:extLst>
          </p:cNvPr>
          <p:cNvGrpSpPr/>
          <p:nvPr/>
        </p:nvGrpSpPr>
        <p:grpSpPr>
          <a:xfrm rot="-10800000">
            <a:off x="12326803" y="9605582"/>
            <a:ext cx="8886648" cy="1376152"/>
            <a:chOff x="0" y="0"/>
            <a:chExt cx="2340516" cy="362443"/>
          </a:xfrm>
        </p:grpSpPr>
        <p:sp>
          <p:nvSpPr>
            <p:cNvPr id="7" name="Freeform 7">
              <a:extLst>
                <a:ext uri="{FF2B5EF4-FFF2-40B4-BE49-F238E27FC236}">
                  <a16:creationId xmlns:a16="http://schemas.microsoft.com/office/drawing/2014/main" id="{714AC75A-D195-35D3-A309-B41F48204E35}"/>
                </a:ext>
              </a:extLst>
            </p:cNvPr>
            <p:cNvSpPr/>
            <p:nvPr/>
          </p:nvSpPr>
          <p:spPr>
            <a:xfrm>
              <a:off x="0" y="0"/>
              <a:ext cx="2340516" cy="362443"/>
            </a:xfrm>
            <a:custGeom>
              <a:avLst/>
              <a:gdLst/>
              <a:ahLst/>
              <a:cxnLst/>
              <a:rect l="l" t="t" r="r" b="b"/>
              <a:pathLst>
                <a:path w="2340516" h="362443">
                  <a:moveTo>
                    <a:pt x="87119" y="0"/>
                  </a:moveTo>
                  <a:lnTo>
                    <a:pt x="2253398" y="0"/>
                  </a:lnTo>
                  <a:cubicBezTo>
                    <a:pt x="2276503" y="0"/>
                    <a:pt x="2298662" y="9179"/>
                    <a:pt x="2315000" y="25516"/>
                  </a:cubicBezTo>
                  <a:cubicBezTo>
                    <a:pt x="2331338" y="41854"/>
                    <a:pt x="2340516" y="64013"/>
                    <a:pt x="2340516" y="87119"/>
                  </a:cubicBezTo>
                  <a:lnTo>
                    <a:pt x="2340516" y="275325"/>
                  </a:lnTo>
                  <a:cubicBezTo>
                    <a:pt x="2340516" y="298430"/>
                    <a:pt x="2331338" y="320589"/>
                    <a:pt x="2315000" y="336927"/>
                  </a:cubicBezTo>
                  <a:cubicBezTo>
                    <a:pt x="2298662" y="353265"/>
                    <a:pt x="2276503" y="362443"/>
                    <a:pt x="2253398" y="362443"/>
                  </a:cubicBezTo>
                  <a:lnTo>
                    <a:pt x="87119" y="362443"/>
                  </a:lnTo>
                  <a:cubicBezTo>
                    <a:pt x="64013" y="362443"/>
                    <a:pt x="41854" y="353265"/>
                    <a:pt x="25516" y="336927"/>
                  </a:cubicBezTo>
                  <a:cubicBezTo>
                    <a:pt x="9179" y="320589"/>
                    <a:pt x="0" y="298430"/>
                    <a:pt x="0" y="275325"/>
                  </a:cubicBezTo>
                  <a:lnTo>
                    <a:pt x="0" y="87119"/>
                  </a:lnTo>
                  <a:cubicBezTo>
                    <a:pt x="0" y="64013"/>
                    <a:pt x="9179" y="41854"/>
                    <a:pt x="25516" y="25516"/>
                  </a:cubicBezTo>
                  <a:cubicBezTo>
                    <a:pt x="41854" y="9179"/>
                    <a:pt x="64013" y="0"/>
                    <a:pt x="87119"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8" name="TextBox 8">
              <a:extLst>
                <a:ext uri="{FF2B5EF4-FFF2-40B4-BE49-F238E27FC236}">
                  <a16:creationId xmlns:a16="http://schemas.microsoft.com/office/drawing/2014/main" id="{3E64A15A-EE19-5AF1-37FC-D56E32262E24}"/>
                </a:ext>
              </a:extLst>
            </p:cNvPr>
            <p:cNvSpPr txBox="1"/>
            <p:nvPr/>
          </p:nvSpPr>
          <p:spPr>
            <a:xfrm>
              <a:off x="0" y="-38100"/>
              <a:ext cx="2340516" cy="400543"/>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1693C742-A1DF-862A-95D0-F7590FEC491A}"/>
              </a:ext>
            </a:extLst>
          </p:cNvPr>
          <p:cNvSpPr/>
          <p:nvPr/>
        </p:nvSpPr>
        <p:spPr>
          <a:xfrm rot="-5400000">
            <a:off x="-88008" y="738356"/>
            <a:ext cx="1308499" cy="704893"/>
          </a:xfrm>
          <a:custGeom>
            <a:avLst/>
            <a:gdLst/>
            <a:ahLst/>
            <a:cxnLst/>
            <a:rect l="l" t="t" r="r" b="b"/>
            <a:pathLst>
              <a:path w="1308499" h="704893">
                <a:moveTo>
                  <a:pt x="0" y="0"/>
                </a:moveTo>
                <a:lnTo>
                  <a:pt x="1308499" y="0"/>
                </a:lnTo>
                <a:lnTo>
                  <a:pt x="1308499" y="704893"/>
                </a:lnTo>
                <a:lnTo>
                  <a:pt x="0" y="704893"/>
                </a:lnTo>
                <a:lnTo>
                  <a:pt x="0" y="0"/>
                </a:lnTo>
                <a:close/>
              </a:path>
            </a:pathLst>
          </a:custGeom>
          <a:blipFill>
            <a:blip>
              <a:extLst>
                <a:ext uri="{96DAC541-7B7A-43D3-8B79-37D633B846F1}">
                  <asvg:svgBlip xmlns:asvg="http://schemas.microsoft.com/office/drawing/2016/SVG/main" r:embed="rId4"/>
                </a:ext>
              </a:extLst>
            </a:blip>
            <a:stretch>
              <a:fillRect b="-85630"/>
            </a:stretch>
          </a:blipFill>
        </p:spPr>
        <p:txBody>
          <a:bodyPr/>
          <a:lstStyle/>
          <a:p>
            <a:endParaRPr lang="en-US"/>
          </a:p>
        </p:txBody>
      </p:sp>
      <p:sp>
        <p:nvSpPr>
          <p:cNvPr id="10" name="Freeform 10">
            <a:extLst>
              <a:ext uri="{FF2B5EF4-FFF2-40B4-BE49-F238E27FC236}">
                <a16:creationId xmlns:a16="http://schemas.microsoft.com/office/drawing/2014/main" id="{342FCDB1-25C4-DF0B-3F64-A580CDCF4B23}"/>
              </a:ext>
            </a:extLst>
          </p:cNvPr>
          <p:cNvSpPr/>
          <p:nvPr/>
        </p:nvSpPr>
        <p:spPr>
          <a:xfrm>
            <a:off x="15821992" y="707837"/>
            <a:ext cx="1191242" cy="641726"/>
          </a:xfrm>
          <a:custGeom>
            <a:avLst/>
            <a:gdLst/>
            <a:ahLst/>
            <a:cxnLst/>
            <a:rect l="l" t="t" r="r" b="b"/>
            <a:pathLst>
              <a:path w="1191242" h="641726">
                <a:moveTo>
                  <a:pt x="0" y="0"/>
                </a:moveTo>
                <a:lnTo>
                  <a:pt x="1191242" y="0"/>
                </a:lnTo>
                <a:lnTo>
                  <a:pt x="1191242" y="641726"/>
                </a:lnTo>
                <a:lnTo>
                  <a:pt x="0" y="641726"/>
                </a:lnTo>
                <a:lnTo>
                  <a:pt x="0" y="0"/>
                </a:lnTo>
                <a:close/>
              </a:path>
            </a:pathLst>
          </a:custGeom>
          <a:blipFill>
            <a:blip>
              <a:extLst>
                <a:ext uri="{96DAC541-7B7A-43D3-8B79-37D633B846F1}">
                  <asvg:svgBlip xmlns:asvg="http://schemas.microsoft.com/office/drawing/2016/SVG/main" r:embed="rId5"/>
                </a:ext>
              </a:extLst>
            </a:blip>
            <a:stretch>
              <a:fillRect b="-85630"/>
            </a:stretch>
          </a:blipFill>
        </p:spPr>
        <p:txBody>
          <a:bodyPr/>
          <a:lstStyle/>
          <a:p>
            <a:endParaRPr lang="en-US"/>
          </a:p>
        </p:txBody>
      </p:sp>
      <p:grpSp>
        <p:nvGrpSpPr>
          <p:cNvPr id="11" name="Group 11">
            <a:extLst>
              <a:ext uri="{FF2B5EF4-FFF2-40B4-BE49-F238E27FC236}">
                <a16:creationId xmlns:a16="http://schemas.microsoft.com/office/drawing/2014/main" id="{516C0EAA-4211-8B2B-8631-4A6944759799}"/>
              </a:ext>
            </a:extLst>
          </p:cNvPr>
          <p:cNvGrpSpPr/>
          <p:nvPr/>
        </p:nvGrpSpPr>
        <p:grpSpPr>
          <a:xfrm>
            <a:off x="871216" y="2141982"/>
            <a:ext cx="11842356" cy="7037610"/>
            <a:chOff x="0" y="0"/>
            <a:chExt cx="12865100" cy="7645400"/>
          </a:xfrm>
        </p:grpSpPr>
        <p:sp>
          <p:nvSpPr>
            <p:cNvPr id="12" name="Freeform 12">
              <a:extLst>
                <a:ext uri="{FF2B5EF4-FFF2-40B4-BE49-F238E27FC236}">
                  <a16:creationId xmlns:a16="http://schemas.microsoft.com/office/drawing/2014/main" id="{2486E1F2-E95F-07B1-A115-7F449C3F4E86}"/>
                </a:ext>
              </a:extLst>
            </p:cNvPr>
            <p:cNvSpPr/>
            <p:nvPr/>
          </p:nvSpPr>
          <p:spPr>
            <a:xfrm>
              <a:off x="0" y="0"/>
              <a:ext cx="12865100" cy="7645400"/>
            </a:xfrm>
            <a:custGeom>
              <a:avLst/>
              <a:gdLst/>
              <a:ahLst/>
              <a:cxnLst/>
              <a:rect l="l" t="t" r="r" b="b"/>
              <a:pathLst>
                <a:path w="12865100" h="7645400">
                  <a:moveTo>
                    <a:pt x="0" y="0"/>
                  </a:moveTo>
                  <a:lnTo>
                    <a:pt x="12865100" y="0"/>
                  </a:lnTo>
                  <a:lnTo>
                    <a:pt x="12865100" y="7645400"/>
                  </a:lnTo>
                  <a:lnTo>
                    <a:pt x="0" y="7645400"/>
                  </a:lnTo>
                  <a:close/>
                </a:path>
              </a:pathLst>
            </a:custGeom>
            <a:solidFill>
              <a:srgbClr val="FFFFFF"/>
            </a:solidFill>
            <a:ln w="38100" cap="sq">
              <a:solidFill>
                <a:srgbClr val="0151B8"/>
              </a:solidFill>
              <a:prstDash val="solid"/>
              <a:miter/>
            </a:ln>
          </p:spPr>
          <p:txBody>
            <a:bodyPr/>
            <a:lstStyle/>
            <a:p>
              <a:endParaRPr lang="en-US"/>
            </a:p>
          </p:txBody>
        </p:sp>
      </p:grpSp>
      <p:sp>
        <p:nvSpPr>
          <p:cNvPr id="13" name="Freeform 13">
            <a:extLst>
              <a:ext uri="{FF2B5EF4-FFF2-40B4-BE49-F238E27FC236}">
                <a16:creationId xmlns:a16="http://schemas.microsoft.com/office/drawing/2014/main" id="{3AF6A583-434B-7DBD-16E3-735C18FE3F7F}"/>
              </a:ext>
            </a:extLst>
          </p:cNvPr>
          <p:cNvSpPr/>
          <p:nvPr/>
        </p:nvSpPr>
        <p:spPr>
          <a:xfrm>
            <a:off x="918688" y="2169896"/>
            <a:ext cx="11742620" cy="6942938"/>
          </a:xfrm>
          <a:custGeom>
            <a:avLst/>
            <a:gdLst/>
            <a:ahLst/>
            <a:cxnLst/>
            <a:rect l="l" t="t" r="r" b="b"/>
            <a:pathLst>
              <a:path w="9057546" h="5355362">
                <a:moveTo>
                  <a:pt x="0" y="0"/>
                </a:moveTo>
                <a:lnTo>
                  <a:pt x="9057546" y="0"/>
                </a:lnTo>
                <a:lnTo>
                  <a:pt x="9057546" y="5355362"/>
                </a:lnTo>
                <a:lnTo>
                  <a:pt x="0" y="5355362"/>
                </a:lnTo>
                <a:lnTo>
                  <a:pt x="0" y="0"/>
                </a:lnTo>
                <a:close/>
              </a:path>
            </a:pathLst>
          </a:custGeom>
          <a:blipFill>
            <a:blip r:embed="rId6"/>
            <a:stretch>
              <a:fillRect/>
            </a:stretch>
          </a:blipFill>
        </p:spPr>
        <p:txBody>
          <a:bodyPr/>
          <a:lstStyle/>
          <a:p>
            <a:endParaRPr lang="en-US"/>
          </a:p>
        </p:txBody>
      </p:sp>
      <p:sp>
        <p:nvSpPr>
          <p:cNvPr id="19" name="TextBox 19">
            <a:extLst>
              <a:ext uri="{FF2B5EF4-FFF2-40B4-BE49-F238E27FC236}">
                <a16:creationId xmlns:a16="http://schemas.microsoft.com/office/drawing/2014/main" id="{B176EF3B-487C-8EA0-5D2D-C0D75ED8F784}"/>
              </a:ext>
            </a:extLst>
          </p:cNvPr>
          <p:cNvSpPr txBox="1"/>
          <p:nvPr/>
        </p:nvSpPr>
        <p:spPr>
          <a:xfrm>
            <a:off x="566241" y="-84113"/>
            <a:ext cx="8544198" cy="1805174"/>
          </a:xfrm>
          <a:prstGeom prst="rect">
            <a:avLst/>
          </a:prstGeom>
        </p:spPr>
        <p:txBody>
          <a:bodyPr wrap="square" lIns="0" tIns="0" rIns="0" bIns="0" rtlCol="0" anchor="t">
            <a:spAutoFit/>
          </a:bodyPr>
          <a:lstStyle/>
          <a:p>
            <a:pPr marL="0" lvl="0" indent="0" algn="l">
              <a:lnSpc>
                <a:spcPts val="7359"/>
              </a:lnSpc>
              <a:spcBef>
                <a:spcPct val="0"/>
              </a:spcBef>
            </a:pPr>
            <a:r>
              <a:rPr lang="en-US" sz="4200" b="1" u="none" strike="noStrike">
                <a:solidFill>
                  <a:srgbClr val="000000"/>
                </a:solidFill>
                <a:latin typeface="Poppins Bold"/>
                <a:ea typeface="Poppins Bold"/>
                <a:cs typeface="Poppins Bold"/>
                <a:sym typeface="Poppins Bold"/>
              </a:rPr>
              <a:t>EDA 2 – Mối li</a:t>
            </a:r>
            <a:r>
              <a:rPr lang="en-US" sz="4200" b="1">
                <a:solidFill>
                  <a:srgbClr val="000000"/>
                </a:solidFill>
                <a:latin typeface="Poppins Bold"/>
                <a:ea typeface="Poppins Bold"/>
                <a:cs typeface="Poppins Bold"/>
                <a:sym typeface="Poppins Bold"/>
              </a:rPr>
              <a:t>ên hệ giữa tuổi, cân nặng và mức độ béo phì</a:t>
            </a:r>
            <a:endParaRPr lang="en-US" sz="4200" b="1" u="none" strike="noStrike">
              <a:solidFill>
                <a:srgbClr val="000000"/>
              </a:solidFill>
              <a:latin typeface="Poppins Bold"/>
              <a:ea typeface="Poppins Bold"/>
              <a:cs typeface="Poppins Bold"/>
              <a:sym typeface="Poppins Bold"/>
            </a:endParaRPr>
          </a:p>
        </p:txBody>
      </p:sp>
      <p:sp>
        <p:nvSpPr>
          <p:cNvPr id="21" name="Slide Number Placeholder 20">
            <a:extLst>
              <a:ext uri="{FF2B5EF4-FFF2-40B4-BE49-F238E27FC236}">
                <a16:creationId xmlns:a16="http://schemas.microsoft.com/office/drawing/2014/main" id="{1556E839-08E2-4AF7-AD61-F1FE139333EE}"/>
              </a:ext>
            </a:extLst>
          </p:cNvPr>
          <p:cNvSpPr>
            <a:spLocks noGrp="1"/>
          </p:cNvSpPr>
          <p:nvPr>
            <p:ph type="sldNum" sz="quarter" idx="12"/>
          </p:nvPr>
        </p:nvSpPr>
        <p:spPr/>
        <p:txBody>
          <a:bodyPr/>
          <a:lstStyle/>
          <a:p>
            <a:fld id="{B6F15528-21DE-4FAA-801E-634DDDAF4B2B}" type="slidenum">
              <a:rPr lang="en-US" smtClean="0"/>
              <a:pPr/>
              <a:t>9</a:t>
            </a:fld>
            <a:endParaRPr lang="en-US"/>
          </a:p>
        </p:txBody>
      </p:sp>
      <p:sp>
        <p:nvSpPr>
          <p:cNvPr id="20" name="TextBox 19">
            <a:extLst>
              <a:ext uri="{FF2B5EF4-FFF2-40B4-BE49-F238E27FC236}">
                <a16:creationId xmlns:a16="http://schemas.microsoft.com/office/drawing/2014/main" id="{BF58F96E-0026-26AF-492A-EBFCB2E60C28}"/>
              </a:ext>
            </a:extLst>
          </p:cNvPr>
          <p:cNvSpPr txBox="1"/>
          <p:nvPr/>
        </p:nvSpPr>
        <p:spPr>
          <a:xfrm>
            <a:off x="13335000" y="2933700"/>
            <a:ext cx="4343400" cy="3170099"/>
          </a:xfrm>
          <a:prstGeom prst="rect">
            <a:avLst/>
          </a:prstGeom>
          <a:noFill/>
        </p:spPr>
        <p:txBody>
          <a:bodyPr wrap="square" rtlCol="0">
            <a:spAutoFit/>
          </a:bodyPr>
          <a:lstStyle/>
          <a:p>
            <a:pPr marL="342900" indent="-342900">
              <a:buFont typeface="Arial" panose="020B0604020202020204" pitchFamily="34" charset="0"/>
              <a:buChar char="•"/>
            </a:pPr>
            <a:r>
              <a:rPr lang="en-US" sz="2000">
                <a:latin typeface="Poppins Bold" panose="00000800000000000000" charset="0"/>
                <a:cs typeface="Poppins Bold" panose="00000800000000000000" charset="0"/>
              </a:rPr>
              <a:t>Dữ liệu tập trung nhiều ở nhóm tuổi 18–30.</a:t>
            </a:r>
            <a:br>
              <a:rPr lang="en-US" sz="2000">
                <a:latin typeface="Poppins Bold" panose="00000800000000000000" charset="0"/>
                <a:cs typeface="Poppins Bold" panose="00000800000000000000" charset="0"/>
              </a:rPr>
            </a:br>
            <a:endParaRPr lang="en-US" sz="2000">
              <a:latin typeface="Poppins Bold" panose="00000800000000000000" charset="0"/>
              <a:cs typeface="Poppins Bold" panose="00000800000000000000" charset="0"/>
            </a:endParaRPr>
          </a:p>
          <a:p>
            <a:pPr marL="342900" indent="-342900">
              <a:buFont typeface="Arial" panose="020B0604020202020204" pitchFamily="34" charset="0"/>
              <a:buChar char="•"/>
            </a:pPr>
            <a:r>
              <a:rPr lang="en-US" sz="2000">
                <a:latin typeface="Poppins Bold" panose="00000800000000000000" charset="0"/>
                <a:cs typeface="Poppins Bold" panose="00000800000000000000" charset="0"/>
              </a:rPr>
              <a:t>Các nhóm béo phì nặng xuất hiện nhiều ở vùng cân nặng cao, đặc biệt trên 120 kg.</a:t>
            </a:r>
            <a:br>
              <a:rPr lang="en-US" sz="2000">
                <a:latin typeface="Poppins Bold" panose="00000800000000000000" charset="0"/>
                <a:cs typeface="Poppins Bold" panose="00000800000000000000" charset="0"/>
              </a:rPr>
            </a:br>
            <a:endParaRPr lang="en-US" sz="2000">
              <a:latin typeface="Poppins Bold" panose="00000800000000000000" charset="0"/>
              <a:cs typeface="Poppins Bold" panose="00000800000000000000" charset="0"/>
            </a:endParaRPr>
          </a:p>
          <a:p>
            <a:pPr marL="342900" indent="-342900">
              <a:buFont typeface="Arial" panose="020B0604020202020204" pitchFamily="34" charset="0"/>
              <a:buChar char="•"/>
            </a:pPr>
            <a:r>
              <a:rPr lang="en-US" sz="2000">
                <a:latin typeface="Poppins Bold" panose="00000800000000000000" charset="0"/>
                <a:cs typeface="Poppins Bold" panose="00000800000000000000" charset="0"/>
              </a:rPr>
              <a:t>Trong tập dữ liệu này, nhóm trẻ có nhiều trường hợp béo phì nghiêm trọng.</a:t>
            </a:r>
          </a:p>
        </p:txBody>
      </p:sp>
    </p:spTree>
    <p:extLst>
      <p:ext uri="{BB962C8B-B14F-4D97-AF65-F5344CB8AC3E}">
        <p14:creationId xmlns:p14="http://schemas.microsoft.com/office/powerpoint/2010/main" val="3755071879"/>
      </p:ext>
    </p:extLst>
  </p:cSld>
  <p:clrMapOvr>
    <a:masterClrMapping/>
  </p:clrMapOvr>
  <p:transition spd="med">
    <p:pull/>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91EFE5-530A-143F-FC69-CA0934C0318A}"/>
            </a:ext>
          </a:extLst>
        </p:cNvPr>
        <p:cNvGrpSpPr/>
        <p:nvPr/>
      </p:nvGrpSpPr>
      <p:grpSpPr>
        <a:xfrm>
          <a:off x="0" y="0"/>
          <a:ext cx="0" cy="0"/>
          <a:chOff x="0" y="0"/>
          <a:chExt cx="0" cy="0"/>
        </a:xfrm>
      </p:grpSpPr>
      <p:sp>
        <p:nvSpPr>
          <p:cNvPr id="2" name="Freeform 2">
            <a:extLst>
              <a:ext uri="{FF2B5EF4-FFF2-40B4-BE49-F238E27FC236}">
                <a16:creationId xmlns:a16="http://schemas.microsoft.com/office/drawing/2014/main" id="{FE7B94F9-AB1C-C472-A8D3-4E57554F8622}"/>
              </a:ext>
            </a:extLst>
          </p:cNvPr>
          <p:cNvSpPr/>
          <p:nvPr/>
        </p:nvSpPr>
        <p:spPr>
          <a:xfrm>
            <a:off x="1436071" y="7651335"/>
            <a:ext cx="314128" cy="226172"/>
          </a:xfrm>
          <a:custGeom>
            <a:avLst/>
            <a:gdLst/>
            <a:ahLst/>
            <a:cxnLst/>
            <a:rect l="l" t="t" r="r" b="b"/>
            <a:pathLst>
              <a:path w="234433" h="168792">
                <a:moveTo>
                  <a:pt x="0" y="0"/>
                </a:moveTo>
                <a:lnTo>
                  <a:pt x="234434" y="0"/>
                </a:lnTo>
                <a:lnTo>
                  <a:pt x="234434" y="168792"/>
                </a:lnTo>
                <a:lnTo>
                  <a:pt x="0" y="168792"/>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n-US"/>
          </a:p>
        </p:txBody>
      </p:sp>
      <p:grpSp>
        <p:nvGrpSpPr>
          <p:cNvPr id="3" name="Group 3">
            <a:extLst>
              <a:ext uri="{FF2B5EF4-FFF2-40B4-BE49-F238E27FC236}">
                <a16:creationId xmlns:a16="http://schemas.microsoft.com/office/drawing/2014/main" id="{1483936B-2CA8-D4AC-0469-E0A3DDABF3BB}"/>
              </a:ext>
            </a:extLst>
          </p:cNvPr>
          <p:cNvGrpSpPr/>
          <p:nvPr/>
        </p:nvGrpSpPr>
        <p:grpSpPr>
          <a:xfrm>
            <a:off x="-439650" y="-84113"/>
            <a:ext cx="11099731" cy="2002811"/>
            <a:chOff x="0" y="0"/>
            <a:chExt cx="3252604" cy="586893"/>
          </a:xfrm>
        </p:grpSpPr>
        <p:sp>
          <p:nvSpPr>
            <p:cNvPr id="4" name="Freeform 4">
              <a:extLst>
                <a:ext uri="{FF2B5EF4-FFF2-40B4-BE49-F238E27FC236}">
                  <a16:creationId xmlns:a16="http://schemas.microsoft.com/office/drawing/2014/main" id="{4574AB08-BBF1-9539-23C7-384D2CF6A56B}"/>
                </a:ext>
              </a:extLst>
            </p:cNvPr>
            <p:cNvSpPr/>
            <p:nvPr/>
          </p:nvSpPr>
          <p:spPr>
            <a:xfrm>
              <a:off x="0" y="0"/>
              <a:ext cx="3252604" cy="586893"/>
            </a:xfrm>
            <a:custGeom>
              <a:avLst/>
              <a:gdLst/>
              <a:ahLst/>
              <a:cxnLst/>
              <a:rect l="l" t="t" r="r" b="b"/>
              <a:pathLst>
                <a:path w="3252604" h="586893">
                  <a:moveTo>
                    <a:pt x="69749" y="0"/>
                  </a:moveTo>
                  <a:lnTo>
                    <a:pt x="3182856" y="0"/>
                  </a:lnTo>
                  <a:cubicBezTo>
                    <a:pt x="3201354" y="0"/>
                    <a:pt x="3219095" y="7349"/>
                    <a:pt x="3232175" y="20429"/>
                  </a:cubicBezTo>
                  <a:cubicBezTo>
                    <a:pt x="3245256" y="33509"/>
                    <a:pt x="3252604" y="51250"/>
                    <a:pt x="3252604" y="69749"/>
                  </a:cubicBezTo>
                  <a:lnTo>
                    <a:pt x="3252604" y="517144"/>
                  </a:lnTo>
                  <a:cubicBezTo>
                    <a:pt x="3252604" y="555665"/>
                    <a:pt x="3221377" y="586893"/>
                    <a:pt x="3182856" y="586893"/>
                  </a:cubicBezTo>
                  <a:lnTo>
                    <a:pt x="69749" y="586893"/>
                  </a:lnTo>
                  <a:cubicBezTo>
                    <a:pt x="51250" y="586893"/>
                    <a:pt x="33509" y="579544"/>
                    <a:pt x="20429" y="566464"/>
                  </a:cubicBezTo>
                  <a:cubicBezTo>
                    <a:pt x="7349" y="553384"/>
                    <a:pt x="0" y="535643"/>
                    <a:pt x="0" y="517144"/>
                  </a:cubicBezTo>
                  <a:lnTo>
                    <a:pt x="0" y="69749"/>
                  </a:lnTo>
                  <a:cubicBezTo>
                    <a:pt x="0" y="31228"/>
                    <a:pt x="31228" y="0"/>
                    <a:pt x="69749"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5" name="TextBox 5">
              <a:extLst>
                <a:ext uri="{FF2B5EF4-FFF2-40B4-BE49-F238E27FC236}">
                  <a16:creationId xmlns:a16="http://schemas.microsoft.com/office/drawing/2014/main" id="{F6D30454-CD5E-34C2-383D-A94B43AE0C0E}"/>
                </a:ext>
              </a:extLst>
            </p:cNvPr>
            <p:cNvSpPr txBox="1"/>
            <p:nvPr/>
          </p:nvSpPr>
          <p:spPr>
            <a:xfrm>
              <a:off x="0" y="-38100"/>
              <a:ext cx="3252604" cy="624993"/>
            </a:xfrm>
            <a:prstGeom prst="rect">
              <a:avLst/>
            </a:prstGeom>
          </p:spPr>
          <p:txBody>
            <a:bodyPr lIns="50800" tIns="50800" rIns="50800" bIns="50800" rtlCol="0" anchor="ctr"/>
            <a:lstStyle/>
            <a:p>
              <a:pPr algn="ctr">
                <a:lnSpc>
                  <a:spcPts val="2659"/>
                </a:lnSpc>
                <a:spcBef>
                  <a:spcPct val="0"/>
                </a:spcBef>
              </a:pPr>
              <a:endParaRPr/>
            </a:p>
          </p:txBody>
        </p:sp>
      </p:grpSp>
      <p:grpSp>
        <p:nvGrpSpPr>
          <p:cNvPr id="6" name="Group 6">
            <a:extLst>
              <a:ext uri="{FF2B5EF4-FFF2-40B4-BE49-F238E27FC236}">
                <a16:creationId xmlns:a16="http://schemas.microsoft.com/office/drawing/2014/main" id="{B59A06C9-405E-57A5-2C16-2CD571C01761}"/>
              </a:ext>
            </a:extLst>
          </p:cNvPr>
          <p:cNvGrpSpPr/>
          <p:nvPr/>
        </p:nvGrpSpPr>
        <p:grpSpPr>
          <a:xfrm rot="-10800000">
            <a:off x="12326803" y="9605582"/>
            <a:ext cx="8886648" cy="1376152"/>
            <a:chOff x="0" y="0"/>
            <a:chExt cx="2340516" cy="362443"/>
          </a:xfrm>
        </p:grpSpPr>
        <p:sp>
          <p:nvSpPr>
            <p:cNvPr id="7" name="Freeform 7">
              <a:extLst>
                <a:ext uri="{FF2B5EF4-FFF2-40B4-BE49-F238E27FC236}">
                  <a16:creationId xmlns:a16="http://schemas.microsoft.com/office/drawing/2014/main" id="{DDA3E9C8-19AE-E5BD-4F85-5B181BFD39B2}"/>
                </a:ext>
              </a:extLst>
            </p:cNvPr>
            <p:cNvSpPr/>
            <p:nvPr/>
          </p:nvSpPr>
          <p:spPr>
            <a:xfrm>
              <a:off x="0" y="0"/>
              <a:ext cx="2340516" cy="362443"/>
            </a:xfrm>
            <a:custGeom>
              <a:avLst/>
              <a:gdLst/>
              <a:ahLst/>
              <a:cxnLst/>
              <a:rect l="l" t="t" r="r" b="b"/>
              <a:pathLst>
                <a:path w="2340516" h="362443">
                  <a:moveTo>
                    <a:pt x="87119" y="0"/>
                  </a:moveTo>
                  <a:lnTo>
                    <a:pt x="2253398" y="0"/>
                  </a:lnTo>
                  <a:cubicBezTo>
                    <a:pt x="2276503" y="0"/>
                    <a:pt x="2298662" y="9179"/>
                    <a:pt x="2315000" y="25516"/>
                  </a:cubicBezTo>
                  <a:cubicBezTo>
                    <a:pt x="2331338" y="41854"/>
                    <a:pt x="2340516" y="64013"/>
                    <a:pt x="2340516" y="87119"/>
                  </a:cubicBezTo>
                  <a:lnTo>
                    <a:pt x="2340516" y="275325"/>
                  </a:lnTo>
                  <a:cubicBezTo>
                    <a:pt x="2340516" y="298430"/>
                    <a:pt x="2331338" y="320589"/>
                    <a:pt x="2315000" y="336927"/>
                  </a:cubicBezTo>
                  <a:cubicBezTo>
                    <a:pt x="2298662" y="353265"/>
                    <a:pt x="2276503" y="362443"/>
                    <a:pt x="2253398" y="362443"/>
                  </a:cubicBezTo>
                  <a:lnTo>
                    <a:pt x="87119" y="362443"/>
                  </a:lnTo>
                  <a:cubicBezTo>
                    <a:pt x="64013" y="362443"/>
                    <a:pt x="41854" y="353265"/>
                    <a:pt x="25516" y="336927"/>
                  </a:cubicBezTo>
                  <a:cubicBezTo>
                    <a:pt x="9179" y="320589"/>
                    <a:pt x="0" y="298430"/>
                    <a:pt x="0" y="275325"/>
                  </a:cubicBezTo>
                  <a:lnTo>
                    <a:pt x="0" y="87119"/>
                  </a:lnTo>
                  <a:cubicBezTo>
                    <a:pt x="0" y="64013"/>
                    <a:pt x="9179" y="41854"/>
                    <a:pt x="25516" y="25516"/>
                  </a:cubicBezTo>
                  <a:cubicBezTo>
                    <a:pt x="41854" y="9179"/>
                    <a:pt x="64013" y="0"/>
                    <a:pt x="87119"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8" name="TextBox 8">
              <a:extLst>
                <a:ext uri="{FF2B5EF4-FFF2-40B4-BE49-F238E27FC236}">
                  <a16:creationId xmlns:a16="http://schemas.microsoft.com/office/drawing/2014/main" id="{7844AFB5-A4F1-0A94-D268-3791E7A8E070}"/>
                </a:ext>
              </a:extLst>
            </p:cNvPr>
            <p:cNvSpPr txBox="1"/>
            <p:nvPr/>
          </p:nvSpPr>
          <p:spPr>
            <a:xfrm>
              <a:off x="0" y="-38100"/>
              <a:ext cx="2340516" cy="400543"/>
            </a:xfrm>
            <a:prstGeom prst="rect">
              <a:avLst/>
            </a:prstGeom>
          </p:spPr>
          <p:txBody>
            <a:bodyPr lIns="50800" tIns="50800" rIns="50800" bIns="50800" rtlCol="0" anchor="ctr"/>
            <a:lstStyle/>
            <a:p>
              <a:pPr algn="ctr">
                <a:lnSpc>
                  <a:spcPts val="2659"/>
                </a:lnSpc>
                <a:spcBef>
                  <a:spcPct val="0"/>
                </a:spcBef>
              </a:pPr>
              <a:endParaRPr/>
            </a:p>
          </p:txBody>
        </p:sp>
      </p:grpSp>
      <p:sp>
        <p:nvSpPr>
          <p:cNvPr id="9" name="Freeform 9">
            <a:extLst>
              <a:ext uri="{FF2B5EF4-FFF2-40B4-BE49-F238E27FC236}">
                <a16:creationId xmlns:a16="http://schemas.microsoft.com/office/drawing/2014/main" id="{70EDE2A1-57C6-0090-D751-E9CEFAED47B0}"/>
              </a:ext>
            </a:extLst>
          </p:cNvPr>
          <p:cNvSpPr/>
          <p:nvPr/>
        </p:nvSpPr>
        <p:spPr>
          <a:xfrm rot="-5400000">
            <a:off x="-88008" y="738356"/>
            <a:ext cx="1308499" cy="704893"/>
          </a:xfrm>
          <a:custGeom>
            <a:avLst/>
            <a:gdLst/>
            <a:ahLst/>
            <a:cxnLst/>
            <a:rect l="l" t="t" r="r" b="b"/>
            <a:pathLst>
              <a:path w="1308499" h="704893">
                <a:moveTo>
                  <a:pt x="0" y="0"/>
                </a:moveTo>
                <a:lnTo>
                  <a:pt x="1308499" y="0"/>
                </a:lnTo>
                <a:lnTo>
                  <a:pt x="1308499" y="704893"/>
                </a:lnTo>
                <a:lnTo>
                  <a:pt x="0" y="704893"/>
                </a:lnTo>
                <a:lnTo>
                  <a:pt x="0" y="0"/>
                </a:lnTo>
                <a:close/>
              </a:path>
            </a:pathLst>
          </a:custGeom>
          <a:blipFill>
            <a:blip>
              <a:extLst>
                <a:ext uri="{96DAC541-7B7A-43D3-8B79-37D633B846F1}">
                  <asvg:svgBlip xmlns:asvg="http://schemas.microsoft.com/office/drawing/2016/SVG/main" r:embed="rId4"/>
                </a:ext>
              </a:extLst>
            </a:blip>
            <a:stretch>
              <a:fillRect b="-85630"/>
            </a:stretch>
          </a:blipFill>
        </p:spPr>
        <p:txBody>
          <a:bodyPr/>
          <a:lstStyle/>
          <a:p>
            <a:endParaRPr lang="en-US"/>
          </a:p>
        </p:txBody>
      </p:sp>
      <p:sp>
        <p:nvSpPr>
          <p:cNvPr id="10" name="Freeform 10">
            <a:extLst>
              <a:ext uri="{FF2B5EF4-FFF2-40B4-BE49-F238E27FC236}">
                <a16:creationId xmlns:a16="http://schemas.microsoft.com/office/drawing/2014/main" id="{68685BC2-9827-7513-2DFE-7DC16389ACFA}"/>
              </a:ext>
            </a:extLst>
          </p:cNvPr>
          <p:cNvSpPr/>
          <p:nvPr/>
        </p:nvSpPr>
        <p:spPr>
          <a:xfrm>
            <a:off x="15821992" y="707837"/>
            <a:ext cx="1191242" cy="641726"/>
          </a:xfrm>
          <a:custGeom>
            <a:avLst/>
            <a:gdLst/>
            <a:ahLst/>
            <a:cxnLst/>
            <a:rect l="l" t="t" r="r" b="b"/>
            <a:pathLst>
              <a:path w="1191242" h="641726">
                <a:moveTo>
                  <a:pt x="0" y="0"/>
                </a:moveTo>
                <a:lnTo>
                  <a:pt x="1191242" y="0"/>
                </a:lnTo>
                <a:lnTo>
                  <a:pt x="1191242" y="641726"/>
                </a:lnTo>
                <a:lnTo>
                  <a:pt x="0" y="641726"/>
                </a:lnTo>
                <a:lnTo>
                  <a:pt x="0" y="0"/>
                </a:lnTo>
                <a:close/>
              </a:path>
            </a:pathLst>
          </a:custGeom>
          <a:blipFill>
            <a:blip>
              <a:extLst>
                <a:ext uri="{96DAC541-7B7A-43D3-8B79-37D633B846F1}">
                  <asvg:svgBlip xmlns:asvg="http://schemas.microsoft.com/office/drawing/2016/SVG/main" r:embed="rId5"/>
                </a:ext>
              </a:extLst>
            </a:blip>
            <a:stretch>
              <a:fillRect b="-85630"/>
            </a:stretch>
          </a:blipFill>
        </p:spPr>
        <p:txBody>
          <a:bodyPr/>
          <a:lstStyle/>
          <a:p>
            <a:endParaRPr lang="en-US"/>
          </a:p>
        </p:txBody>
      </p:sp>
      <p:grpSp>
        <p:nvGrpSpPr>
          <p:cNvPr id="14" name="Group 14">
            <a:extLst>
              <a:ext uri="{FF2B5EF4-FFF2-40B4-BE49-F238E27FC236}">
                <a16:creationId xmlns:a16="http://schemas.microsoft.com/office/drawing/2014/main" id="{E81D694A-7D07-A929-9EEF-5E28AE86C1F1}"/>
              </a:ext>
            </a:extLst>
          </p:cNvPr>
          <p:cNvGrpSpPr/>
          <p:nvPr/>
        </p:nvGrpSpPr>
        <p:grpSpPr>
          <a:xfrm>
            <a:off x="1172118" y="2117037"/>
            <a:ext cx="11393994" cy="7305784"/>
            <a:chOff x="0" y="0"/>
            <a:chExt cx="11468100" cy="7353300"/>
          </a:xfrm>
        </p:grpSpPr>
        <p:sp>
          <p:nvSpPr>
            <p:cNvPr id="15" name="Freeform 15">
              <a:extLst>
                <a:ext uri="{FF2B5EF4-FFF2-40B4-BE49-F238E27FC236}">
                  <a16:creationId xmlns:a16="http://schemas.microsoft.com/office/drawing/2014/main" id="{7834F835-5537-1613-8CB3-7B755D8D3256}"/>
                </a:ext>
              </a:extLst>
            </p:cNvPr>
            <p:cNvSpPr/>
            <p:nvPr/>
          </p:nvSpPr>
          <p:spPr>
            <a:xfrm>
              <a:off x="0" y="0"/>
              <a:ext cx="11468100" cy="7353300"/>
            </a:xfrm>
            <a:custGeom>
              <a:avLst/>
              <a:gdLst/>
              <a:ahLst/>
              <a:cxnLst/>
              <a:rect l="l" t="t" r="r" b="b"/>
              <a:pathLst>
                <a:path w="11468100" h="7353300">
                  <a:moveTo>
                    <a:pt x="0" y="0"/>
                  </a:moveTo>
                  <a:lnTo>
                    <a:pt x="11468100" y="0"/>
                  </a:lnTo>
                  <a:lnTo>
                    <a:pt x="11468100" y="7353300"/>
                  </a:lnTo>
                  <a:lnTo>
                    <a:pt x="0" y="7353300"/>
                  </a:lnTo>
                  <a:close/>
                </a:path>
              </a:pathLst>
            </a:custGeom>
            <a:solidFill>
              <a:srgbClr val="FFFFFF"/>
            </a:solidFill>
            <a:ln w="38100" cap="sq">
              <a:solidFill>
                <a:srgbClr val="0151B8"/>
              </a:solidFill>
              <a:prstDash val="solid"/>
              <a:miter/>
            </a:ln>
          </p:spPr>
          <p:txBody>
            <a:bodyPr/>
            <a:lstStyle/>
            <a:p>
              <a:endParaRPr lang="en-US"/>
            </a:p>
          </p:txBody>
        </p:sp>
      </p:grpSp>
      <p:sp>
        <p:nvSpPr>
          <p:cNvPr id="16" name="Freeform 16">
            <a:extLst>
              <a:ext uri="{FF2B5EF4-FFF2-40B4-BE49-F238E27FC236}">
                <a16:creationId xmlns:a16="http://schemas.microsoft.com/office/drawing/2014/main" id="{D5F5C19D-A5EA-2024-9004-704A799400D5}"/>
              </a:ext>
            </a:extLst>
          </p:cNvPr>
          <p:cNvSpPr/>
          <p:nvPr/>
        </p:nvSpPr>
        <p:spPr>
          <a:xfrm>
            <a:off x="1219200" y="2163133"/>
            <a:ext cx="11290414" cy="7204174"/>
          </a:xfrm>
          <a:custGeom>
            <a:avLst/>
            <a:gdLst/>
            <a:ahLst/>
            <a:cxnLst/>
            <a:rect l="l" t="t" r="r" b="b"/>
            <a:pathLst>
              <a:path w="8426037" h="5376476">
                <a:moveTo>
                  <a:pt x="0" y="0"/>
                </a:moveTo>
                <a:lnTo>
                  <a:pt x="8426037" y="0"/>
                </a:lnTo>
                <a:lnTo>
                  <a:pt x="8426037" y="5376477"/>
                </a:lnTo>
                <a:lnTo>
                  <a:pt x="0" y="5376477"/>
                </a:lnTo>
                <a:lnTo>
                  <a:pt x="0" y="0"/>
                </a:lnTo>
                <a:close/>
              </a:path>
            </a:pathLst>
          </a:custGeom>
          <a:blipFill>
            <a:blip r:embed="rId6"/>
            <a:stretch>
              <a:fillRect/>
            </a:stretch>
          </a:blipFill>
        </p:spPr>
        <p:txBody>
          <a:bodyPr/>
          <a:lstStyle/>
          <a:p>
            <a:endParaRPr lang="en-US"/>
          </a:p>
        </p:txBody>
      </p:sp>
      <p:sp>
        <p:nvSpPr>
          <p:cNvPr id="19" name="TextBox 19">
            <a:extLst>
              <a:ext uri="{FF2B5EF4-FFF2-40B4-BE49-F238E27FC236}">
                <a16:creationId xmlns:a16="http://schemas.microsoft.com/office/drawing/2014/main" id="{599F1E60-4F2C-1E7A-CF15-AC1311F0EAF7}"/>
              </a:ext>
            </a:extLst>
          </p:cNvPr>
          <p:cNvSpPr txBox="1"/>
          <p:nvPr/>
        </p:nvSpPr>
        <p:spPr>
          <a:xfrm>
            <a:off x="566241" y="-84113"/>
            <a:ext cx="8544198" cy="1805174"/>
          </a:xfrm>
          <a:prstGeom prst="rect">
            <a:avLst/>
          </a:prstGeom>
        </p:spPr>
        <p:txBody>
          <a:bodyPr wrap="square" lIns="0" tIns="0" rIns="0" bIns="0" rtlCol="0" anchor="t">
            <a:spAutoFit/>
          </a:bodyPr>
          <a:lstStyle/>
          <a:p>
            <a:pPr marL="0" lvl="0" indent="0" algn="l">
              <a:lnSpc>
                <a:spcPts val="7359"/>
              </a:lnSpc>
              <a:spcBef>
                <a:spcPct val="0"/>
              </a:spcBef>
            </a:pPr>
            <a:r>
              <a:rPr lang="en-US" sz="4200" b="1" u="none" strike="noStrike">
                <a:solidFill>
                  <a:srgbClr val="000000"/>
                </a:solidFill>
                <a:latin typeface="Poppins Bold"/>
                <a:ea typeface="Poppins Bold"/>
                <a:cs typeface="Poppins Bold"/>
                <a:sym typeface="Poppins Bold"/>
              </a:rPr>
              <a:t>EDA 2 – Mối li</a:t>
            </a:r>
            <a:r>
              <a:rPr lang="en-US" sz="4200" b="1">
                <a:solidFill>
                  <a:srgbClr val="000000"/>
                </a:solidFill>
                <a:latin typeface="Poppins Bold"/>
                <a:ea typeface="Poppins Bold"/>
                <a:cs typeface="Poppins Bold"/>
                <a:sym typeface="Poppins Bold"/>
              </a:rPr>
              <a:t>ên hệ giữa tuổi, cân nặng và mức độ béo phì</a:t>
            </a:r>
            <a:endParaRPr lang="en-US" sz="4200" b="1" u="none" strike="noStrike">
              <a:solidFill>
                <a:srgbClr val="000000"/>
              </a:solidFill>
              <a:latin typeface="Poppins Bold"/>
              <a:ea typeface="Poppins Bold"/>
              <a:cs typeface="Poppins Bold"/>
              <a:sym typeface="Poppins Bold"/>
            </a:endParaRPr>
          </a:p>
        </p:txBody>
      </p:sp>
      <p:sp>
        <p:nvSpPr>
          <p:cNvPr id="21" name="Slide Number Placeholder 20">
            <a:extLst>
              <a:ext uri="{FF2B5EF4-FFF2-40B4-BE49-F238E27FC236}">
                <a16:creationId xmlns:a16="http://schemas.microsoft.com/office/drawing/2014/main" id="{475AC62D-EE6D-7F97-BD1B-813E8549D025}"/>
              </a:ext>
            </a:extLst>
          </p:cNvPr>
          <p:cNvSpPr>
            <a:spLocks noGrp="1"/>
          </p:cNvSpPr>
          <p:nvPr>
            <p:ph type="sldNum" sz="quarter" idx="12"/>
          </p:nvPr>
        </p:nvSpPr>
        <p:spPr/>
        <p:txBody>
          <a:bodyPr/>
          <a:lstStyle/>
          <a:p>
            <a:fld id="{B6F15528-21DE-4FAA-801E-634DDDAF4B2B}" type="slidenum">
              <a:rPr lang="en-US" smtClean="0"/>
              <a:pPr/>
              <a:t>10</a:t>
            </a:fld>
            <a:endParaRPr lang="en-US"/>
          </a:p>
        </p:txBody>
      </p:sp>
      <p:sp>
        <p:nvSpPr>
          <p:cNvPr id="20" name="TextBox 19">
            <a:extLst>
              <a:ext uri="{FF2B5EF4-FFF2-40B4-BE49-F238E27FC236}">
                <a16:creationId xmlns:a16="http://schemas.microsoft.com/office/drawing/2014/main" id="{127D1AE9-EE1A-E15A-BFF1-70975CC3F558}"/>
              </a:ext>
            </a:extLst>
          </p:cNvPr>
          <p:cNvSpPr txBox="1"/>
          <p:nvPr/>
        </p:nvSpPr>
        <p:spPr>
          <a:xfrm>
            <a:off x="12917994" y="2628900"/>
            <a:ext cx="5065206" cy="2246769"/>
          </a:xfrm>
          <a:prstGeom prst="rect">
            <a:avLst/>
          </a:prstGeom>
          <a:noFill/>
        </p:spPr>
        <p:txBody>
          <a:bodyPr wrap="square" rtlCol="0">
            <a:spAutoFit/>
          </a:bodyPr>
          <a:lstStyle/>
          <a:p>
            <a:pPr marL="342900" indent="-342900">
              <a:buFont typeface="Arial" panose="020B0604020202020204" pitchFamily="34" charset="0"/>
              <a:buChar char="•"/>
            </a:pPr>
            <a:r>
              <a:rPr lang="en-US" sz="2000">
                <a:latin typeface="Poppins Bold" panose="00000800000000000000" charset="0"/>
                <a:cs typeface="Poppins Bold" panose="00000800000000000000" charset="0"/>
              </a:rPr>
              <a:t>Mean = 87.9 kg &gt; Median = 84.1 kg.</a:t>
            </a:r>
            <a:br>
              <a:rPr lang="en-US" sz="2000">
                <a:latin typeface="Poppins Bold" panose="00000800000000000000" charset="0"/>
                <a:cs typeface="Poppins Bold" panose="00000800000000000000" charset="0"/>
              </a:rPr>
            </a:br>
            <a:endParaRPr lang="en-US" sz="2000">
              <a:latin typeface="Poppins Bold" panose="00000800000000000000" charset="0"/>
              <a:cs typeface="Poppins Bold" panose="00000800000000000000" charset="0"/>
            </a:endParaRPr>
          </a:p>
          <a:p>
            <a:pPr marL="342900" indent="-342900">
              <a:buFont typeface="Arial" panose="020B0604020202020204" pitchFamily="34" charset="0"/>
              <a:buChar char="•"/>
            </a:pPr>
            <a:r>
              <a:rPr lang="en-US" sz="2000">
                <a:latin typeface="Poppins Bold" panose="00000800000000000000" charset="0"/>
                <a:cs typeface="Poppins Bold" panose="00000800000000000000" charset="0"/>
              </a:rPr>
              <a:t>Phân phối cân nặng lệch phải.</a:t>
            </a:r>
            <a:br>
              <a:rPr lang="en-US" sz="2000">
                <a:latin typeface="Poppins Bold" panose="00000800000000000000" charset="0"/>
                <a:cs typeface="Poppins Bold" panose="00000800000000000000" charset="0"/>
              </a:rPr>
            </a:br>
            <a:endParaRPr lang="en-US" sz="2000">
              <a:latin typeface="Poppins Bold" panose="00000800000000000000" charset="0"/>
              <a:cs typeface="Poppins Bold" panose="00000800000000000000" charset="0"/>
            </a:endParaRPr>
          </a:p>
          <a:p>
            <a:pPr marL="342900" indent="-342900">
              <a:buFont typeface="Arial" panose="020B0604020202020204" pitchFamily="34" charset="0"/>
              <a:buChar char="•"/>
            </a:pPr>
            <a:r>
              <a:rPr lang="en-US" sz="2000">
                <a:latin typeface="Poppins Bold" panose="00000800000000000000" charset="0"/>
                <a:cs typeface="Poppins Bold" panose="00000800000000000000" charset="0"/>
              </a:rPr>
              <a:t>Một nhóm người có cân nặng rất cao làm kéo giá trị trung bình tăng lên.</a:t>
            </a:r>
          </a:p>
        </p:txBody>
      </p:sp>
    </p:spTree>
    <p:extLst>
      <p:ext uri="{BB962C8B-B14F-4D97-AF65-F5344CB8AC3E}">
        <p14:creationId xmlns:p14="http://schemas.microsoft.com/office/powerpoint/2010/main" val="1505283846"/>
      </p:ext>
    </p:extLst>
  </p:cSld>
  <p:clrMapOvr>
    <a:masterClrMapping/>
  </p:clrMapOvr>
  <p:transition spd="med">
    <p:pull/>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526857" y="0"/>
            <a:ext cx="8451656" cy="1257300"/>
            <a:chOff x="0" y="0"/>
            <a:chExt cx="2215532" cy="569450"/>
          </a:xfrm>
        </p:grpSpPr>
        <p:sp>
          <p:nvSpPr>
            <p:cNvPr id="3" name="Freeform 3"/>
            <p:cNvSpPr/>
            <p:nvPr/>
          </p:nvSpPr>
          <p:spPr>
            <a:xfrm>
              <a:off x="0" y="0"/>
              <a:ext cx="2215532" cy="569450"/>
            </a:xfrm>
            <a:custGeom>
              <a:avLst/>
              <a:gdLst/>
              <a:ahLst/>
              <a:cxnLst/>
              <a:rect l="l" t="t" r="r" b="b"/>
              <a:pathLst>
                <a:path w="2215532" h="569450">
                  <a:moveTo>
                    <a:pt x="92033" y="0"/>
                  </a:moveTo>
                  <a:lnTo>
                    <a:pt x="2123499" y="0"/>
                  </a:lnTo>
                  <a:cubicBezTo>
                    <a:pt x="2174327" y="0"/>
                    <a:pt x="2215532" y="41205"/>
                    <a:pt x="2215532" y="92033"/>
                  </a:cubicBezTo>
                  <a:lnTo>
                    <a:pt x="2215532" y="477417"/>
                  </a:lnTo>
                  <a:cubicBezTo>
                    <a:pt x="2215532" y="501826"/>
                    <a:pt x="2205836" y="525235"/>
                    <a:pt x="2188576" y="542494"/>
                  </a:cubicBezTo>
                  <a:cubicBezTo>
                    <a:pt x="2171316" y="559754"/>
                    <a:pt x="2147907" y="569450"/>
                    <a:pt x="2123499" y="569450"/>
                  </a:cubicBezTo>
                  <a:lnTo>
                    <a:pt x="92033" y="569450"/>
                  </a:lnTo>
                  <a:cubicBezTo>
                    <a:pt x="67624" y="569450"/>
                    <a:pt x="44215" y="559754"/>
                    <a:pt x="26956" y="542494"/>
                  </a:cubicBezTo>
                  <a:cubicBezTo>
                    <a:pt x="9696" y="525235"/>
                    <a:pt x="0" y="501826"/>
                    <a:pt x="0" y="477417"/>
                  </a:cubicBezTo>
                  <a:lnTo>
                    <a:pt x="0" y="92033"/>
                  </a:lnTo>
                  <a:cubicBezTo>
                    <a:pt x="0" y="67624"/>
                    <a:pt x="9696" y="44215"/>
                    <a:pt x="26956" y="26956"/>
                  </a:cubicBezTo>
                  <a:cubicBezTo>
                    <a:pt x="44215" y="9696"/>
                    <a:pt x="67624" y="0"/>
                    <a:pt x="92033"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4" name="TextBox 4"/>
            <p:cNvSpPr txBox="1"/>
            <p:nvPr/>
          </p:nvSpPr>
          <p:spPr>
            <a:xfrm>
              <a:off x="0" y="-38100"/>
              <a:ext cx="2215532" cy="607550"/>
            </a:xfrm>
            <a:prstGeom prst="rect">
              <a:avLst/>
            </a:prstGeom>
          </p:spPr>
          <p:txBody>
            <a:bodyPr lIns="50800" tIns="50800" rIns="50800" bIns="50800" rtlCol="0" anchor="ctr"/>
            <a:lstStyle/>
            <a:p>
              <a:pPr algn="ctr">
                <a:lnSpc>
                  <a:spcPts val="2659"/>
                </a:lnSpc>
                <a:spcBef>
                  <a:spcPct val="0"/>
                </a:spcBef>
              </a:pPr>
              <a:endParaRPr/>
            </a:p>
          </p:txBody>
        </p:sp>
      </p:grpSp>
      <p:grpSp>
        <p:nvGrpSpPr>
          <p:cNvPr id="8" name="Group 8"/>
          <p:cNvGrpSpPr/>
          <p:nvPr/>
        </p:nvGrpSpPr>
        <p:grpSpPr>
          <a:xfrm>
            <a:off x="1531585" y="5846046"/>
            <a:ext cx="320486" cy="320486"/>
            <a:chOff x="0" y="0"/>
            <a:chExt cx="812800" cy="812800"/>
          </a:xfrm>
        </p:grpSpPr>
        <p:sp>
          <p:nvSpPr>
            <p:cNvPr id="9" name="Freeform 9"/>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solidFill>
              <a:srgbClr val="FFFFFF"/>
            </a:solidFill>
          </p:spPr>
          <p:txBody>
            <a:bodyPr/>
            <a:lstStyle/>
            <a:p>
              <a:endParaRPr lang="en-US"/>
            </a:p>
          </p:txBody>
        </p:sp>
        <p:sp>
          <p:nvSpPr>
            <p:cNvPr id="10" name="TextBox 10"/>
            <p:cNvSpPr txBox="1"/>
            <p:nvPr/>
          </p:nvSpPr>
          <p:spPr>
            <a:xfrm>
              <a:off x="76200" y="19050"/>
              <a:ext cx="660400" cy="717550"/>
            </a:xfrm>
            <a:prstGeom prst="rect">
              <a:avLst/>
            </a:prstGeom>
          </p:spPr>
          <p:txBody>
            <a:bodyPr lIns="23649" tIns="23649" rIns="23649" bIns="23649" rtlCol="0" anchor="ctr"/>
            <a:lstStyle/>
            <a:p>
              <a:pPr algn="ctr">
                <a:lnSpc>
                  <a:spcPts val="2735"/>
                </a:lnSpc>
              </a:pPr>
              <a:endParaRPr/>
            </a:p>
          </p:txBody>
        </p:sp>
      </p:grpSp>
      <p:sp>
        <p:nvSpPr>
          <p:cNvPr id="11" name="Freeform 11"/>
          <p:cNvSpPr/>
          <p:nvPr/>
        </p:nvSpPr>
        <p:spPr>
          <a:xfrm>
            <a:off x="1882117" y="1755856"/>
            <a:ext cx="13645880" cy="8019969"/>
          </a:xfrm>
          <a:custGeom>
            <a:avLst/>
            <a:gdLst/>
            <a:ahLst/>
            <a:cxnLst/>
            <a:rect l="l" t="t" r="r" b="b"/>
            <a:pathLst>
              <a:path w="9475296" h="5708866">
                <a:moveTo>
                  <a:pt x="0" y="0"/>
                </a:moveTo>
                <a:lnTo>
                  <a:pt x="9475296" y="0"/>
                </a:lnTo>
                <a:lnTo>
                  <a:pt x="9475296" y="5708865"/>
                </a:lnTo>
                <a:lnTo>
                  <a:pt x="0" y="5708865"/>
                </a:lnTo>
                <a:lnTo>
                  <a:pt x="0" y="0"/>
                </a:lnTo>
                <a:close/>
              </a:path>
            </a:pathLst>
          </a:custGeom>
          <a:blipFill>
            <a:blip r:embed="rId3"/>
            <a:stretch>
              <a:fillRect/>
            </a:stretch>
          </a:blipFill>
        </p:spPr>
        <p:txBody>
          <a:bodyPr/>
          <a:lstStyle/>
          <a:p>
            <a:endParaRPr lang="en-US"/>
          </a:p>
        </p:txBody>
      </p:sp>
      <p:sp>
        <p:nvSpPr>
          <p:cNvPr id="12" name="TextBox 12"/>
          <p:cNvSpPr txBox="1"/>
          <p:nvPr/>
        </p:nvSpPr>
        <p:spPr>
          <a:xfrm>
            <a:off x="2040931" y="8025045"/>
            <a:ext cx="4960953" cy="782320"/>
          </a:xfrm>
          <a:prstGeom prst="rect">
            <a:avLst/>
          </a:prstGeom>
        </p:spPr>
        <p:txBody>
          <a:bodyPr lIns="0" tIns="0" rIns="0" bIns="0" rtlCol="0" anchor="t">
            <a:spAutoFit/>
          </a:bodyPr>
          <a:lstStyle/>
          <a:p>
            <a:pPr algn="just">
              <a:lnSpc>
                <a:spcPts val="3080"/>
              </a:lnSpc>
              <a:spcBef>
                <a:spcPct val="0"/>
              </a:spcBef>
            </a:pPr>
            <a:r>
              <a:rPr lang="en-US" sz="2200">
                <a:solidFill>
                  <a:srgbClr val="FFFFFF"/>
                </a:solidFill>
                <a:latin typeface="Poppins"/>
                <a:ea typeface="Poppins"/>
                <a:cs typeface="Poppins"/>
                <a:sym typeface="Poppins"/>
              </a:rPr>
              <a:t>Reduces travel and associated costs for patients.</a:t>
            </a:r>
          </a:p>
        </p:txBody>
      </p:sp>
      <p:sp>
        <p:nvSpPr>
          <p:cNvPr id="13" name="TextBox 13"/>
          <p:cNvSpPr txBox="1"/>
          <p:nvPr/>
        </p:nvSpPr>
        <p:spPr>
          <a:xfrm>
            <a:off x="276224" y="96465"/>
            <a:ext cx="7362825" cy="798488"/>
          </a:xfrm>
          <a:prstGeom prst="rect">
            <a:avLst/>
          </a:prstGeom>
        </p:spPr>
        <p:txBody>
          <a:bodyPr lIns="0" tIns="0" rIns="0" bIns="0" rtlCol="0" anchor="t">
            <a:spAutoFit/>
          </a:bodyPr>
          <a:lstStyle/>
          <a:p>
            <a:pPr marL="0" lvl="0" indent="0" algn="l">
              <a:lnSpc>
                <a:spcPts val="6844"/>
              </a:lnSpc>
              <a:spcBef>
                <a:spcPct val="0"/>
              </a:spcBef>
            </a:pPr>
            <a:r>
              <a:rPr lang="en-US" sz="4200" b="1" u="none" strike="noStrike">
                <a:solidFill>
                  <a:srgbClr val="000000"/>
                </a:solidFill>
                <a:latin typeface="Poppins Bold"/>
                <a:ea typeface="Poppins Bold"/>
                <a:cs typeface="Poppins Bold"/>
                <a:sym typeface="Poppins Bold"/>
              </a:rPr>
              <a:t>EDA 3 – Thói quen ăn uống</a:t>
            </a:r>
          </a:p>
        </p:txBody>
      </p:sp>
      <p:sp>
        <p:nvSpPr>
          <p:cNvPr id="20" name="Slide Number Placeholder 19">
            <a:extLst>
              <a:ext uri="{FF2B5EF4-FFF2-40B4-BE49-F238E27FC236}">
                <a16:creationId xmlns:a16="http://schemas.microsoft.com/office/drawing/2014/main" id="{F9515B73-9615-A36D-60D6-FADD5D5E635D}"/>
              </a:ext>
            </a:extLst>
          </p:cNvPr>
          <p:cNvSpPr>
            <a:spLocks noGrp="1"/>
          </p:cNvSpPr>
          <p:nvPr>
            <p:ph type="sldNum" sz="quarter" idx="12"/>
          </p:nvPr>
        </p:nvSpPr>
        <p:spPr/>
        <p:txBody>
          <a:bodyPr/>
          <a:lstStyle/>
          <a:p>
            <a:fld id="{B6F15528-21DE-4FAA-801E-634DDDAF4B2B}" type="slidenum">
              <a:rPr lang="en-US" smtClean="0"/>
              <a:pPr/>
              <a:t>11</a:t>
            </a:fld>
            <a:endParaRPr lang="en-US"/>
          </a:p>
        </p:txBody>
      </p:sp>
      <p:grpSp>
        <p:nvGrpSpPr>
          <p:cNvPr id="23" name="Group 16">
            <a:extLst>
              <a:ext uri="{FF2B5EF4-FFF2-40B4-BE49-F238E27FC236}">
                <a16:creationId xmlns:a16="http://schemas.microsoft.com/office/drawing/2014/main" id="{4C6471CF-0883-AC33-171C-DFBE01F1117D}"/>
              </a:ext>
            </a:extLst>
          </p:cNvPr>
          <p:cNvGrpSpPr/>
          <p:nvPr/>
        </p:nvGrpSpPr>
        <p:grpSpPr>
          <a:xfrm>
            <a:off x="11887200" y="3086100"/>
            <a:ext cx="6752280" cy="4114800"/>
            <a:chOff x="-15826" y="-38100"/>
            <a:chExt cx="1778378" cy="1630405"/>
          </a:xfrm>
        </p:grpSpPr>
        <p:sp>
          <p:nvSpPr>
            <p:cNvPr id="24" name="Freeform 17">
              <a:extLst>
                <a:ext uri="{FF2B5EF4-FFF2-40B4-BE49-F238E27FC236}">
                  <a16:creationId xmlns:a16="http://schemas.microsoft.com/office/drawing/2014/main" id="{45E4A83F-09E2-F41B-3625-B0B166160C76}"/>
                </a:ext>
              </a:extLst>
            </p:cNvPr>
            <p:cNvSpPr/>
            <p:nvPr/>
          </p:nvSpPr>
          <p:spPr>
            <a:xfrm>
              <a:off x="-15826" y="493627"/>
              <a:ext cx="1762552" cy="1098678"/>
            </a:xfrm>
            <a:custGeom>
              <a:avLst/>
              <a:gdLst/>
              <a:ahLst/>
              <a:cxnLst/>
              <a:rect l="l" t="t" r="r" b="b"/>
              <a:pathLst>
                <a:path w="1762552" h="1098678">
                  <a:moveTo>
                    <a:pt x="115686" y="0"/>
                  </a:moveTo>
                  <a:lnTo>
                    <a:pt x="1646866" y="0"/>
                  </a:lnTo>
                  <a:cubicBezTo>
                    <a:pt x="1677548" y="0"/>
                    <a:pt x="1706973" y="12188"/>
                    <a:pt x="1728669" y="33884"/>
                  </a:cubicBezTo>
                  <a:cubicBezTo>
                    <a:pt x="1750364" y="55579"/>
                    <a:pt x="1762552" y="85004"/>
                    <a:pt x="1762552" y="115686"/>
                  </a:cubicBezTo>
                  <a:lnTo>
                    <a:pt x="1762552" y="982993"/>
                  </a:lnTo>
                  <a:cubicBezTo>
                    <a:pt x="1762552" y="1013674"/>
                    <a:pt x="1750364" y="1043100"/>
                    <a:pt x="1728669" y="1064795"/>
                  </a:cubicBezTo>
                  <a:cubicBezTo>
                    <a:pt x="1706973" y="1086490"/>
                    <a:pt x="1677548" y="1098678"/>
                    <a:pt x="1646866" y="1098678"/>
                  </a:cubicBezTo>
                  <a:lnTo>
                    <a:pt x="115686" y="1098678"/>
                  </a:lnTo>
                  <a:cubicBezTo>
                    <a:pt x="51794" y="1098678"/>
                    <a:pt x="0" y="1046884"/>
                    <a:pt x="0" y="982993"/>
                  </a:cubicBezTo>
                  <a:lnTo>
                    <a:pt x="0" y="115686"/>
                  </a:lnTo>
                  <a:cubicBezTo>
                    <a:pt x="0" y="85004"/>
                    <a:pt x="12188" y="55579"/>
                    <a:pt x="33884" y="33884"/>
                  </a:cubicBezTo>
                  <a:cubicBezTo>
                    <a:pt x="55579" y="12188"/>
                    <a:pt x="85004" y="0"/>
                    <a:pt x="115686"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25" name="TextBox 18">
              <a:extLst>
                <a:ext uri="{FF2B5EF4-FFF2-40B4-BE49-F238E27FC236}">
                  <a16:creationId xmlns:a16="http://schemas.microsoft.com/office/drawing/2014/main" id="{35839D15-1B5A-3391-BB82-5853E9B84905}"/>
                </a:ext>
              </a:extLst>
            </p:cNvPr>
            <p:cNvSpPr txBox="1"/>
            <p:nvPr/>
          </p:nvSpPr>
          <p:spPr>
            <a:xfrm>
              <a:off x="0" y="-38100"/>
              <a:ext cx="1762552" cy="1136778"/>
            </a:xfrm>
            <a:prstGeom prst="rect">
              <a:avLst/>
            </a:prstGeom>
          </p:spPr>
          <p:txBody>
            <a:bodyPr lIns="50800" tIns="50800" rIns="50800" bIns="50800" rtlCol="0" anchor="ctr"/>
            <a:lstStyle/>
            <a:p>
              <a:pPr algn="ctr">
                <a:lnSpc>
                  <a:spcPts val="2659"/>
                </a:lnSpc>
                <a:spcBef>
                  <a:spcPct val="0"/>
                </a:spcBef>
              </a:pPr>
              <a:endParaRPr/>
            </a:p>
          </p:txBody>
        </p:sp>
      </p:grpSp>
      <p:sp>
        <p:nvSpPr>
          <p:cNvPr id="29" name="TextBox 14">
            <a:extLst>
              <a:ext uri="{FF2B5EF4-FFF2-40B4-BE49-F238E27FC236}">
                <a16:creationId xmlns:a16="http://schemas.microsoft.com/office/drawing/2014/main" id="{B81ADEEC-FF7C-56E3-F5B4-7AC5D93AF470}"/>
              </a:ext>
            </a:extLst>
          </p:cNvPr>
          <p:cNvSpPr txBox="1"/>
          <p:nvPr/>
        </p:nvSpPr>
        <p:spPr>
          <a:xfrm>
            <a:off x="12452399" y="5080894"/>
            <a:ext cx="5518699" cy="1269578"/>
          </a:xfrm>
          <a:prstGeom prst="rect">
            <a:avLst/>
          </a:prstGeom>
        </p:spPr>
        <p:txBody>
          <a:bodyPr wrap="square" lIns="0" tIns="0" rIns="0" bIns="0" rtlCol="0" anchor="t">
            <a:spAutoFit/>
          </a:bodyPr>
          <a:lstStyle/>
          <a:p>
            <a:pPr algn="l">
              <a:lnSpc>
                <a:spcPts val="2735"/>
              </a:lnSpc>
              <a:spcBef>
                <a:spcPct val="0"/>
              </a:spcBef>
            </a:pPr>
            <a:r>
              <a:rPr sz="2000">
                <a:latin typeface="Poppins Bold" panose="00000800000000000000" charset="0"/>
                <a:cs typeface="Poppins Bold" panose="00000800000000000000" charset="0"/>
              </a:rPr>
              <a:t>FAVC – đồ ăn nhiều calo</a:t>
            </a:r>
          </a:p>
          <a:p>
            <a:r>
              <a:rPr sz="2000">
                <a:latin typeface="Poppins Bold" panose="00000800000000000000" charset="0"/>
                <a:cs typeface="Poppins Bold" panose="00000800000000000000" charset="0"/>
              </a:rPr>
              <a:t>• Tăng theo mức độ béo phì</a:t>
            </a:r>
          </a:p>
          <a:p>
            <a:r>
              <a:rPr sz="2000">
                <a:latin typeface="Poppins Bold" panose="00000800000000000000" charset="0"/>
                <a:cs typeface="Poppins Bold" panose="00000800000000000000" charset="0"/>
              </a:rPr>
              <a:t>• Rất cao ở Obesity Type II &amp; III</a:t>
            </a:r>
          </a:p>
          <a:p>
            <a:r>
              <a:rPr sz="2000">
                <a:latin typeface="Poppins Bold" panose="00000800000000000000" charset="0"/>
                <a:cs typeface="Poppins Bold" panose="00000800000000000000" charset="0"/>
              </a:rPr>
              <a:t>• Cần kết hợp thêm vận động và di truyền</a:t>
            </a:r>
          </a:p>
        </p:txBody>
      </p:sp>
    </p:spTree>
  </p:cSld>
  <p:clrMapOvr>
    <a:masterClrMapping/>
  </p:clrMapOvr>
  <p:transition spd="med">
    <p:pull/>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rot="-10800000">
            <a:off x="-773606" y="-2"/>
            <a:ext cx="9134474" cy="1409701"/>
            <a:chOff x="0" y="0"/>
            <a:chExt cx="2141759" cy="536957"/>
          </a:xfrm>
        </p:grpSpPr>
        <p:sp>
          <p:nvSpPr>
            <p:cNvPr id="3" name="Freeform 3"/>
            <p:cNvSpPr/>
            <p:nvPr/>
          </p:nvSpPr>
          <p:spPr>
            <a:xfrm>
              <a:off x="0" y="0"/>
              <a:ext cx="2141759" cy="536957"/>
            </a:xfrm>
            <a:custGeom>
              <a:avLst/>
              <a:gdLst/>
              <a:ahLst/>
              <a:cxnLst/>
              <a:rect l="l" t="t" r="r" b="b"/>
              <a:pathLst>
                <a:path w="2141759" h="536957">
                  <a:moveTo>
                    <a:pt x="95203" y="0"/>
                  </a:moveTo>
                  <a:lnTo>
                    <a:pt x="2046556" y="0"/>
                  </a:lnTo>
                  <a:cubicBezTo>
                    <a:pt x="2099135" y="0"/>
                    <a:pt x="2141759" y="42624"/>
                    <a:pt x="2141759" y="95203"/>
                  </a:cubicBezTo>
                  <a:lnTo>
                    <a:pt x="2141759" y="441754"/>
                  </a:lnTo>
                  <a:cubicBezTo>
                    <a:pt x="2141759" y="494333"/>
                    <a:pt x="2099135" y="536957"/>
                    <a:pt x="2046556" y="536957"/>
                  </a:cubicBezTo>
                  <a:lnTo>
                    <a:pt x="95203" y="536957"/>
                  </a:lnTo>
                  <a:cubicBezTo>
                    <a:pt x="42624" y="536957"/>
                    <a:pt x="0" y="494333"/>
                    <a:pt x="0" y="441754"/>
                  </a:cubicBezTo>
                  <a:lnTo>
                    <a:pt x="0" y="95203"/>
                  </a:lnTo>
                  <a:cubicBezTo>
                    <a:pt x="0" y="42624"/>
                    <a:pt x="42624" y="0"/>
                    <a:pt x="95203"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4" name="TextBox 4"/>
            <p:cNvSpPr txBox="1"/>
            <p:nvPr/>
          </p:nvSpPr>
          <p:spPr>
            <a:xfrm>
              <a:off x="0" y="-38100"/>
              <a:ext cx="2141759" cy="57505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p:cNvSpPr txBox="1"/>
          <p:nvPr/>
        </p:nvSpPr>
        <p:spPr>
          <a:xfrm>
            <a:off x="211624" y="190500"/>
            <a:ext cx="8131992" cy="856196"/>
          </a:xfrm>
          <a:prstGeom prst="rect">
            <a:avLst/>
          </a:prstGeom>
        </p:spPr>
        <p:txBody>
          <a:bodyPr wrap="square" lIns="0" tIns="0" rIns="0" bIns="0" rtlCol="0" anchor="t">
            <a:spAutoFit/>
          </a:bodyPr>
          <a:lstStyle/>
          <a:p>
            <a:pPr marL="0" lvl="0" indent="0" algn="l">
              <a:lnSpc>
                <a:spcPts val="7359"/>
              </a:lnSpc>
              <a:spcBef>
                <a:spcPct val="0"/>
              </a:spcBef>
            </a:pPr>
            <a:r>
              <a:rPr lang="en-US" sz="4200" b="1" u="none" strike="noStrike">
                <a:solidFill>
                  <a:srgbClr val="000000"/>
                </a:solidFill>
                <a:latin typeface="Poppins Bold"/>
                <a:ea typeface="Poppins Bold"/>
                <a:cs typeface="Poppins Bold"/>
                <a:sym typeface="Poppins Bold"/>
              </a:rPr>
              <a:t>EDA 4 – Sinh hoạt &amp; Di truyền</a:t>
            </a:r>
          </a:p>
        </p:txBody>
      </p:sp>
      <p:grpSp>
        <p:nvGrpSpPr>
          <p:cNvPr id="22" name="Group 21">
            <a:extLst>
              <a:ext uri="{FF2B5EF4-FFF2-40B4-BE49-F238E27FC236}">
                <a16:creationId xmlns:a16="http://schemas.microsoft.com/office/drawing/2014/main" id="{FE1F8A17-A1B0-07B8-4C2A-E12F4E5A4165}"/>
              </a:ext>
            </a:extLst>
          </p:cNvPr>
          <p:cNvGrpSpPr/>
          <p:nvPr/>
        </p:nvGrpSpPr>
        <p:grpSpPr>
          <a:xfrm>
            <a:off x="9804738" y="2595581"/>
            <a:ext cx="8048496" cy="5695753"/>
            <a:chOff x="9804738" y="2595581"/>
            <a:chExt cx="8048496" cy="5695753"/>
          </a:xfrm>
        </p:grpSpPr>
        <p:grpSp>
          <p:nvGrpSpPr>
            <p:cNvPr id="5" name="Group 5"/>
            <p:cNvGrpSpPr/>
            <p:nvPr/>
          </p:nvGrpSpPr>
          <p:grpSpPr>
            <a:xfrm>
              <a:off x="9804738" y="3357428"/>
              <a:ext cx="8048496" cy="4933906"/>
              <a:chOff x="0" y="0"/>
              <a:chExt cx="10337800" cy="6337300"/>
            </a:xfrm>
          </p:grpSpPr>
          <p:sp>
            <p:nvSpPr>
              <p:cNvPr id="6" name="Freeform 6"/>
              <p:cNvSpPr/>
              <p:nvPr/>
            </p:nvSpPr>
            <p:spPr>
              <a:xfrm>
                <a:off x="0" y="0"/>
                <a:ext cx="10337800" cy="6337300"/>
              </a:xfrm>
              <a:custGeom>
                <a:avLst/>
                <a:gdLst/>
                <a:ahLst/>
                <a:cxnLst/>
                <a:rect l="l" t="t" r="r" b="b"/>
                <a:pathLst>
                  <a:path w="10337800" h="6337300">
                    <a:moveTo>
                      <a:pt x="0" y="0"/>
                    </a:moveTo>
                    <a:lnTo>
                      <a:pt x="10337800" y="0"/>
                    </a:lnTo>
                    <a:lnTo>
                      <a:pt x="10337800" y="6337300"/>
                    </a:lnTo>
                    <a:lnTo>
                      <a:pt x="0" y="6337300"/>
                    </a:lnTo>
                    <a:close/>
                  </a:path>
                </a:pathLst>
              </a:custGeom>
              <a:solidFill>
                <a:srgbClr val="FFFFFF"/>
              </a:solidFill>
              <a:ln w="76200" cap="sq">
                <a:solidFill>
                  <a:srgbClr val="398DFA"/>
                </a:solidFill>
                <a:prstDash val="solid"/>
                <a:miter/>
              </a:ln>
            </p:spPr>
            <p:txBody>
              <a:bodyPr/>
              <a:lstStyle/>
              <a:p>
                <a:endParaRPr lang="en-US"/>
              </a:p>
            </p:txBody>
          </p:sp>
        </p:grpSp>
        <p:sp>
          <p:nvSpPr>
            <p:cNvPr id="7" name="Freeform 7"/>
            <p:cNvSpPr/>
            <p:nvPr/>
          </p:nvSpPr>
          <p:spPr>
            <a:xfrm>
              <a:off x="9919379" y="3446571"/>
              <a:ext cx="7745874" cy="4747472"/>
            </a:xfrm>
            <a:custGeom>
              <a:avLst/>
              <a:gdLst/>
              <a:ahLst/>
              <a:cxnLst/>
              <a:rect l="l" t="t" r="r" b="b"/>
              <a:pathLst>
                <a:path w="6383688" h="3912583">
                  <a:moveTo>
                    <a:pt x="0" y="0"/>
                  </a:moveTo>
                  <a:lnTo>
                    <a:pt x="6383689" y="0"/>
                  </a:lnTo>
                  <a:lnTo>
                    <a:pt x="6383689" y="3912583"/>
                  </a:lnTo>
                  <a:lnTo>
                    <a:pt x="0" y="3912583"/>
                  </a:lnTo>
                  <a:lnTo>
                    <a:pt x="0" y="0"/>
                  </a:lnTo>
                  <a:close/>
                </a:path>
              </a:pathLst>
            </a:custGeom>
            <a:blipFill>
              <a:blip r:embed="rId3"/>
              <a:stretch>
                <a:fillRect/>
              </a:stretch>
            </a:blipFill>
          </p:spPr>
          <p:txBody>
            <a:bodyPr/>
            <a:lstStyle/>
            <a:p>
              <a:endParaRPr lang="en-US"/>
            </a:p>
          </p:txBody>
        </p:sp>
        <p:sp>
          <p:nvSpPr>
            <p:cNvPr id="8" name="Freeform 8"/>
            <p:cNvSpPr/>
            <p:nvPr/>
          </p:nvSpPr>
          <p:spPr>
            <a:xfrm rot="5400000">
              <a:off x="14456896" y="2383206"/>
              <a:ext cx="868440" cy="1293190"/>
            </a:xfrm>
            <a:custGeom>
              <a:avLst/>
              <a:gdLst/>
              <a:ahLst/>
              <a:cxnLst/>
              <a:rect l="l" t="t" r="r" b="b"/>
              <a:pathLst>
                <a:path w="715715" h="1065771">
                  <a:moveTo>
                    <a:pt x="0" y="0"/>
                  </a:moveTo>
                  <a:lnTo>
                    <a:pt x="715716" y="0"/>
                  </a:lnTo>
                  <a:lnTo>
                    <a:pt x="715716" y="1065771"/>
                  </a:lnTo>
                  <a:lnTo>
                    <a:pt x="0" y="1065771"/>
                  </a:lnTo>
                  <a:lnTo>
                    <a:pt x="0" y="0"/>
                  </a:lnTo>
                  <a:close/>
                </a:path>
              </a:pathLst>
            </a:custGeom>
            <a:blipFill>
              <a:blip r:embed="rId4"/>
              <a:stretch>
                <a:fillRect t="-18584" b="-15725"/>
              </a:stretch>
            </a:blipFill>
          </p:spPr>
          <p:txBody>
            <a:bodyPr/>
            <a:lstStyle/>
            <a:p>
              <a:endParaRPr lang="en-US"/>
            </a:p>
          </p:txBody>
        </p:sp>
        <p:sp>
          <p:nvSpPr>
            <p:cNvPr id="13" name="TextBox 13"/>
            <p:cNvSpPr txBox="1"/>
            <p:nvPr/>
          </p:nvSpPr>
          <p:spPr>
            <a:xfrm>
              <a:off x="12035547" y="2843852"/>
              <a:ext cx="2099450" cy="371897"/>
            </a:xfrm>
            <a:prstGeom prst="rect">
              <a:avLst/>
            </a:prstGeom>
          </p:spPr>
          <p:txBody>
            <a:bodyPr wrap="square" lIns="0" tIns="0" rIns="0" bIns="0" rtlCol="0" anchor="t">
              <a:spAutoFit/>
            </a:bodyPr>
            <a:lstStyle/>
            <a:p>
              <a:pPr algn="ctr">
                <a:lnSpc>
                  <a:spcPts val="2855"/>
                </a:lnSpc>
                <a:spcBef>
                  <a:spcPct val="0"/>
                </a:spcBef>
              </a:pPr>
              <a:r>
                <a:rPr lang="en-US" sz="2500" b="1">
                  <a:solidFill>
                    <a:srgbClr val="000000"/>
                  </a:solidFill>
                  <a:latin typeface="Poppins Bold"/>
                  <a:ea typeface="Poppins Bold"/>
                  <a:cs typeface="Poppins Bold"/>
                  <a:sym typeface="Poppins Bold"/>
                </a:rPr>
                <a:t>DI TRUYỀN</a:t>
              </a:r>
            </a:p>
          </p:txBody>
        </p:sp>
      </p:grpSp>
      <p:grpSp>
        <p:nvGrpSpPr>
          <p:cNvPr id="21" name="Group 20">
            <a:extLst>
              <a:ext uri="{FF2B5EF4-FFF2-40B4-BE49-F238E27FC236}">
                <a16:creationId xmlns:a16="http://schemas.microsoft.com/office/drawing/2014/main" id="{2CF96709-DBDB-7F6B-0619-24BD60587CC0}"/>
              </a:ext>
            </a:extLst>
          </p:cNvPr>
          <p:cNvGrpSpPr/>
          <p:nvPr/>
        </p:nvGrpSpPr>
        <p:grpSpPr>
          <a:xfrm>
            <a:off x="622747" y="2798294"/>
            <a:ext cx="7874002" cy="5505670"/>
            <a:chOff x="622747" y="2798294"/>
            <a:chExt cx="7874002" cy="5505670"/>
          </a:xfrm>
        </p:grpSpPr>
        <p:grpSp>
          <p:nvGrpSpPr>
            <p:cNvPr id="9" name="Group 9"/>
            <p:cNvGrpSpPr/>
            <p:nvPr/>
          </p:nvGrpSpPr>
          <p:grpSpPr>
            <a:xfrm>
              <a:off x="622747" y="3393608"/>
              <a:ext cx="7874002" cy="4910356"/>
              <a:chOff x="0" y="0"/>
              <a:chExt cx="10325100" cy="6438900"/>
            </a:xfrm>
          </p:grpSpPr>
          <p:sp>
            <p:nvSpPr>
              <p:cNvPr id="10" name="Freeform 10"/>
              <p:cNvSpPr/>
              <p:nvPr/>
            </p:nvSpPr>
            <p:spPr>
              <a:xfrm>
                <a:off x="0" y="0"/>
                <a:ext cx="10325100" cy="6438900"/>
              </a:xfrm>
              <a:custGeom>
                <a:avLst/>
                <a:gdLst/>
                <a:ahLst/>
                <a:cxnLst/>
                <a:rect l="l" t="t" r="r" b="b"/>
                <a:pathLst>
                  <a:path w="10325100" h="6438900">
                    <a:moveTo>
                      <a:pt x="0" y="0"/>
                    </a:moveTo>
                    <a:lnTo>
                      <a:pt x="10325100" y="0"/>
                    </a:lnTo>
                    <a:lnTo>
                      <a:pt x="10325100" y="6438900"/>
                    </a:lnTo>
                    <a:lnTo>
                      <a:pt x="0" y="6438900"/>
                    </a:lnTo>
                    <a:close/>
                  </a:path>
                </a:pathLst>
              </a:custGeom>
              <a:solidFill>
                <a:srgbClr val="FFFFFF"/>
              </a:solidFill>
              <a:ln w="76200" cap="sq">
                <a:solidFill>
                  <a:srgbClr val="398DFA"/>
                </a:solidFill>
                <a:prstDash val="solid"/>
                <a:miter/>
              </a:ln>
            </p:spPr>
            <p:txBody>
              <a:bodyPr/>
              <a:lstStyle/>
              <a:p>
                <a:endParaRPr lang="en-US"/>
              </a:p>
            </p:txBody>
          </p:sp>
        </p:grpSp>
        <p:sp>
          <p:nvSpPr>
            <p:cNvPr id="11" name="Freeform 11"/>
            <p:cNvSpPr/>
            <p:nvPr/>
          </p:nvSpPr>
          <p:spPr>
            <a:xfrm>
              <a:off x="719580" y="3464021"/>
              <a:ext cx="7624036" cy="4758264"/>
            </a:xfrm>
            <a:custGeom>
              <a:avLst/>
              <a:gdLst/>
              <a:ahLst/>
              <a:cxnLst/>
              <a:rect l="l" t="t" r="r" b="b"/>
              <a:pathLst>
                <a:path w="6105235" h="3810359">
                  <a:moveTo>
                    <a:pt x="0" y="0"/>
                  </a:moveTo>
                  <a:lnTo>
                    <a:pt x="6105235" y="0"/>
                  </a:lnTo>
                  <a:lnTo>
                    <a:pt x="6105235" y="3810360"/>
                  </a:lnTo>
                  <a:lnTo>
                    <a:pt x="0" y="3810360"/>
                  </a:lnTo>
                  <a:lnTo>
                    <a:pt x="0" y="0"/>
                  </a:lnTo>
                  <a:close/>
                </a:path>
              </a:pathLst>
            </a:custGeom>
            <a:blipFill>
              <a:blip r:embed="rId5"/>
              <a:stretch>
                <a:fillRect/>
              </a:stretch>
            </a:blipFill>
          </p:spPr>
          <p:txBody>
            <a:bodyPr/>
            <a:lstStyle/>
            <a:p>
              <a:endParaRPr lang="en-US"/>
            </a:p>
          </p:txBody>
        </p:sp>
        <p:sp>
          <p:nvSpPr>
            <p:cNvPr id="16" name="TextBox 16"/>
            <p:cNvSpPr txBox="1"/>
            <p:nvPr/>
          </p:nvSpPr>
          <p:spPr>
            <a:xfrm>
              <a:off x="2910221" y="2896463"/>
              <a:ext cx="2188102" cy="434093"/>
            </a:xfrm>
            <a:prstGeom prst="rect">
              <a:avLst/>
            </a:prstGeom>
          </p:spPr>
          <p:txBody>
            <a:bodyPr wrap="square" lIns="0" tIns="0" rIns="0" bIns="0" rtlCol="0" anchor="t">
              <a:spAutoFit/>
            </a:bodyPr>
            <a:lstStyle/>
            <a:p>
              <a:pPr algn="ctr">
                <a:lnSpc>
                  <a:spcPts val="3575"/>
                </a:lnSpc>
                <a:spcBef>
                  <a:spcPct val="0"/>
                </a:spcBef>
              </a:pPr>
              <a:r>
                <a:rPr lang="en-US" sz="2500" b="1">
                  <a:solidFill>
                    <a:srgbClr val="000000"/>
                  </a:solidFill>
                  <a:latin typeface="Poppins Bold"/>
                  <a:ea typeface="Poppins Bold"/>
                  <a:cs typeface="Poppins Bold"/>
                  <a:sym typeface="Poppins Bold"/>
                </a:rPr>
                <a:t>SINH HOẠT</a:t>
              </a:r>
            </a:p>
          </p:txBody>
        </p:sp>
        <p:sp>
          <p:nvSpPr>
            <p:cNvPr id="17" name="TextBox 17"/>
            <p:cNvSpPr txBox="1"/>
            <p:nvPr/>
          </p:nvSpPr>
          <p:spPr>
            <a:xfrm>
              <a:off x="4875396" y="2798294"/>
              <a:ext cx="1382176" cy="532262"/>
            </a:xfrm>
            <a:prstGeom prst="rect">
              <a:avLst/>
            </a:prstGeom>
          </p:spPr>
          <p:txBody>
            <a:bodyPr wrap="square" lIns="0" tIns="0" rIns="0" bIns="0" rtlCol="0" anchor="t">
              <a:spAutoFit/>
            </a:bodyPr>
            <a:lstStyle/>
            <a:p>
              <a:pPr algn="ctr">
                <a:lnSpc>
                  <a:spcPts val="4443"/>
                </a:lnSpc>
                <a:spcBef>
                  <a:spcPct val="0"/>
                </a:spcBef>
              </a:pPr>
              <a:r>
                <a:rPr lang="en-US" sz="3173">
                  <a:solidFill>
                    <a:srgbClr val="000000"/>
                  </a:solidFill>
                  <a:latin typeface="Poppins"/>
                  <a:ea typeface="Poppins"/>
                  <a:cs typeface="Poppins"/>
                  <a:sym typeface="Poppins"/>
                </a:rPr>
                <a:t>🏃‍♂️📱</a:t>
              </a:r>
            </a:p>
          </p:txBody>
        </p:sp>
      </p:grpSp>
      <p:sp>
        <p:nvSpPr>
          <p:cNvPr id="18" name="AutoShape 18"/>
          <p:cNvSpPr/>
          <p:nvPr/>
        </p:nvSpPr>
        <p:spPr>
          <a:xfrm>
            <a:off x="9144000" y="0"/>
            <a:ext cx="0" cy="10287000"/>
          </a:xfrm>
          <a:prstGeom prst="line">
            <a:avLst/>
          </a:prstGeom>
          <a:ln w="28575" cap="rnd">
            <a:solidFill>
              <a:srgbClr val="FF0000"/>
            </a:solidFill>
            <a:prstDash val="solid"/>
            <a:headEnd type="none" w="sm" len="sm"/>
            <a:tailEnd type="none" w="sm" len="sm"/>
          </a:ln>
        </p:spPr>
        <p:txBody>
          <a:bodyPr/>
          <a:lstStyle/>
          <a:p>
            <a:endParaRPr lang="en-US"/>
          </a:p>
        </p:txBody>
      </p:sp>
      <p:sp>
        <p:nvSpPr>
          <p:cNvPr id="20" name="Slide Number Placeholder 19">
            <a:extLst>
              <a:ext uri="{FF2B5EF4-FFF2-40B4-BE49-F238E27FC236}">
                <a16:creationId xmlns:a16="http://schemas.microsoft.com/office/drawing/2014/main" id="{0BEDF75F-E4B5-95B3-89C1-9146575D5B1B}"/>
              </a:ext>
            </a:extLst>
          </p:cNvPr>
          <p:cNvSpPr>
            <a:spLocks noGrp="1"/>
          </p:cNvSpPr>
          <p:nvPr>
            <p:ph type="sldNum" sz="quarter" idx="12"/>
          </p:nvPr>
        </p:nvSpPr>
        <p:spPr/>
        <p:txBody>
          <a:bodyPr/>
          <a:lstStyle/>
          <a:p>
            <a:fld id="{B6F15528-21DE-4FAA-801E-634DDDAF4B2B}" type="slidenum">
              <a:rPr lang="en-US" smtClean="0"/>
              <a:pPr/>
              <a:t>12</a:t>
            </a:fld>
            <a:endParaRPr lang="en-US"/>
          </a:p>
        </p:txBody>
      </p:sp>
      <p:sp>
        <p:nvSpPr>
          <p:cNvPr id="24" name="TextBox 15">
            <a:extLst>
              <a:ext uri="{FF2B5EF4-FFF2-40B4-BE49-F238E27FC236}">
                <a16:creationId xmlns:a16="http://schemas.microsoft.com/office/drawing/2014/main" id="{1633C08A-7CA7-6FF5-998B-32FCF2A24C63}"/>
              </a:ext>
            </a:extLst>
          </p:cNvPr>
          <p:cNvSpPr txBox="1"/>
          <p:nvPr/>
        </p:nvSpPr>
        <p:spPr>
          <a:xfrm>
            <a:off x="19552955" y="2676671"/>
            <a:ext cx="3728240" cy="4933658"/>
          </a:xfrm>
          <a:prstGeom prst="rect">
            <a:avLst/>
          </a:prstGeom>
        </p:spPr>
        <p:txBody>
          <a:bodyPr wrap="square" lIns="0" tIns="0" rIns="0" bIns="0" rtlCol="0" anchor="t">
            <a:spAutoFit/>
          </a:bodyPr>
          <a:lstStyle/>
          <a:p>
            <a:pPr algn="l">
              <a:lnSpc>
                <a:spcPct val="150000"/>
              </a:lnSpc>
              <a:spcBef>
                <a:spcPct val="0"/>
              </a:spcBef>
            </a:pPr>
            <a:r>
              <a:rPr sz="2400">
                <a:latin typeface="Poppins Bold" panose="00000800000000000000" charset="0"/>
                <a:cs typeface="Poppins Bold" panose="00000800000000000000" charset="0"/>
              </a:rPr>
              <a:t>• Vận động giảm khi thể trạng nặng lên</a:t>
            </a:r>
          </a:p>
          <a:p>
            <a:pPr>
              <a:lnSpc>
                <a:spcPct val="150000"/>
              </a:lnSpc>
            </a:pPr>
            <a:r>
              <a:rPr sz="2400">
                <a:latin typeface="Poppins Bold" panose="00000800000000000000" charset="0"/>
                <a:cs typeface="Poppins Bold" panose="00000800000000000000" charset="0"/>
              </a:rPr>
              <a:t>• Obesity Type II có thể bắt đầu tập luyện lại</a:t>
            </a:r>
          </a:p>
          <a:p>
            <a:pPr>
              <a:lnSpc>
                <a:spcPct val="150000"/>
              </a:lnSpc>
            </a:pPr>
            <a:r>
              <a:rPr sz="2400">
                <a:latin typeface="Poppins Bold" panose="00000800000000000000" charset="0"/>
                <a:cs typeface="Poppins Bold" panose="00000800000000000000" charset="0"/>
              </a:rPr>
              <a:t>• Thời gian dùng công nghệ chưa có xu hướng rõ</a:t>
            </a:r>
          </a:p>
          <a:p>
            <a:pPr>
              <a:lnSpc>
                <a:spcPct val="150000"/>
              </a:lnSpc>
            </a:pPr>
            <a:r>
              <a:rPr sz="2400">
                <a:latin typeface="Poppins Bold" panose="00000800000000000000" charset="0"/>
                <a:cs typeface="Poppins Bold" panose="00000800000000000000" charset="0"/>
              </a:rPr>
              <a:t>• FAF ảnh hưởng rõ hơn TUE</a:t>
            </a:r>
          </a:p>
        </p:txBody>
      </p:sp>
    </p:spTree>
  </p:cSld>
  <p:clrMapOvr>
    <a:masterClrMapping/>
  </p:clrMapOvr>
  <p:transition spd="med">
    <p:pull/>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F74AE6-EE58-F08D-217E-0B43E5226D01}"/>
            </a:ext>
          </a:extLst>
        </p:cNvPr>
        <p:cNvGrpSpPr/>
        <p:nvPr/>
      </p:nvGrpSpPr>
      <p:grpSpPr>
        <a:xfrm>
          <a:off x="0" y="0"/>
          <a:ext cx="0" cy="0"/>
          <a:chOff x="0" y="0"/>
          <a:chExt cx="0" cy="0"/>
        </a:xfrm>
      </p:grpSpPr>
      <p:grpSp>
        <p:nvGrpSpPr>
          <p:cNvPr id="2" name="Group 2">
            <a:extLst>
              <a:ext uri="{FF2B5EF4-FFF2-40B4-BE49-F238E27FC236}">
                <a16:creationId xmlns:a16="http://schemas.microsoft.com/office/drawing/2014/main" id="{AD0207E5-E3D4-CBC4-67AE-3BF55DB67836}"/>
              </a:ext>
            </a:extLst>
          </p:cNvPr>
          <p:cNvGrpSpPr/>
          <p:nvPr/>
        </p:nvGrpSpPr>
        <p:grpSpPr>
          <a:xfrm rot="-10800000">
            <a:off x="-773606" y="-2"/>
            <a:ext cx="9134474" cy="1409701"/>
            <a:chOff x="0" y="0"/>
            <a:chExt cx="2141759" cy="536957"/>
          </a:xfrm>
        </p:grpSpPr>
        <p:sp>
          <p:nvSpPr>
            <p:cNvPr id="3" name="Freeform 3">
              <a:extLst>
                <a:ext uri="{FF2B5EF4-FFF2-40B4-BE49-F238E27FC236}">
                  <a16:creationId xmlns:a16="http://schemas.microsoft.com/office/drawing/2014/main" id="{6CE32C16-3914-24F2-E22E-3A8ED0FB67B3}"/>
                </a:ext>
              </a:extLst>
            </p:cNvPr>
            <p:cNvSpPr/>
            <p:nvPr/>
          </p:nvSpPr>
          <p:spPr>
            <a:xfrm>
              <a:off x="0" y="0"/>
              <a:ext cx="2141759" cy="536957"/>
            </a:xfrm>
            <a:custGeom>
              <a:avLst/>
              <a:gdLst/>
              <a:ahLst/>
              <a:cxnLst/>
              <a:rect l="l" t="t" r="r" b="b"/>
              <a:pathLst>
                <a:path w="2141759" h="536957">
                  <a:moveTo>
                    <a:pt x="95203" y="0"/>
                  </a:moveTo>
                  <a:lnTo>
                    <a:pt x="2046556" y="0"/>
                  </a:lnTo>
                  <a:cubicBezTo>
                    <a:pt x="2099135" y="0"/>
                    <a:pt x="2141759" y="42624"/>
                    <a:pt x="2141759" y="95203"/>
                  </a:cubicBezTo>
                  <a:lnTo>
                    <a:pt x="2141759" y="441754"/>
                  </a:lnTo>
                  <a:cubicBezTo>
                    <a:pt x="2141759" y="494333"/>
                    <a:pt x="2099135" y="536957"/>
                    <a:pt x="2046556" y="536957"/>
                  </a:cubicBezTo>
                  <a:lnTo>
                    <a:pt x="95203" y="536957"/>
                  </a:lnTo>
                  <a:cubicBezTo>
                    <a:pt x="42624" y="536957"/>
                    <a:pt x="0" y="494333"/>
                    <a:pt x="0" y="441754"/>
                  </a:cubicBezTo>
                  <a:lnTo>
                    <a:pt x="0" y="95203"/>
                  </a:lnTo>
                  <a:cubicBezTo>
                    <a:pt x="0" y="42624"/>
                    <a:pt x="42624" y="0"/>
                    <a:pt x="95203"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4" name="TextBox 4">
              <a:extLst>
                <a:ext uri="{FF2B5EF4-FFF2-40B4-BE49-F238E27FC236}">
                  <a16:creationId xmlns:a16="http://schemas.microsoft.com/office/drawing/2014/main" id="{814CF7EC-FADD-A997-D687-BDD6DC6B3A50}"/>
                </a:ext>
              </a:extLst>
            </p:cNvPr>
            <p:cNvSpPr txBox="1"/>
            <p:nvPr/>
          </p:nvSpPr>
          <p:spPr>
            <a:xfrm>
              <a:off x="0" y="-38100"/>
              <a:ext cx="2141759" cy="57505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6A9B5B43-DA73-B554-CE3E-90D02B4790FE}"/>
              </a:ext>
            </a:extLst>
          </p:cNvPr>
          <p:cNvSpPr txBox="1"/>
          <p:nvPr/>
        </p:nvSpPr>
        <p:spPr>
          <a:xfrm>
            <a:off x="211624" y="190500"/>
            <a:ext cx="8131992" cy="856196"/>
          </a:xfrm>
          <a:prstGeom prst="rect">
            <a:avLst/>
          </a:prstGeom>
        </p:spPr>
        <p:txBody>
          <a:bodyPr wrap="square" lIns="0" tIns="0" rIns="0" bIns="0" rtlCol="0" anchor="t">
            <a:spAutoFit/>
          </a:bodyPr>
          <a:lstStyle/>
          <a:p>
            <a:pPr marL="0" lvl="0" indent="0" algn="l">
              <a:lnSpc>
                <a:spcPts val="7359"/>
              </a:lnSpc>
              <a:spcBef>
                <a:spcPct val="0"/>
              </a:spcBef>
            </a:pPr>
            <a:r>
              <a:rPr lang="en-US" sz="4200" b="1" u="none" strike="noStrike">
                <a:solidFill>
                  <a:srgbClr val="000000"/>
                </a:solidFill>
                <a:latin typeface="Poppins Bold"/>
                <a:ea typeface="Poppins Bold"/>
                <a:cs typeface="Poppins Bold"/>
                <a:sym typeface="Poppins Bold"/>
              </a:rPr>
              <a:t>EDA 4 – Sinh hoạt &amp; Di truyền</a:t>
            </a:r>
          </a:p>
        </p:txBody>
      </p:sp>
      <p:grpSp>
        <p:nvGrpSpPr>
          <p:cNvPr id="22" name="Group 21">
            <a:extLst>
              <a:ext uri="{FF2B5EF4-FFF2-40B4-BE49-F238E27FC236}">
                <a16:creationId xmlns:a16="http://schemas.microsoft.com/office/drawing/2014/main" id="{F6A74FDE-9FDE-27CB-6529-C9376974BB79}"/>
              </a:ext>
            </a:extLst>
          </p:cNvPr>
          <p:cNvGrpSpPr/>
          <p:nvPr/>
        </p:nvGrpSpPr>
        <p:grpSpPr>
          <a:xfrm>
            <a:off x="19202400" y="2589776"/>
            <a:ext cx="8048496" cy="5695753"/>
            <a:chOff x="9804738" y="2595581"/>
            <a:chExt cx="8048496" cy="5695753"/>
          </a:xfrm>
        </p:grpSpPr>
        <p:grpSp>
          <p:nvGrpSpPr>
            <p:cNvPr id="5" name="Group 5">
              <a:extLst>
                <a:ext uri="{FF2B5EF4-FFF2-40B4-BE49-F238E27FC236}">
                  <a16:creationId xmlns:a16="http://schemas.microsoft.com/office/drawing/2014/main" id="{82878DD1-8B21-19B4-797A-817B3F509EA7}"/>
                </a:ext>
              </a:extLst>
            </p:cNvPr>
            <p:cNvGrpSpPr/>
            <p:nvPr/>
          </p:nvGrpSpPr>
          <p:grpSpPr>
            <a:xfrm>
              <a:off x="9804738" y="3357428"/>
              <a:ext cx="8048496" cy="4933906"/>
              <a:chOff x="0" y="0"/>
              <a:chExt cx="10337800" cy="6337300"/>
            </a:xfrm>
          </p:grpSpPr>
          <p:sp>
            <p:nvSpPr>
              <p:cNvPr id="6" name="Freeform 6">
                <a:extLst>
                  <a:ext uri="{FF2B5EF4-FFF2-40B4-BE49-F238E27FC236}">
                    <a16:creationId xmlns:a16="http://schemas.microsoft.com/office/drawing/2014/main" id="{E0F39C96-1483-53CE-0D82-CC65FE04C226}"/>
                  </a:ext>
                </a:extLst>
              </p:cNvPr>
              <p:cNvSpPr/>
              <p:nvPr/>
            </p:nvSpPr>
            <p:spPr>
              <a:xfrm>
                <a:off x="0" y="0"/>
                <a:ext cx="10337800" cy="6337300"/>
              </a:xfrm>
              <a:custGeom>
                <a:avLst/>
                <a:gdLst/>
                <a:ahLst/>
                <a:cxnLst/>
                <a:rect l="l" t="t" r="r" b="b"/>
                <a:pathLst>
                  <a:path w="10337800" h="6337300">
                    <a:moveTo>
                      <a:pt x="0" y="0"/>
                    </a:moveTo>
                    <a:lnTo>
                      <a:pt x="10337800" y="0"/>
                    </a:lnTo>
                    <a:lnTo>
                      <a:pt x="10337800" y="6337300"/>
                    </a:lnTo>
                    <a:lnTo>
                      <a:pt x="0" y="6337300"/>
                    </a:lnTo>
                    <a:close/>
                  </a:path>
                </a:pathLst>
              </a:custGeom>
              <a:solidFill>
                <a:srgbClr val="FFFFFF"/>
              </a:solidFill>
              <a:ln w="76200" cap="sq">
                <a:solidFill>
                  <a:srgbClr val="398DFA"/>
                </a:solidFill>
                <a:prstDash val="solid"/>
                <a:miter/>
              </a:ln>
            </p:spPr>
            <p:txBody>
              <a:bodyPr/>
              <a:lstStyle/>
              <a:p>
                <a:endParaRPr lang="en-US"/>
              </a:p>
            </p:txBody>
          </p:sp>
        </p:grpSp>
        <p:sp>
          <p:nvSpPr>
            <p:cNvPr id="7" name="Freeform 7">
              <a:extLst>
                <a:ext uri="{FF2B5EF4-FFF2-40B4-BE49-F238E27FC236}">
                  <a16:creationId xmlns:a16="http://schemas.microsoft.com/office/drawing/2014/main" id="{B001ACB2-2D2E-39CD-23E1-1A7B3362221E}"/>
                </a:ext>
              </a:extLst>
            </p:cNvPr>
            <p:cNvSpPr/>
            <p:nvPr/>
          </p:nvSpPr>
          <p:spPr>
            <a:xfrm>
              <a:off x="9919379" y="3446571"/>
              <a:ext cx="7745874" cy="4747472"/>
            </a:xfrm>
            <a:custGeom>
              <a:avLst/>
              <a:gdLst/>
              <a:ahLst/>
              <a:cxnLst/>
              <a:rect l="l" t="t" r="r" b="b"/>
              <a:pathLst>
                <a:path w="6383688" h="3912583">
                  <a:moveTo>
                    <a:pt x="0" y="0"/>
                  </a:moveTo>
                  <a:lnTo>
                    <a:pt x="6383689" y="0"/>
                  </a:lnTo>
                  <a:lnTo>
                    <a:pt x="6383689" y="3912583"/>
                  </a:lnTo>
                  <a:lnTo>
                    <a:pt x="0" y="3912583"/>
                  </a:lnTo>
                  <a:lnTo>
                    <a:pt x="0" y="0"/>
                  </a:lnTo>
                  <a:close/>
                </a:path>
              </a:pathLst>
            </a:custGeom>
            <a:blipFill>
              <a:blip r:embed="rId3"/>
              <a:stretch>
                <a:fillRect/>
              </a:stretch>
            </a:blipFill>
          </p:spPr>
          <p:txBody>
            <a:bodyPr/>
            <a:lstStyle/>
            <a:p>
              <a:endParaRPr lang="en-US"/>
            </a:p>
          </p:txBody>
        </p:sp>
        <p:sp>
          <p:nvSpPr>
            <p:cNvPr id="8" name="Freeform 8">
              <a:extLst>
                <a:ext uri="{FF2B5EF4-FFF2-40B4-BE49-F238E27FC236}">
                  <a16:creationId xmlns:a16="http://schemas.microsoft.com/office/drawing/2014/main" id="{CD7DAB5A-8086-50B0-7B2C-5A33CADD9281}"/>
                </a:ext>
              </a:extLst>
            </p:cNvPr>
            <p:cNvSpPr/>
            <p:nvPr/>
          </p:nvSpPr>
          <p:spPr>
            <a:xfrm rot="5400000">
              <a:off x="14456896" y="2383206"/>
              <a:ext cx="868440" cy="1293190"/>
            </a:xfrm>
            <a:custGeom>
              <a:avLst/>
              <a:gdLst/>
              <a:ahLst/>
              <a:cxnLst/>
              <a:rect l="l" t="t" r="r" b="b"/>
              <a:pathLst>
                <a:path w="715715" h="1065771">
                  <a:moveTo>
                    <a:pt x="0" y="0"/>
                  </a:moveTo>
                  <a:lnTo>
                    <a:pt x="715716" y="0"/>
                  </a:lnTo>
                  <a:lnTo>
                    <a:pt x="715716" y="1065771"/>
                  </a:lnTo>
                  <a:lnTo>
                    <a:pt x="0" y="1065771"/>
                  </a:lnTo>
                  <a:lnTo>
                    <a:pt x="0" y="0"/>
                  </a:lnTo>
                  <a:close/>
                </a:path>
              </a:pathLst>
            </a:custGeom>
            <a:blipFill>
              <a:blip r:embed="rId4"/>
              <a:stretch>
                <a:fillRect t="-18584" b="-15725"/>
              </a:stretch>
            </a:blipFill>
          </p:spPr>
          <p:txBody>
            <a:bodyPr/>
            <a:lstStyle/>
            <a:p>
              <a:endParaRPr lang="en-US"/>
            </a:p>
          </p:txBody>
        </p:sp>
        <p:sp>
          <p:nvSpPr>
            <p:cNvPr id="13" name="TextBox 13">
              <a:extLst>
                <a:ext uri="{FF2B5EF4-FFF2-40B4-BE49-F238E27FC236}">
                  <a16:creationId xmlns:a16="http://schemas.microsoft.com/office/drawing/2014/main" id="{17130BE0-14A3-AA49-82D4-0E6617AE47A8}"/>
                </a:ext>
              </a:extLst>
            </p:cNvPr>
            <p:cNvSpPr txBox="1"/>
            <p:nvPr/>
          </p:nvSpPr>
          <p:spPr>
            <a:xfrm>
              <a:off x="12035547" y="2843852"/>
              <a:ext cx="2099450" cy="371897"/>
            </a:xfrm>
            <a:prstGeom prst="rect">
              <a:avLst/>
            </a:prstGeom>
          </p:spPr>
          <p:txBody>
            <a:bodyPr wrap="square" lIns="0" tIns="0" rIns="0" bIns="0" rtlCol="0" anchor="t">
              <a:spAutoFit/>
            </a:bodyPr>
            <a:lstStyle/>
            <a:p>
              <a:pPr algn="ctr">
                <a:lnSpc>
                  <a:spcPts val="2855"/>
                </a:lnSpc>
                <a:spcBef>
                  <a:spcPct val="0"/>
                </a:spcBef>
              </a:pPr>
              <a:r>
                <a:rPr lang="en-US" sz="2500" b="1">
                  <a:solidFill>
                    <a:srgbClr val="000000"/>
                  </a:solidFill>
                  <a:latin typeface="Poppins Bold"/>
                  <a:ea typeface="Poppins Bold"/>
                  <a:cs typeface="Poppins Bold"/>
                  <a:sym typeface="Poppins Bold"/>
                </a:rPr>
                <a:t>DI TRUYỀN</a:t>
              </a:r>
            </a:p>
          </p:txBody>
        </p:sp>
      </p:grpSp>
      <p:grpSp>
        <p:nvGrpSpPr>
          <p:cNvPr id="21" name="Group 20">
            <a:extLst>
              <a:ext uri="{FF2B5EF4-FFF2-40B4-BE49-F238E27FC236}">
                <a16:creationId xmlns:a16="http://schemas.microsoft.com/office/drawing/2014/main" id="{39284BC1-01B2-73C1-8820-59A9910ED1DF}"/>
              </a:ext>
            </a:extLst>
          </p:cNvPr>
          <p:cNvGrpSpPr/>
          <p:nvPr/>
        </p:nvGrpSpPr>
        <p:grpSpPr>
          <a:xfrm>
            <a:off x="888599" y="1700229"/>
            <a:ext cx="10207078" cy="7137006"/>
            <a:chOff x="622747" y="2798294"/>
            <a:chExt cx="7874002" cy="5505670"/>
          </a:xfrm>
        </p:grpSpPr>
        <p:grpSp>
          <p:nvGrpSpPr>
            <p:cNvPr id="9" name="Group 9">
              <a:extLst>
                <a:ext uri="{FF2B5EF4-FFF2-40B4-BE49-F238E27FC236}">
                  <a16:creationId xmlns:a16="http://schemas.microsoft.com/office/drawing/2014/main" id="{3D9BE7E1-FA17-271E-2AF6-26C70E64C721}"/>
                </a:ext>
              </a:extLst>
            </p:cNvPr>
            <p:cNvGrpSpPr/>
            <p:nvPr/>
          </p:nvGrpSpPr>
          <p:grpSpPr>
            <a:xfrm>
              <a:off x="622747" y="3393608"/>
              <a:ext cx="7874002" cy="4910356"/>
              <a:chOff x="0" y="0"/>
              <a:chExt cx="10325100" cy="6438900"/>
            </a:xfrm>
          </p:grpSpPr>
          <p:sp>
            <p:nvSpPr>
              <p:cNvPr id="10" name="Freeform 10">
                <a:extLst>
                  <a:ext uri="{FF2B5EF4-FFF2-40B4-BE49-F238E27FC236}">
                    <a16:creationId xmlns:a16="http://schemas.microsoft.com/office/drawing/2014/main" id="{8DAC9CCC-7862-26B0-846A-F5E1420CF051}"/>
                  </a:ext>
                </a:extLst>
              </p:cNvPr>
              <p:cNvSpPr/>
              <p:nvPr/>
            </p:nvSpPr>
            <p:spPr>
              <a:xfrm>
                <a:off x="0" y="0"/>
                <a:ext cx="10325100" cy="6438900"/>
              </a:xfrm>
              <a:custGeom>
                <a:avLst/>
                <a:gdLst/>
                <a:ahLst/>
                <a:cxnLst/>
                <a:rect l="l" t="t" r="r" b="b"/>
                <a:pathLst>
                  <a:path w="10325100" h="6438900">
                    <a:moveTo>
                      <a:pt x="0" y="0"/>
                    </a:moveTo>
                    <a:lnTo>
                      <a:pt x="10325100" y="0"/>
                    </a:lnTo>
                    <a:lnTo>
                      <a:pt x="10325100" y="6438900"/>
                    </a:lnTo>
                    <a:lnTo>
                      <a:pt x="0" y="6438900"/>
                    </a:lnTo>
                    <a:close/>
                  </a:path>
                </a:pathLst>
              </a:custGeom>
              <a:solidFill>
                <a:srgbClr val="FFFFFF"/>
              </a:solidFill>
              <a:ln w="76200" cap="sq">
                <a:solidFill>
                  <a:srgbClr val="398DFA"/>
                </a:solidFill>
                <a:prstDash val="solid"/>
                <a:miter/>
              </a:ln>
            </p:spPr>
            <p:txBody>
              <a:bodyPr/>
              <a:lstStyle/>
              <a:p>
                <a:endParaRPr lang="en-US"/>
              </a:p>
            </p:txBody>
          </p:sp>
        </p:grpSp>
        <p:sp>
          <p:nvSpPr>
            <p:cNvPr id="11" name="Freeform 11">
              <a:extLst>
                <a:ext uri="{FF2B5EF4-FFF2-40B4-BE49-F238E27FC236}">
                  <a16:creationId xmlns:a16="http://schemas.microsoft.com/office/drawing/2014/main" id="{8615114A-71F6-0E63-282E-38EFAD51153B}"/>
                </a:ext>
              </a:extLst>
            </p:cNvPr>
            <p:cNvSpPr/>
            <p:nvPr/>
          </p:nvSpPr>
          <p:spPr>
            <a:xfrm>
              <a:off x="719580" y="3464021"/>
              <a:ext cx="7624036" cy="4758264"/>
            </a:xfrm>
            <a:custGeom>
              <a:avLst/>
              <a:gdLst/>
              <a:ahLst/>
              <a:cxnLst/>
              <a:rect l="l" t="t" r="r" b="b"/>
              <a:pathLst>
                <a:path w="6105235" h="3810359">
                  <a:moveTo>
                    <a:pt x="0" y="0"/>
                  </a:moveTo>
                  <a:lnTo>
                    <a:pt x="6105235" y="0"/>
                  </a:lnTo>
                  <a:lnTo>
                    <a:pt x="6105235" y="3810360"/>
                  </a:lnTo>
                  <a:lnTo>
                    <a:pt x="0" y="3810360"/>
                  </a:lnTo>
                  <a:lnTo>
                    <a:pt x="0" y="0"/>
                  </a:lnTo>
                  <a:close/>
                </a:path>
              </a:pathLst>
            </a:custGeom>
            <a:blipFill>
              <a:blip r:embed="rId5"/>
              <a:stretch>
                <a:fillRect/>
              </a:stretch>
            </a:blipFill>
          </p:spPr>
          <p:txBody>
            <a:bodyPr/>
            <a:lstStyle/>
            <a:p>
              <a:endParaRPr lang="en-US"/>
            </a:p>
          </p:txBody>
        </p:sp>
        <p:sp>
          <p:nvSpPr>
            <p:cNvPr id="16" name="TextBox 16">
              <a:extLst>
                <a:ext uri="{FF2B5EF4-FFF2-40B4-BE49-F238E27FC236}">
                  <a16:creationId xmlns:a16="http://schemas.microsoft.com/office/drawing/2014/main" id="{9B0A7480-492D-1DE0-CE91-99F296ADDC0D}"/>
                </a:ext>
              </a:extLst>
            </p:cNvPr>
            <p:cNvSpPr txBox="1"/>
            <p:nvPr/>
          </p:nvSpPr>
          <p:spPr>
            <a:xfrm>
              <a:off x="2910221" y="2896463"/>
              <a:ext cx="2188102" cy="434093"/>
            </a:xfrm>
            <a:prstGeom prst="rect">
              <a:avLst/>
            </a:prstGeom>
          </p:spPr>
          <p:txBody>
            <a:bodyPr wrap="square" lIns="0" tIns="0" rIns="0" bIns="0" rtlCol="0" anchor="t">
              <a:spAutoFit/>
            </a:bodyPr>
            <a:lstStyle/>
            <a:p>
              <a:pPr algn="ctr">
                <a:lnSpc>
                  <a:spcPts val="3575"/>
                </a:lnSpc>
                <a:spcBef>
                  <a:spcPct val="0"/>
                </a:spcBef>
              </a:pPr>
              <a:r>
                <a:rPr lang="en-US" sz="2500" b="1">
                  <a:solidFill>
                    <a:srgbClr val="000000"/>
                  </a:solidFill>
                  <a:latin typeface="Poppins Bold"/>
                  <a:ea typeface="Poppins Bold"/>
                  <a:cs typeface="Poppins Bold"/>
                  <a:sym typeface="Poppins Bold"/>
                </a:rPr>
                <a:t>SINH HOẠT</a:t>
              </a:r>
            </a:p>
          </p:txBody>
        </p:sp>
        <p:sp>
          <p:nvSpPr>
            <p:cNvPr id="17" name="TextBox 17">
              <a:extLst>
                <a:ext uri="{FF2B5EF4-FFF2-40B4-BE49-F238E27FC236}">
                  <a16:creationId xmlns:a16="http://schemas.microsoft.com/office/drawing/2014/main" id="{BCA6F0C5-F71B-28FB-16AD-C6875A2CE1F8}"/>
                </a:ext>
              </a:extLst>
            </p:cNvPr>
            <p:cNvSpPr txBox="1"/>
            <p:nvPr/>
          </p:nvSpPr>
          <p:spPr>
            <a:xfrm>
              <a:off x="4875396" y="2798294"/>
              <a:ext cx="1382176" cy="532262"/>
            </a:xfrm>
            <a:prstGeom prst="rect">
              <a:avLst/>
            </a:prstGeom>
          </p:spPr>
          <p:txBody>
            <a:bodyPr wrap="square" lIns="0" tIns="0" rIns="0" bIns="0" rtlCol="0" anchor="t">
              <a:spAutoFit/>
            </a:bodyPr>
            <a:lstStyle/>
            <a:p>
              <a:pPr algn="ctr">
                <a:lnSpc>
                  <a:spcPts val="4443"/>
                </a:lnSpc>
                <a:spcBef>
                  <a:spcPct val="0"/>
                </a:spcBef>
              </a:pPr>
              <a:r>
                <a:rPr lang="en-US" sz="3173">
                  <a:solidFill>
                    <a:srgbClr val="000000"/>
                  </a:solidFill>
                  <a:latin typeface="Poppins"/>
                  <a:ea typeface="Poppins"/>
                  <a:cs typeface="Poppins"/>
                  <a:sym typeface="Poppins"/>
                </a:rPr>
                <a:t>🏃‍♂️📱</a:t>
              </a:r>
            </a:p>
          </p:txBody>
        </p:sp>
      </p:grpSp>
      <p:sp>
        <p:nvSpPr>
          <p:cNvPr id="18" name="AutoShape 18">
            <a:extLst>
              <a:ext uri="{FF2B5EF4-FFF2-40B4-BE49-F238E27FC236}">
                <a16:creationId xmlns:a16="http://schemas.microsoft.com/office/drawing/2014/main" id="{C350B199-29FC-ED30-950D-5AEAA9B4E6DF}"/>
              </a:ext>
            </a:extLst>
          </p:cNvPr>
          <p:cNvSpPr/>
          <p:nvPr/>
        </p:nvSpPr>
        <p:spPr>
          <a:xfrm>
            <a:off x="13411200" y="0"/>
            <a:ext cx="0" cy="10287000"/>
          </a:xfrm>
          <a:prstGeom prst="line">
            <a:avLst/>
          </a:prstGeom>
          <a:ln w="28575" cap="rnd">
            <a:solidFill>
              <a:srgbClr val="FF0000"/>
            </a:solidFill>
            <a:prstDash val="solid"/>
            <a:headEnd type="none" w="sm" len="sm"/>
            <a:tailEnd type="none" w="sm" len="sm"/>
          </a:ln>
        </p:spPr>
        <p:txBody>
          <a:bodyPr/>
          <a:lstStyle/>
          <a:p>
            <a:endParaRPr lang="en-US"/>
          </a:p>
        </p:txBody>
      </p:sp>
      <p:sp>
        <p:nvSpPr>
          <p:cNvPr id="20" name="Slide Number Placeholder 19">
            <a:extLst>
              <a:ext uri="{FF2B5EF4-FFF2-40B4-BE49-F238E27FC236}">
                <a16:creationId xmlns:a16="http://schemas.microsoft.com/office/drawing/2014/main" id="{B03AF7EE-9C8C-5F5C-2CDE-E18A5F67904F}"/>
              </a:ext>
            </a:extLst>
          </p:cNvPr>
          <p:cNvSpPr>
            <a:spLocks noGrp="1"/>
          </p:cNvSpPr>
          <p:nvPr>
            <p:ph type="sldNum" sz="quarter" idx="12"/>
          </p:nvPr>
        </p:nvSpPr>
        <p:spPr/>
        <p:txBody>
          <a:bodyPr/>
          <a:lstStyle/>
          <a:p>
            <a:fld id="{B6F15528-21DE-4FAA-801E-634DDDAF4B2B}" type="slidenum">
              <a:rPr lang="en-US" smtClean="0"/>
              <a:pPr/>
              <a:t>13</a:t>
            </a:fld>
            <a:endParaRPr lang="en-US"/>
          </a:p>
        </p:txBody>
      </p:sp>
      <p:sp>
        <p:nvSpPr>
          <p:cNvPr id="14" name="TextBox 15">
            <a:extLst>
              <a:ext uri="{FF2B5EF4-FFF2-40B4-BE49-F238E27FC236}">
                <a16:creationId xmlns:a16="http://schemas.microsoft.com/office/drawing/2014/main" id="{9F6977EA-180C-7603-D2CF-7A1DEAD32594}"/>
              </a:ext>
            </a:extLst>
          </p:cNvPr>
          <p:cNvSpPr txBox="1"/>
          <p:nvPr/>
        </p:nvSpPr>
        <p:spPr>
          <a:xfrm>
            <a:off x="14083383" y="2838047"/>
            <a:ext cx="3728240" cy="4933658"/>
          </a:xfrm>
          <a:prstGeom prst="rect">
            <a:avLst/>
          </a:prstGeom>
        </p:spPr>
        <p:txBody>
          <a:bodyPr wrap="square" lIns="0" tIns="0" rIns="0" bIns="0" rtlCol="0" anchor="t">
            <a:spAutoFit/>
          </a:bodyPr>
          <a:lstStyle/>
          <a:p>
            <a:pPr algn="l">
              <a:lnSpc>
                <a:spcPct val="150000"/>
              </a:lnSpc>
              <a:spcBef>
                <a:spcPct val="0"/>
              </a:spcBef>
            </a:pPr>
            <a:r>
              <a:rPr sz="2400">
                <a:latin typeface="Poppins Bold" panose="00000800000000000000" charset="0"/>
                <a:cs typeface="Poppins Bold" panose="00000800000000000000" charset="0"/>
              </a:rPr>
              <a:t>• Vận động giảm khi thể trạng nặng lên</a:t>
            </a:r>
          </a:p>
          <a:p>
            <a:pPr>
              <a:lnSpc>
                <a:spcPct val="150000"/>
              </a:lnSpc>
            </a:pPr>
            <a:r>
              <a:rPr sz="2400">
                <a:latin typeface="Poppins Bold" panose="00000800000000000000" charset="0"/>
                <a:cs typeface="Poppins Bold" panose="00000800000000000000" charset="0"/>
              </a:rPr>
              <a:t>• Obesity Type II có thể bắt đầu tập luyện lại</a:t>
            </a:r>
          </a:p>
          <a:p>
            <a:pPr>
              <a:lnSpc>
                <a:spcPct val="150000"/>
              </a:lnSpc>
            </a:pPr>
            <a:r>
              <a:rPr sz="2400">
                <a:latin typeface="Poppins Bold" panose="00000800000000000000" charset="0"/>
                <a:cs typeface="Poppins Bold" panose="00000800000000000000" charset="0"/>
              </a:rPr>
              <a:t>• Thời gian dùng công nghệ chưa có xu hướng rõ</a:t>
            </a:r>
          </a:p>
          <a:p>
            <a:pPr>
              <a:lnSpc>
                <a:spcPct val="150000"/>
              </a:lnSpc>
            </a:pPr>
            <a:r>
              <a:rPr sz="2400">
                <a:latin typeface="Poppins Bold" panose="00000800000000000000" charset="0"/>
                <a:cs typeface="Poppins Bold" panose="00000800000000000000" charset="0"/>
              </a:rPr>
              <a:t>• FAF ảnh hưởng rõ hơn TUE</a:t>
            </a:r>
          </a:p>
        </p:txBody>
      </p:sp>
      <p:sp>
        <p:nvSpPr>
          <p:cNvPr id="15" name="TextBox 14">
            <a:extLst>
              <a:ext uri="{FF2B5EF4-FFF2-40B4-BE49-F238E27FC236}">
                <a16:creationId xmlns:a16="http://schemas.microsoft.com/office/drawing/2014/main" id="{433F1874-1449-E630-B9D9-56E087AA64B3}"/>
              </a:ext>
            </a:extLst>
          </p:cNvPr>
          <p:cNvSpPr txBox="1"/>
          <p:nvPr/>
        </p:nvSpPr>
        <p:spPr>
          <a:xfrm>
            <a:off x="-7772400" y="6452692"/>
            <a:ext cx="6710323" cy="3166380"/>
          </a:xfrm>
          <a:prstGeom prst="rect">
            <a:avLst/>
          </a:prstGeom>
        </p:spPr>
        <p:txBody>
          <a:bodyPr wrap="square" lIns="0" tIns="0" rIns="0" bIns="0" rtlCol="0" anchor="t">
            <a:spAutoFit/>
          </a:bodyPr>
          <a:lstStyle/>
          <a:p>
            <a:pPr marL="668116" lvl="1" indent="-457200" algn="l">
              <a:lnSpc>
                <a:spcPct val="150000"/>
              </a:lnSpc>
              <a:buFont typeface="Arial" panose="020B0604020202020204" pitchFamily="34" charset="0"/>
              <a:buChar char="•"/>
            </a:pPr>
            <a:r>
              <a:rPr sz="2800">
                <a:latin typeface="Poppins Bold" panose="00000800000000000000" charset="0"/>
                <a:cs typeface="Poppins Bold" panose="00000800000000000000" charset="0"/>
              </a:rPr>
              <a:t>Tiền sử gia đình tăng theo mức độ béo phì</a:t>
            </a:r>
            <a:endParaRPr lang="en-US" sz="2800">
              <a:latin typeface="Poppins Bold" panose="00000800000000000000" charset="0"/>
              <a:cs typeface="Poppins Bold" panose="00000800000000000000" charset="0"/>
            </a:endParaRPr>
          </a:p>
          <a:p>
            <a:pPr marL="668116" lvl="1" indent="-457200" algn="l">
              <a:lnSpc>
                <a:spcPct val="150000"/>
              </a:lnSpc>
              <a:buFont typeface="Arial" panose="020B0604020202020204" pitchFamily="34" charset="0"/>
              <a:buChar char="•"/>
            </a:pPr>
            <a:r>
              <a:rPr sz="2800">
                <a:latin typeface="Poppins Bold" panose="00000800000000000000" charset="0"/>
                <a:cs typeface="Poppins Bold" panose="00000800000000000000" charset="0"/>
              </a:rPr>
              <a:t>Nhóm Obesity I–III có tỷ lệ rất cao</a:t>
            </a:r>
            <a:endParaRPr lang="en-US" sz="2800">
              <a:latin typeface="Poppins Bold" panose="00000800000000000000" charset="0"/>
              <a:cs typeface="Poppins Bold" panose="00000800000000000000" charset="0"/>
            </a:endParaRPr>
          </a:p>
          <a:p>
            <a:pPr marL="668116" lvl="1" indent="-457200" algn="l">
              <a:lnSpc>
                <a:spcPct val="150000"/>
              </a:lnSpc>
              <a:buFont typeface="Arial" panose="020B0604020202020204" pitchFamily="34" charset="0"/>
              <a:buChar char="•"/>
            </a:pPr>
            <a:r>
              <a:rPr sz="2800">
                <a:latin typeface="Poppins Bold" panose="00000800000000000000" charset="0"/>
                <a:cs typeface="Poppins Bold" panose="00000800000000000000" charset="0"/>
              </a:rPr>
              <a:t>Yếu tố di truyền/gia đình là biến quan trọng</a:t>
            </a:r>
          </a:p>
        </p:txBody>
      </p:sp>
    </p:spTree>
    <p:extLst>
      <p:ext uri="{BB962C8B-B14F-4D97-AF65-F5344CB8AC3E}">
        <p14:creationId xmlns:p14="http://schemas.microsoft.com/office/powerpoint/2010/main" val="746971377"/>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88C6B-AD3B-7C35-81D1-275BE9D4B3C8}"/>
            </a:ext>
          </a:extLst>
        </p:cNvPr>
        <p:cNvGrpSpPr/>
        <p:nvPr/>
      </p:nvGrpSpPr>
      <p:grpSpPr>
        <a:xfrm>
          <a:off x="0" y="0"/>
          <a:ext cx="0" cy="0"/>
          <a:chOff x="0" y="0"/>
          <a:chExt cx="0" cy="0"/>
        </a:xfrm>
      </p:grpSpPr>
      <p:sp>
        <p:nvSpPr>
          <p:cNvPr id="18" name="AutoShape 18">
            <a:extLst>
              <a:ext uri="{FF2B5EF4-FFF2-40B4-BE49-F238E27FC236}">
                <a16:creationId xmlns:a16="http://schemas.microsoft.com/office/drawing/2014/main" id="{443E852E-8D89-A5A1-CE82-DF158CD09C2C}"/>
              </a:ext>
            </a:extLst>
          </p:cNvPr>
          <p:cNvSpPr/>
          <p:nvPr/>
        </p:nvSpPr>
        <p:spPr>
          <a:xfrm>
            <a:off x="8382000" y="0"/>
            <a:ext cx="0" cy="10287000"/>
          </a:xfrm>
          <a:prstGeom prst="line">
            <a:avLst/>
          </a:prstGeom>
          <a:ln w="28575" cap="rnd">
            <a:solidFill>
              <a:srgbClr val="FF0000"/>
            </a:solidFill>
            <a:prstDash val="solid"/>
            <a:headEnd type="none" w="sm" len="sm"/>
            <a:tailEnd type="none" w="sm" len="sm"/>
          </a:ln>
        </p:spPr>
        <p:txBody>
          <a:bodyPr/>
          <a:lstStyle/>
          <a:p>
            <a:endParaRPr lang="en-US"/>
          </a:p>
        </p:txBody>
      </p:sp>
      <p:grpSp>
        <p:nvGrpSpPr>
          <p:cNvPr id="2" name="Group 2">
            <a:extLst>
              <a:ext uri="{FF2B5EF4-FFF2-40B4-BE49-F238E27FC236}">
                <a16:creationId xmlns:a16="http://schemas.microsoft.com/office/drawing/2014/main" id="{C1A1CAA4-3336-0C91-585A-F27421A9C356}"/>
              </a:ext>
            </a:extLst>
          </p:cNvPr>
          <p:cNvGrpSpPr/>
          <p:nvPr/>
        </p:nvGrpSpPr>
        <p:grpSpPr>
          <a:xfrm rot="-10800000">
            <a:off x="-773606" y="-2"/>
            <a:ext cx="9134474" cy="1409701"/>
            <a:chOff x="0" y="0"/>
            <a:chExt cx="2141759" cy="536957"/>
          </a:xfrm>
        </p:grpSpPr>
        <p:sp>
          <p:nvSpPr>
            <p:cNvPr id="3" name="Freeform 3">
              <a:extLst>
                <a:ext uri="{FF2B5EF4-FFF2-40B4-BE49-F238E27FC236}">
                  <a16:creationId xmlns:a16="http://schemas.microsoft.com/office/drawing/2014/main" id="{DBDC9362-0A53-2F58-47D9-DCD52BB4DA17}"/>
                </a:ext>
              </a:extLst>
            </p:cNvPr>
            <p:cNvSpPr/>
            <p:nvPr/>
          </p:nvSpPr>
          <p:spPr>
            <a:xfrm>
              <a:off x="0" y="0"/>
              <a:ext cx="2141759" cy="536957"/>
            </a:xfrm>
            <a:custGeom>
              <a:avLst/>
              <a:gdLst/>
              <a:ahLst/>
              <a:cxnLst/>
              <a:rect l="l" t="t" r="r" b="b"/>
              <a:pathLst>
                <a:path w="2141759" h="536957">
                  <a:moveTo>
                    <a:pt x="95203" y="0"/>
                  </a:moveTo>
                  <a:lnTo>
                    <a:pt x="2046556" y="0"/>
                  </a:lnTo>
                  <a:cubicBezTo>
                    <a:pt x="2099135" y="0"/>
                    <a:pt x="2141759" y="42624"/>
                    <a:pt x="2141759" y="95203"/>
                  </a:cubicBezTo>
                  <a:lnTo>
                    <a:pt x="2141759" y="441754"/>
                  </a:lnTo>
                  <a:cubicBezTo>
                    <a:pt x="2141759" y="494333"/>
                    <a:pt x="2099135" y="536957"/>
                    <a:pt x="2046556" y="536957"/>
                  </a:cubicBezTo>
                  <a:lnTo>
                    <a:pt x="95203" y="536957"/>
                  </a:lnTo>
                  <a:cubicBezTo>
                    <a:pt x="42624" y="536957"/>
                    <a:pt x="0" y="494333"/>
                    <a:pt x="0" y="441754"/>
                  </a:cubicBezTo>
                  <a:lnTo>
                    <a:pt x="0" y="95203"/>
                  </a:lnTo>
                  <a:cubicBezTo>
                    <a:pt x="0" y="42624"/>
                    <a:pt x="42624" y="0"/>
                    <a:pt x="95203" y="0"/>
                  </a:cubicBezTo>
                  <a:close/>
                </a:path>
              </a:pathLst>
            </a:custGeom>
            <a:gradFill rotWithShape="1">
              <a:gsLst>
                <a:gs pos="0">
                  <a:srgbClr val="398DFA">
                    <a:alpha val="70000"/>
                  </a:srgbClr>
                </a:gs>
                <a:gs pos="50000">
                  <a:srgbClr val="0151B8">
                    <a:alpha val="16800"/>
                  </a:srgbClr>
                </a:gs>
                <a:gs pos="100000">
                  <a:srgbClr val="0151B8">
                    <a:alpha val="0"/>
                  </a:srgbClr>
                </a:gs>
              </a:gsLst>
              <a:lin ang="0"/>
            </a:gradFill>
          </p:spPr>
          <p:txBody>
            <a:bodyPr/>
            <a:lstStyle/>
            <a:p>
              <a:endParaRPr lang="en-US"/>
            </a:p>
          </p:txBody>
        </p:sp>
        <p:sp>
          <p:nvSpPr>
            <p:cNvPr id="4" name="TextBox 4">
              <a:extLst>
                <a:ext uri="{FF2B5EF4-FFF2-40B4-BE49-F238E27FC236}">
                  <a16:creationId xmlns:a16="http://schemas.microsoft.com/office/drawing/2014/main" id="{3C5FC5C0-3A16-8C0E-6147-534F7E3D6DCB}"/>
                </a:ext>
              </a:extLst>
            </p:cNvPr>
            <p:cNvSpPr txBox="1"/>
            <p:nvPr/>
          </p:nvSpPr>
          <p:spPr>
            <a:xfrm>
              <a:off x="0" y="-38100"/>
              <a:ext cx="2141759" cy="575057"/>
            </a:xfrm>
            <a:prstGeom prst="rect">
              <a:avLst/>
            </a:prstGeom>
          </p:spPr>
          <p:txBody>
            <a:bodyPr lIns="50800" tIns="50800" rIns="50800" bIns="50800" rtlCol="0" anchor="ctr"/>
            <a:lstStyle/>
            <a:p>
              <a:pPr algn="ctr">
                <a:lnSpc>
                  <a:spcPts val="2659"/>
                </a:lnSpc>
                <a:spcBef>
                  <a:spcPct val="0"/>
                </a:spcBef>
              </a:pPr>
              <a:endParaRPr/>
            </a:p>
          </p:txBody>
        </p:sp>
      </p:grpSp>
      <p:sp>
        <p:nvSpPr>
          <p:cNvPr id="12" name="TextBox 12">
            <a:extLst>
              <a:ext uri="{FF2B5EF4-FFF2-40B4-BE49-F238E27FC236}">
                <a16:creationId xmlns:a16="http://schemas.microsoft.com/office/drawing/2014/main" id="{6B20DFA1-E84C-7813-9D14-3B4C81958483}"/>
              </a:ext>
            </a:extLst>
          </p:cNvPr>
          <p:cNvSpPr txBox="1"/>
          <p:nvPr/>
        </p:nvSpPr>
        <p:spPr>
          <a:xfrm>
            <a:off x="211624" y="190500"/>
            <a:ext cx="8131992" cy="856196"/>
          </a:xfrm>
          <a:prstGeom prst="rect">
            <a:avLst/>
          </a:prstGeom>
        </p:spPr>
        <p:txBody>
          <a:bodyPr wrap="square" lIns="0" tIns="0" rIns="0" bIns="0" rtlCol="0" anchor="t">
            <a:spAutoFit/>
          </a:bodyPr>
          <a:lstStyle/>
          <a:p>
            <a:pPr marL="0" lvl="0" indent="0" algn="l">
              <a:lnSpc>
                <a:spcPts val="7359"/>
              </a:lnSpc>
              <a:spcBef>
                <a:spcPct val="0"/>
              </a:spcBef>
            </a:pPr>
            <a:r>
              <a:rPr lang="en-US" sz="4200" b="1" u="none" strike="noStrike">
                <a:solidFill>
                  <a:srgbClr val="000000"/>
                </a:solidFill>
                <a:latin typeface="Poppins Bold"/>
                <a:ea typeface="Poppins Bold"/>
                <a:cs typeface="Poppins Bold"/>
                <a:sym typeface="Poppins Bold"/>
              </a:rPr>
              <a:t>EDA 4 – Sinh hoạt &amp; Di truyền</a:t>
            </a:r>
          </a:p>
        </p:txBody>
      </p:sp>
      <p:grpSp>
        <p:nvGrpSpPr>
          <p:cNvPr id="22" name="Group 21">
            <a:extLst>
              <a:ext uri="{FF2B5EF4-FFF2-40B4-BE49-F238E27FC236}">
                <a16:creationId xmlns:a16="http://schemas.microsoft.com/office/drawing/2014/main" id="{0D5A2B02-658E-44FC-D3FE-1B8A04A5B4DD}"/>
              </a:ext>
            </a:extLst>
          </p:cNvPr>
          <p:cNvGrpSpPr/>
          <p:nvPr/>
        </p:nvGrpSpPr>
        <p:grpSpPr>
          <a:xfrm>
            <a:off x="8870886" y="1919202"/>
            <a:ext cx="9112314" cy="6448596"/>
            <a:chOff x="9804738" y="2595581"/>
            <a:chExt cx="8048496" cy="5695753"/>
          </a:xfrm>
        </p:grpSpPr>
        <p:grpSp>
          <p:nvGrpSpPr>
            <p:cNvPr id="5" name="Group 5">
              <a:extLst>
                <a:ext uri="{FF2B5EF4-FFF2-40B4-BE49-F238E27FC236}">
                  <a16:creationId xmlns:a16="http://schemas.microsoft.com/office/drawing/2014/main" id="{DFDE211B-8041-045C-89FF-92091462B260}"/>
                </a:ext>
              </a:extLst>
            </p:cNvPr>
            <p:cNvGrpSpPr/>
            <p:nvPr/>
          </p:nvGrpSpPr>
          <p:grpSpPr>
            <a:xfrm>
              <a:off x="9804738" y="3357428"/>
              <a:ext cx="8048496" cy="4933906"/>
              <a:chOff x="0" y="0"/>
              <a:chExt cx="10337800" cy="6337300"/>
            </a:xfrm>
          </p:grpSpPr>
          <p:sp>
            <p:nvSpPr>
              <p:cNvPr id="6" name="Freeform 6">
                <a:extLst>
                  <a:ext uri="{FF2B5EF4-FFF2-40B4-BE49-F238E27FC236}">
                    <a16:creationId xmlns:a16="http://schemas.microsoft.com/office/drawing/2014/main" id="{687A6478-D2F0-F1F5-0C52-346CDB041508}"/>
                  </a:ext>
                </a:extLst>
              </p:cNvPr>
              <p:cNvSpPr/>
              <p:nvPr/>
            </p:nvSpPr>
            <p:spPr>
              <a:xfrm>
                <a:off x="0" y="0"/>
                <a:ext cx="10337800" cy="6337300"/>
              </a:xfrm>
              <a:custGeom>
                <a:avLst/>
                <a:gdLst/>
                <a:ahLst/>
                <a:cxnLst/>
                <a:rect l="l" t="t" r="r" b="b"/>
                <a:pathLst>
                  <a:path w="10337800" h="6337300">
                    <a:moveTo>
                      <a:pt x="0" y="0"/>
                    </a:moveTo>
                    <a:lnTo>
                      <a:pt x="10337800" y="0"/>
                    </a:lnTo>
                    <a:lnTo>
                      <a:pt x="10337800" y="6337300"/>
                    </a:lnTo>
                    <a:lnTo>
                      <a:pt x="0" y="6337300"/>
                    </a:lnTo>
                    <a:close/>
                  </a:path>
                </a:pathLst>
              </a:custGeom>
              <a:solidFill>
                <a:srgbClr val="FFFFFF"/>
              </a:solidFill>
              <a:ln w="76200" cap="sq">
                <a:solidFill>
                  <a:srgbClr val="398DFA"/>
                </a:solidFill>
                <a:prstDash val="solid"/>
                <a:miter/>
              </a:ln>
            </p:spPr>
            <p:txBody>
              <a:bodyPr/>
              <a:lstStyle/>
              <a:p>
                <a:endParaRPr lang="en-US"/>
              </a:p>
            </p:txBody>
          </p:sp>
        </p:grpSp>
        <p:sp>
          <p:nvSpPr>
            <p:cNvPr id="7" name="Freeform 7">
              <a:extLst>
                <a:ext uri="{FF2B5EF4-FFF2-40B4-BE49-F238E27FC236}">
                  <a16:creationId xmlns:a16="http://schemas.microsoft.com/office/drawing/2014/main" id="{ABC65686-9B82-D688-9735-9D5C1C68FE65}"/>
                </a:ext>
              </a:extLst>
            </p:cNvPr>
            <p:cNvSpPr/>
            <p:nvPr/>
          </p:nvSpPr>
          <p:spPr>
            <a:xfrm>
              <a:off x="9919379" y="3446571"/>
              <a:ext cx="7745874" cy="4747472"/>
            </a:xfrm>
            <a:custGeom>
              <a:avLst/>
              <a:gdLst/>
              <a:ahLst/>
              <a:cxnLst/>
              <a:rect l="l" t="t" r="r" b="b"/>
              <a:pathLst>
                <a:path w="6383688" h="3912583">
                  <a:moveTo>
                    <a:pt x="0" y="0"/>
                  </a:moveTo>
                  <a:lnTo>
                    <a:pt x="6383689" y="0"/>
                  </a:lnTo>
                  <a:lnTo>
                    <a:pt x="6383689" y="3912583"/>
                  </a:lnTo>
                  <a:lnTo>
                    <a:pt x="0" y="3912583"/>
                  </a:lnTo>
                  <a:lnTo>
                    <a:pt x="0" y="0"/>
                  </a:lnTo>
                  <a:close/>
                </a:path>
              </a:pathLst>
            </a:custGeom>
            <a:blipFill>
              <a:blip r:embed="rId3"/>
              <a:stretch>
                <a:fillRect/>
              </a:stretch>
            </a:blipFill>
          </p:spPr>
          <p:txBody>
            <a:bodyPr/>
            <a:lstStyle/>
            <a:p>
              <a:endParaRPr lang="en-US"/>
            </a:p>
          </p:txBody>
        </p:sp>
        <p:sp>
          <p:nvSpPr>
            <p:cNvPr id="8" name="Freeform 8">
              <a:extLst>
                <a:ext uri="{FF2B5EF4-FFF2-40B4-BE49-F238E27FC236}">
                  <a16:creationId xmlns:a16="http://schemas.microsoft.com/office/drawing/2014/main" id="{40B45364-B485-DEEF-ADEA-8A573D2E76B6}"/>
                </a:ext>
              </a:extLst>
            </p:cNvPr>
            <p:cNvSpPr/>
            <p:nvPr/>
          </p:nvSpPr>
          <p:spPr>
            <a:xfrm rot="5400000">
              <a:off x="14456896" y="2383206"/>
              <a:ext cx="868440" cy="1293190"/>
            </a:xfrm>
            <a:custGeom>
              <a:avLst/>
              <a:gdLst/>
              <a:ahLst/>
              <a:cxnLst/>
              <a:rect l="l" t="t" r="r" b="b"/>
              <a:pathLst>
                <a:path w="715715" h="1065771">
                  <a:moveTo>
                    <a:pt x="0" y="0"/>
                  </a:moveTo>
                  <a:lnTo>
                    <a:pt x="715716" y="0"/>
                  </a:lnTo>
                  <a:lnTo>
                    <a:pt x="715716" y="1065771"/>
                  </a:lnTo>
                  <a:lnTo>
                    <a:pt x="0" y="1065771"/>
                  </a:lnTo>
                  <a:lnTo>
                    <a:pt x="0" y="0"/>
                  </a:lnTo>
                  <a:close/>
                </a:path>
              </a:pathLst>
            </a:custGeom>
            <a:blipFill>
              <a:blip r:embed="rId4"/>
              <a:stretch>
                <a:fillRect t="-18584" b="-15725"/>
              </a:stretch>
            </a:blipFill>
          </p:spPr>
          <p:txBody>
            <a:bodyPr/>
            <a:lstStyle/>
            <a:p>
              <a:endParaRPr lang="en-US"/>
            </a:p>
          </p:txBody>
        </p:sp>
        <p:sp>
          <p:nvSpPr>
            <p:cNvPr id="13" name="TextBox 13">
              <a:extLst>
                <a:ext uri="{FF2B5EF4-FFF2-40B4-BE49-F238E27FC236}">
                  <a16:creationId xmlns:a16="http://schemas.microsoft.com/office/drawing/2014/main" id="{D7FC9ED7-C233-5E67-58FB-0FF33C03D0E9}"/>
                </a:ext>
              </a:extLst>
            </p:cNvPr>
            <p:cNvSpPr txBox="1"/>
            <p:nvPr/>
          </p:nvSpPr>
          <p:spPr>
            <a:xfrm>
              <a:off x="12035547" y="2843852"/>
              <a:ext cx="2099450" cy="371897"/>
            </a:xfrm>
            <a:prstGeom prst="rect">
              <a:avLst/>
            </a:prstGeom>
          </p:spPr>
          <p:txBody>
            <a:bodyPr wrap="square" lIns="0" tIns="0" rIns="0" bIns="0" rtlCol="0" anchor="t">
              <a:spAutoFit/>
            </a:bodyPr>
            <a:lstStyle/>
            <a:p>
              <a:pPr algn="ctr">
                <a:lnSpc>
                  <a:spcPts val="2855"/>
                </a:lnSpc>
                <a:spcBef>
                  <a:spcPct val="0"/>
                </a:spcBef>
              </a:pPr>
              <a:r>
                <a:rPr lang="en-US" sz="2500" b="1">
                  <a:solidFill>
                    <a:srgbClr val="000000"/>
                  </a:solidFill>
                  <a:latin typeface="Poppins Bold"/>
                  <a:ea typeface="Poppins Bold"/>
                  <a:cs typeface="Poppins Bold"/>
                  <a:sym typeface="Poppins Bold"/>
                </a:rPr>
                <a:t>DI TRUYỀN</a:t>
              </a:r>
            </a:p>
          </p:txBody>
        </p:sp>
      </p:grpSp>
      <p:grpSp>
        <p:nvGrpSpPr>
          <p:cNvPr id="21" name="Group 20">
            <a:extLst>
              <a:ext uri="{FF2B5EF4-FFF2-40B4-BE49-F238E27FC236}">
                <a16:creationId xmlns:a16="http://schemas.microsoft.com/office/drawing/2014/main" id="{82C4940C-A21F-71C0-45F8-3EB199D338CC}"/>
              </a:ext>
            </a:extLst>
          </p:cNvPr>
          <p:cNvGrpSpPr/>
          <p:nvPr/>
        </p:nvGrpSpPr>
        <p:grpSpPr>
          <a:xfrm>
            <a:off x="-7255975" y="1046696"/>
            <a:ext cx="5330276" cy="3727042"/>
            <a:chOff x="622747" y="2798294"/>
            <a:chExt cx="7874002" cy="5505670"/>
          </a:xfrm>
        </p:grpSpPr>
        <p:grpSp>
          <p:nvGrpSpPr>
            <p:cNvPr id="9" name="Group 9">
              <a:extLst>
                <a:ext uri="{FF2B5EF4-FFF2-40B4-BE49-F238E27FC236}">
                  <a16:creationId xmlns:a16="http://schemas.microsoft.com/office/drawing/2014/main" id="{915CB954-8317-C68B-79B5-A68B18866D41}"/>
                </a:ext>
              </a:extLst>
            </p:cNvPr>
            <p:cNvGrpSpPr/>
            <p:nvPr/>
          </p:nvGrpSpPr>
          <p:grpSpPr>
            <a:xfrm>
              <a:off x="622747" y="3393608"/>
              <a:ext cx="7874002" cy="4910356"/>
              <a:chOff x="0" y="0"/>
              <a:chExt cx="10325100" cy="6438900"/>
            </a:xfrm>
          </p:grpSpPr>
          <p:sp>
            <p:nvSpPr>
              <p:cNvPr id="10" name="Freeform 10">
                <a:extLst>
                  <a:ext uri="{FF2B5EF4-FFF2-40B4-BE49-F238E27FC236}">
                    <a16:creationId xmlns:a16="http://schemas.microsoft.com/office/drawing/2014/main" id="{AA34044E-1D54-56F7-5AC0-B870BDD654DB}"/>
                  </a:ext>
                </a:extLst>
              </p:cNvPr>
              <p:cNvSpPr/>
              <p:nvPr/>
            </p:nvSpPr>
            <p:spPr>
              <a:xfrm>
                <a:off x="0" y="0"/>
                <a:ext cx="10325100" cy="6438900"/>
              </a:xfrm>
              <a:custGeom>
                <a:avLst/>
                <a:gdLst/>
                <a:ahLst/>
                <a:cxnLst/>
                <a:rect l="l" t="t" r="r" b="b"/>
                <a:pathLst>
                  <a:path w="10325100" h="6438900">
                    <a:moveTo>
                      <a:pt x="0" y="0"/>
                    </a:moveTo>
                    <a:lnTo>
                      <a:pt x="10325100" y="0"/>
                    </a:lnTo>
                    <a:lnTo>
                      <a:pt x="10325100" y="6438900"/>
                    </a:lnTo>
                    <a:lnTo>
                      <a:pt x="0" y="6438900"/>
                    </a:lnTo>
                    <a:close/>
                  </a:path>
                </a:pathLst>
              </a:custGeom>
              <a:solidFill>
                <a:srgbClr val="FFFFFF"/>
              </a:solidFill>
              <a:ln w="76200" cap="sq">
                <a:solidFill>
                  <a:srgbClr val="398DFA"/>
                </a:solidFill>
                <a:prstDash val="solid"/>
                <a:miter/>
              </a:ln>
            </p:spPr>
            <p:txBody>
              <a:bodyPr/>
              <a:lstStyle/>
              <a:p>
                <a:endParaRPr lang="en-US"/>
              </a:p>
            </p:txBody>
          </p:sp>
        </p:grpSp>
        <p:sp>
          <p:nvSpPr>
            <p:cNvPr id="11" name="Freeform 11">
              <a:extLst>
                <a:ext uri="{FF2B5EF4-FFF2-40B4-BE49-F238E27FC236}">
                  <a16:creationId xmlns:a16="http://schemas.microsoft.com/office/drawing/2014/main" id="{194EC267-8E56-0562-DE35-3DB91434E226}"/>
                </a:ext>
              </a:extLst>
            </p:cNvPr>
            <p:cNvSpPr/>
            <p:nvPr/>
          </p:nvSpPr>
          <p:spPr>
            <a:xfrm>
              <a:off x="719580" y="3464021"/>
              <a:ext cx="7624036" cy="4758264"/>
            </a:xfrm>
            <a:custGeom>
              <a:avLst/>
              <a:gdLst/>
              <a:ahLst/>
              <a:cxnLst/>
              <a:rect l="l" t="t" r="r" b="b"/>
              <a:pathLst>
                <a:path w="6105235" h="3810359">
                  <a:moveTo>
                    <a:pt x="0" y="0"/>
                  </a:moveTo>
                  <a:lnTo>
                    <a:pt x="6105235" y="0"/>
                  </a:lnTo>
                  <a:lnTo>
                    <a:pt x="6105235" y="3810360"/>
                  </a:lnTo>
                  <a:lnTo>
                    <a:pt x="0" y="3810360"/>
                  </a:lnTo>
                  <a:lnTo>
                    <a:pt x="0" y="0"/>
                  </a:lnTo>
                  <a:close/>
                </a:path>
              </a:pathLst>
            </a:custGeom>
            <a:blipFill>
              <a:blip r:embed="rId5"/>
              <a:stretch>
                <a:fillRect/>
              </a:stretch>
            </a:blipFill>
          </p:spPr>
          <p:txBody>
            <a:bodyPr/>
            <a:lstStyle/>
            <a:p>
              <a:endParaRPr lang="en-US"/>
            </a:p>
          </p:txBody>
        </p:sp>
        <p:sp>
          <p:nvSpPr>
            <p:cNvPr id="16" name="TextBox 16">
              <a:extLst>
                <a:ext uri="{FF2B5EF4-FFF2-40B4-BE49-F238E27FC236}">
                  <a16:creationId xmlns:a16="http://schemas.microsoft.com/office/drawing/2014/main" id="{F997A735-97E7-86EB-D4C5-FA3DF2E16F03}"/>
                </a:ext>
              </a:extLst>
            </p:cNvPr>
            <p:cNvSpPr txBox="1"/>
            <p:nvPr/>
          </p:nvSpPr>
          <p:spPr>
            <a:xfrm>
              <a:off x="2910221" y="2896463"/>
              <a:ext cx="2188102" cy="434093"/>
            </a:xfrm>
            <a:prstGeom prst="rect">
              <a:avLst/>
            </a:prstGeom>
          </p:spPr>
          <p:txBody>
            <a:bodyPr wrap="square" lIns="0" tIns="0" rIns="0" bIns="0" rtlCol="0" anchor="t">
              <a:spAutoFit/>
            </a:bodyPr>
            <a:lstStyle/>
            <a:p>
              <a:pPr algn="ctr">
                <a:lnSpc>
                  <a:spcPts val="3575"/>
                </a:lnSpc>
                <a:spcBef>
                  <a:spcPct val="0"/>
                </a:spcBef>
              </a:pPr>
              <a:r>
                <a:rPr lang="en-US" sz="2500" b="1">
                  <a:solidFill>
                    <a:srgbClr val="000000"/>
                  </a:solidFill>
                  <a:latin typeface="Poppins Bold"/>
                  <a:ea typeface="Poppins Bold"/>
                  <a:cs typeface="Poppins Bold"/>
                  <a:sym typeface="Poppins Bold"/>
                </a:rPr>
                <a:t>SINH HOẠT</a:t>
              </a:r>
            </a:p>
          </p:txBody>
        </p:sp>
        <p:sp>
          <p:nvSpPr>
            <p:cNvPr id="17" name="TextBox 17">
              <a:extLst>
                <a:ext uri="{FF2B5EF4-FFF2-40B4-BE49-F238E27FC236}">
                  <a16:creationId xmlns:a16="http://schemas.microsoft.com/office/drawing/2014/main" id="{3226A979-6D1D-33E4-F5B2-EC97AFEBD1B3}"/>
                </a:ext>
              </a:extLst>
            </p:cNvPr>
            <p:cNvSpPr txBox="1"/>
            <p:nvPr/>
          </p:nvSpPr>
          <p:spPr>
            <a:xfrm>
              <a:off x="4875396" y="2798294"/>
              <a:ext cx="1382176" cy="532262"/>
            </a:xfrm>
            <a:prstGeom prst="rect">
              <a:avLst/>
            </a:prstGeom>
          </p:spPr>
          <p:txBody>
            <a:bodyPr wrap="square" lIns="0" tIns="0" rIns="0" bIns="0" rtlCol="0" anchor="t">
              <a:spAutoFit/>
            </a:bodyPr>
            <a:lstStyle/>
            <a:p>
              <a:pPr algn="ctr">
                <a:lnSpc>
                  <a:spcPts val="4443"/>
                </a:lnSpc>
                <a:spcBef>
                  <a:spcPct val="0"/>
                </a:spcBef>
              </a:pPr>
              <a:r>
                <a:rPr lang="en-US" sz="3173">
                  <a:solidFill>
                    <a:srgbClr val="000000"/>
                  </a:solidFill>
                  <a:latin typeface="Poppins"/>
                  <a:ea typeface="Poppins"/>
                  <a:cs typeface="Poppins"/>
                  <a:sym typeface="Poppins"/>
                </a:rPr>
                <a:t>🏃‍♂️📱</a:t>
              </a:r>
            </a:p>
          </p:txBody>
        </p:sp>
      </p:grpSp>
      <p:sp>
        <p:nvSpPr>
          <p:cNvPr id="20" name="Slide Number Placeholder 19">
            <a:extLst>
              <a:ext uri="{FF2B5EF4-FFF2-40B4-BE49-F238E27FC236}">
                <a16:creationId xmlns:a16="http://schemas.microsoft.com/office/drawing/2014/main" id="{86D305C1-E409-F8D0-B559-0A89E416765C}"/>
              </a:ext>
            </a:extLst>
          </p:cNvPr>
          <p:cNvSpPr>
            <a:spLocks noGrp="1"/>
          </p:cNvSpPr>
          <p:nvPr>
            <p:ph type="sldNum" sz="quarter" idx="12"/>
          </p:nvPr>
        </p:nvSpPr>
        <p:spPr/>
        <p:txBody>
          <a:bodyPr/>
          <a:lstStyle/>
          <a:p>
            <a:fld id="{B6F15528-21DE-4FAA-801E-634DDDAF4B2B}" type="slidenum">
              <a:rPr lang="en-US" smtClean="0"/>
              <a:pPr/>
              <a:t>14</a:t>
            </a:fld>
            <a:endParaRPr lang="en-US"/>
          </a:p>
        </p:txBody>
      </p:sp>
      <p:sp>
        <p:nvSpPr>
          <p:cNvPr id="14" name="TextBox 15">
            <a:extLst>
              <a:ext uri="{FF2B5EF4-FFF2-40B4-BE49-F238E27FC236}">
                <a16:creationId xmlns:a16="http://schemas.microsoft.com/office/drawing/2014/main" id="{6B7F53C6-65CC-1356-13DA-19D86DEA2897}"/>
              </a:ext>
            </a:extLst>
          </p:cNvPr>
          <p:cNvSpPr txBox="1"/>
          <p:nvPr/>
        </p:nvSpPr>
        <p:spPr>
          <a:xfrm>
            <a:off x="21668539" y="-4607011"/>
            <a:ext cx="3728240" cy="4933658"/>
          </a:xfrm>
          <a:prstGeom prst="rect">
            <a:avLst/>
          </a:prstGeom>
        </p:spPr>
        <p:txBody>
          <a:bodyPr wrap="square" lIns="0" tIns="0" rIns="0" bIns="0" rtlCol="0" anchor="t">
            <a:spAutoFit/>
          </a:bodyPr>
          <a:lstStyle/>
          <a:p>
            <a:pPr algn="l">
              <a:lnSpc>
                <a:spcPct val="150000"/>
              </a:lnSpc>
              <a:spcBef>
                <a:spcPct val="0"/>
              </a:spcBef>
            </a:pPr>
            <a:r>
              <a:rPr sz="2400">
                <a:latin typeface="Poppins Bold" panose="00000800000000000000" charset="0"/>
                <a:cs typeface="Poppins Bold" panose="00000800000000000000" charset="0"/>
              </a:rPr>
              <a:t>• Vận động giảm khi thể trạng nặng lên</a:t>
            </a:r>
          </a:p>
          <a:p>
            <a:pPr>
              <a:lnSpc>
                <a:spcPct val="150000"/>
              </a:lnSpc>
            </a:pPr>
            <a:r>
              <a:rPr sz="2400">
                <a:latin typeface="Poppins Bold" panose="00000800000000000000" charset="0"/>
                <a:cs typeface="Poppins Bold" panose="00000800000000000000" charset="0"/>
              </a:rPr>
              <a:t>• Obesity Type II có thể bắt đầu tập luyện lại</a:t>
            </a:r>
          </a:p>
          <a:p>
            <a:pPr>
              <a:lnSpc>
                <a:spcPct val="150000"/>
              </a:lnSpc>
            </a:pPr>
            <a:r>
              <a:rPr sz="2400">
                <a:latin typeface="Poppins Bold" panose="00000800000000000000" charset="0"/>
                <a:cs typeface="Poppins Bold" panose="00000800000000000000" charset="0"/>
              </a:rPr>
              <a:t>• Thời gian dùng công nghệ chưa có xu hướng rõ</a:t>
            </a:r>
          </a:p>
          <a:p>
            <a:pPr>
              <a:lnSpc>
                <a:spcPct val="150000"/>
              </a:lnSpc>
            </a:pPr>
            <a:r>
              <a:rPr sz="2400">
                <a:latin typeface="Poppins Bold" panose="00000800000000000000" charset="0"/>
                <a:cs typeface="Poppins Bold" panose="00000800000000000000" charset="0"/>
              </a:rPr>
              <a:t>• FAF ảnh hưởng rõ hơn TUE</a:t>
            </a:r>
          </a:p>
        </p:txBody>
      </p:sp>
      <p:sp>
        <p:nvSpPr>
          <p:cNvPr id="15" name="TextBox 14">
            <a:extLst>
              <a:ext uri="{FF2B5EF4-FFF2-40B4-BE49-F238E27FC236}">
                <a16:creationId xmlns:a16="http://schemas.microsoft.com/office/drawing/2014/main" id="{6DCDE7AA-CF72-1058-E73A-4092ED948EC9}"/>
              </a:ext>
            </a:extLst>
          </p:cNvPr>
          <p:cNvSpPr txBox="1"/>
          <p:nvPr/>
        </p:nvSpPr>
        <p:spPr>
          <a:xfrm>
            <a:off x="685800" y="3390900"/>
            <a:ext cx="6710323" cy="3166380"/>
          </a:xfrm>
          <a:prstGeom prst="rect">
            <a:avLst/>
          </a:prstGeom>
        </p:spPr>
        <p:txBody>
          <a:bodyPr wrap="square" lIns="0" tIns="0" rIns="0" bIns="0" rtlCol="0" anchor="t">
            <a:spAutoFit/>
          </a:bodyPr>
          <a:lstStyle/>
          <a:p>
            <a:pPr marL="668116" lvl="1" indent="-457200" algn="l">
              <a:lnSpc>
                <a:spcPct val="150000"/>
              </a:lnSpc>
              <a:buFont typeface="Arial" panose="020B0604020202020204" pitchFamily="34" charset="0"/>
              <a:buChar char="•"/>
            </a:pPr>
            <a:r>
              <a:rPr sz="2800">
                <a:latin typeface="Poppins Bold" panose="00000800000000000000" charset="0"/>
                <a:cs typeface="Poppins Bold" panose="00000800000000000000" charset="0"/>
              </a:rPr>
              <a:t>Tiền sử gia đình tăng theo mức độ béo phì</a:t>
            </a:r>
            <a:endParaRPr lang="en-US" sz="2800">
              <a:latin typeface="Poppins Bold" panose="00000800000000000000" charset="0"/>
              <a:cs typeface="Poppins Bold" panose="00000800000000000000" charset="0"/>
            </a:endParaRPr>
          </a:p>
          <a:p>
            <a:pPr marL="668116" lvl="1" indent="-457200" algn="l">
              <a:lnSpc>
                <a:spcPct val="150000"/>
              </a:lnSpc>
              <a:buFont typeface="Arial" panose="020B0604020202020204" pitchFamily="34" charset="0"/>
              <a:buChar char="•"/>
            </a:pPr>
            <a:r>
              <a:rPr sz="2800">
                <a:latin typeface="Poppins Bold" panose="00000800000000000000" charset="0"/>
                <a:cs typeface="Poppins Bold" panose="00000800000000000000" charset="0"/>
              </a:rPr>
              <a:t>Nhóm Obesity I–III có tỷ lệ rất cao</a:t>
            </a:r>
            <a:endParaRPr lang="en-US" sz="2800">
              <a:latin typeface="Poppins Bold" panose="00000800000000000000" charset="0"/>
              <a:cs typeface="Poppins Bold" panose="00000800000000000000" charset="0"/>
            </a:endParaRPr>
          </a:p>
          <a:p>
            <a:pPr marL="668116" lvl="1" indent="-457200" algn="l">
              <a:lnSpc>
                <a:spcPct val="150000"/>
              </a:lnSpc>
              <a:buFont typeface="Arial" panose="020B0604020202020204" pitchFamily="34" charset="0"/>
              <a:buChar char="•"/>
            </a:pPr>
            <a:r>
              <a:rPr sz="2800">
                <a:latin typeface="Poppins Bold" panose="00000800000000000000" charset="0"/>
                <a:cs typeface="Poppins Bold" panose="00000800000000000000" charset="0"/>
              </a:rPr>
              <a:t>Yếu tố di truyền/gia đình là biến quan trọng</a:t>
            </a:r>
          </a:p>
        </p:txBody>
      </p:sp>
    </p:spTree>
    <p:extLst>
      <p:ext uri="{BB962C8B-B14F-4D97-AF65-F5344CB8AC3E}">
        <p14:creationId xmlns:p14="http://schemas.microsoft.com/office/powerpoint/2010/main" val="1317601259"/>
      </p:ext>
    </p:extLst>
  </p:cSld>
  <p:clrMapOvr>
    <a:masterClrMapping/>
  </p:clrMapOvr>
  <mc:AlternateContent xmlns:mc="http://schemas.openxmlformats.org/markup-compatibility/2006">
    <mc:Choice xmlns:p159="http://schemas.microsoft.com/office/powerpoint/2015/09/main" Requires="p159">
      <p:transition xmlns:p14="http://schemas.microsoft.com/office/powerpoint/2010/main" spd="slow" p14:dur="2000">
        <p159:morph option="byObject"/>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762000" y="479819"/>
            <a:ext cx="12277725" cy="923330"/>
          </a:xfrm>
          <a:prstGeom prst="rect">
            <a:avLst/>
          </a:prstGeom>
        </p:spPr>
        <p:txBody>
          <a:bodyPr lIns="0" tIns="0" rIns="0" bIns="0" rtlCol="0" anchor="t">
            <a:spAutoFit/>
          </a:bodyPr>
          <a:lstStyle/>
          <a:p>
            <a:pPr marL="0" lvl="0" indent="0" algn="l">
              <a:lnSpc>
                <a:spcPts val="7233"/>
              </a:lnSpc>
              <a:spcBef>
                <a:spcPct val="0"/>
              </a:spcBef>
            </a:pPr>
            <a:r>
              <a:rPr lang="en-US" sz="6290" b="1" u="none" strike="noStrike">
                <a:solidFill>
                  <a:srgbClr val="000000"/>
                </a:solidFill>
                <a:latin typeface="Poppins Bold"/>
                <a:ea typeface="Poppins Bold"/>
                <a:cs typeface="Poppins Bold"/>
                <a:sym typeface="Poppins Bold"/>
              </a:rPr>
              <a:t>LOGISTIC REGRESSION</a:t>
            </a:r>
          </a:p>
        </p:txBody>
      </p:sp>
      <p:grpSp>
        <p:nvGrpSpPr>
          <p:cNvPr id="3" name="Group 3"/>
          <p:cNvGrpSpPr/>
          <p:nvPr/>
        </p:nvGrpSpPr>
        <p:grpSpPr>
          <a:xfrm rot="-2522077">
            <a:off x="-6345933" y="-4911202"/>
            <a:ext cx="17210250" cy="11033291"/>
            <a:chOff x="0" y="-57150"/>
            <a:chExt cx="4532741" cy="2905887"/>
          </a:xfrm>
        </p:grpSpPr>
        <p:sp>
          <p:nvSpPr>
            <p:cNvPr id="4" name="Freeform 4"/>
            <p:cNvSpPr/>
            <p:nvPr/>
          </p:nvSpPr>
          <p:spPr>
            <a:xfrm>
              <a:off x="1408141" y="236365"/>
              <a:ext cx="3124600" cy="2612372"/>
            </a:xfrm>
            <a:custGeom>
              <a:avLst/>
              <a:gdLst/>
              <a:ahLst/>
              <a:cxnLst/>
              <a:rect l="l" t="t" r="r" b="b"/>
              <a:pathLst>
                <a:path w="3124600" h="2612372">
                  <a:moveTo>
                    <a:pt x="0" y="0"/>
                  </a:moveTo>
                  <a:lnTo>
                    <a:pt x="3124600" y="0"/>
                  </a:lnTo>
                  <a:lnTo>
                    <a:pt x="3124600" y="2612372"/>
                  </a:lnTo>
                  <a:lnTo>
                    <a:pt x="0" y="2612372"/>
                  </a:lnTo>
                  <a:close/>
                </a:path>
              </a:pathLst>
            </a:custGeom>
            <a:gradFill rotWithShape="1">
              <a:gsLst>
                <a:gs pos="0">
                  <a:srgbClr val="398DFA">
                    <a:alpha val="100000"/>
                  </a:srgbClr>
                </a:gs>
                <a:gs pos="50000">
                  <a:srgbClr val="0151B8">
                    <a:alpha val="24000"/>
                  </a:srgbClr>
                </a:gs>
                <a:gs pos="100000">
                  <a:srgbClr val="0151B8">
                    <a:alpha val="0"/>
                  </a:srgbClr>
                </a:gs>
              </a:gsLst>
              <a:lin ang="5400000"/>
            </a:gradFill>
          </p:spPr>
          <p:txBody>
            <a:bodyPr/>
            <a:lstStyle/>
            <a:p>
              <a:endParaRPr lang="en-US"/>
            </a:p>
          </p:txBody>
        </p:sp>
        <p:sp>
          <p:nvSpPr>
            <p:cNvPr id="5" name="TextBox 5"/>
            <p:cNvSpPr txBox="1"/>
            <p:nvPr/>
          </p:nvSpPr>
          <p:spPr>
            <a:xfrm>
              <a:off x="0" y="-57150"/>
              <a:ext cx="3124600" cy="2669522"/>
            </a:xfrm>
            <a:prstGeom prst="rect">
              <a:avLst/>
            </a:prstGeom>
          </p:spPr>
          <p:txBody>
            <a:bodyPr lIns="50800" tIns="50800" rIns="50800" bIns="50800" rtlCol="0" anchor="ctr"/>
            <a:lstStyle/>
            <a:p>
              <a:pPr algn="ctr">
                <a:lnSpc>
                  <a:spcPts val="2735"/>
                </a:lnSpc>
              </a:pPr>
              <a:endParaRPr/>
            </a:p>
          </p:txBody>
        </p:sp>
      </p:grpSp>
      <p:grpSp>
        <p:nvGrpSpPr>
          <p:cNvPr id="6" name="Group 6"/>
          <p:cNvGrpSpPr/>
          <p:nvPr/>
        </p:nvGrpSpPr>
        <p:grpSpPr>
          <a:xfrm>
            <a:off x="32147" y="1868742"/>
            <a:ext cx="18288000" cy="17401308"/>
            <a:chOff x="0" y="0"/>
            <a:chExt cx="4991115" cy="4749121"/>
          </a:xfrm>
        </p:grpSpPr>
        <p:sp>
          <p:nvSpPr>
            <p:cNvPr id="7" name="Freeform 7"/>
            <p:cNvSpPr/>
            <p:nvPr/>
          </p:nvSpPr>
          <p:spPr>
            <a:xfrm>
              <a:off x="0" y="0"/>
              <a:ext cx="4991115" cy="4749121"/>
            </a:xfrm>
            <a:custGeom>
              <a:avLst/>
              <a:gdLst/>
              <a:ahLst/>
              <a:cxnLst/>
              <a:rect l="l" t="t" r="r" b="b"/>
              <a:pathLst>
                <a:path w="4991115" h="4749121">
                  <a:moveTo>
                    <a:pt x="0" y="0"/>
                  </a:moveTo>
                  <a:lnTo>
                    <a:pt x="4991115" y="0"/>
                  </a:lnTo>
                  <a:lnTo>
                    <a:pt x="4991115" y="4749121"/>
                  </a:lnTo>
                  <a:lnTo>
                    <a:pt x="0" y="4749121"/>
                  </a:lnTo>
                  <a:close/>
                </a:path>
              </a:pathLst>
            </a:custGeom>
            <a:gradFill rotWithShape="1">
              <a:gsLst>
                <a:gs pos="0">
                  <a:srgbClr val="398DFA">
                    <a:alpha val="100000"/>
                  </a:srgbClr>
                </a:gs>
                <a:gs pos="50000">
                  <a:srgbClr val="0151B8">
                    <a:alpha val="24000"/>
                  </a:srgbClr>
                </a:gs>
                <a:gs pos="100000">
                  <a:srgbClr val="0151B8">
                    <a:alpha val="0"/>
                  </a:srgbClr>
                </a:gs>
              </a:gsLst>
              <a:lin ang="5400000"/>
            </a:gradFill>
          </p:spPr>
          <p:txBody>
            <a:bodyPr/>
            <a:lstStyle/>
            <a:p>
              <a:endParaRPr lang="en-US"/>
            </a:p>
          </p:txBody>
        </p:sp>
        <p:sp>
          <p:nvSpPr>
            <p:cNvPr id="8" name="TextBox 8"/>
            <p:cNvSpPr txBox="1"/>
            <p:nvPr/>
          </p:nvSpPr>
          <p:spPr>
            <a:xfrm>
              <a:off x="0" y="-57150"/>
              <a:ext cx="4991115" cy="4806271"/>
            </a:xfrm>
            <a:prstGeom prst="rect">
              <a:avLst/>
            </a:prstGeom>
          </p:spPr>
          <p:txBody>
            <a:bodyPr lIns="50800" tIns="50800" rIns="50800" bIns="50800" rtlCol="0" anchor="ctr"/>
            <a:lstStyle/>
            <a:p>
              <a:pPr algn="ctr">
                <a:lnSpc>
                  <a:spcPts val="2735"/>
                </a:lnSpc>
              </a:pPr>
              <a:endParaRPr/>
            </a:p>
          </p:txBody>
        </p:sp>
      </p:grpSp>
      <p:sp>
        <p:nvSpPr>
          <p:cNvPr id="9" name="TextBox 9"/>
          <p:cNvSpPr txBox="1"/>
          <p:nvPr/>
        </p:nvSpPr>
        <p:spPr>
          <a:xfrm>
            <a:off x="10019704" y="3946286"/>
            <a:ext cx="7010400" cy="3441263"/>
          </a:xfrm>
          <a:prstGeom prst="rect">
            <a:avLst/>
          </a:prstGeom>
        </p:spPr>
        <p:txBody>
          <a:bodyPr wrap="square" lIns="0" tIns="0" rIns="0" bIns="0" rtlCol="0" anchor="t">
            <a:spAutoFit/>
          </a:bodyPr>
          <a:lstStyle/>
          <a:p>
            <a:pPr algn="just">
              <a:lnSpc>
                <a:spcPts val="2659"/>
              </a:lnSpc>
              <a:spcBef>
                <a:spcPct val="0"/>
              </a:spcBef>
            </a:pPr>
            <a:r>
              <a:rPr lang="en-US" sz="1899">
                <a:solidFill>
                  <a:srgbClr val="FFFFFF"/>
                </a:solidFill>
                <a:latin typeface="Poppins"/>
                <a:ea typeface="Poppins"/>
                <a:cs typeface="Poppins"/>
                <a:sym typeface="Poppins"/>
              </a:rPr>
              <a:t>📊 NHẬN XÉT MÔ HÌNH </a:t>
            </a:r>
          </a:p>
          <a:p>
            <a:pPr algn="just">
              <a:lnSpc>
                <a:spcPts val="2659"/>
              </a:lnSpc>
              <a:spcBef>
                <a:spcPct val="0"/>
              </a:spcBef>
            </a:pPr>
            <a:r>
              <a:rPr lang="en-US" sz="1899" b="1">
                <a:solidFill>
                  <a:srgbClr val="FFFFFF"/>
                </a:solidFill>
                <a:latin typeface="Poppins"/>
                <a:ea typeface="Poppins"/>
                <a:cs typeface="Poppins"/>
                <a:sym typeface="Poppins"/>
              </a:rPr>
              <a:t>- Accuracy: </a:t>
            </a:r>
            <a:r>
              <a:rPr lang="en-US" sz="1899">
                <a:solidFill>
                  <a:srgbClr val="FFFFFF"/>
                </a:solidFill>
                <a:latin typeface="Poppins"/>
                <a:ea typeface="Poppins"/>
                <a:cs typeface="Poppins"/>
                <a:sym typeface="Poppins"/>
              </a:rPr>
              <a:t>61.32%</a:t>
            </a:r>
            <a:endParaRPr lang="en-US" sz="1899" b="1">
              <a:solidFill>
                <a:srgbClr val="FFFFFF"/>
              </a:solidFill>
              <a:latin typeface="Poppins"/>
              <a:ea typeface="Poppins"/>
              <a:cs typeface="Poppins"/>
              <a:sym typeface="Poppins"/>
            </a:endParaRPr>
          </a:p>
          <a:p>
            <a:pPr algn="just">
              <a:lnSpc>
                <a:spcPts val="2659"/>
              </a:lnSpc>
              <a:spcBef>
                <a:spcPct val="0"/>
              </a:spcBef>
            </a:pPr>
            <a:r>
              <a:rPr lang="en-US" sz="1899">
                <a:solidFill>
                  <a:srgbClr val="FFFFFF"/>
                </a:solidFill>
                <a:latin typeface="Poppins"/>
                <a:ea typeface="Poppins"/>
                <a:cs typeface="Poppins"/>
                <a:sym typeface="Poppins"/>
              </a:rPr>
              <a:t>- Là mô hình baseline, dựa trên ranh giới tuyến tính</a:t>
            </a:r>
          </a:p>
          <a:p>
            <a:pPr algn="just">
              <a:lnSpc>
                <a:spcPts val="2659"/>
              </a:lnSpc>
              <a:spcBef>
                <a:spcPct val="0"/>
              </a:spcBef>
            </a:pPr>
            <a:r>
              <a:rPr lang="en-US" sz="1899">
                <a:solidFill>
                  <a:srgbClr val="FFFFFF"/>
                </a:solidFill>
                <a:latin typeface="Poppins"/>
                <a:ea typeface="Poppins"/>
                <a:cs typeface="Poppins"/>
                <a:sym typeface="Poppins"/>
              </a:rPr>
              <a:t>- Dự đoán tốt hơn ở nhóm </a:t>
            </a:r>
            <a:r>
              <a:rPr lang="en-US" sz="1899" b="1">
                <a:solidFill>
                  <a:srgbClr val="FFFFFF"/>
                </a:solidFill>
                <a:latin typeface="Poppins"/>
                <a:ea typeface="Poppins"/>
                <a:cs typeface="Poppins"/>
                <a:sym typeface="Poppins"/>
              </a:rPr>
              <a:t>Obesity Type III</a:t>
            </a:r>
          </a:p>
          <a:p>
            <a:pPr algn="just">
              <a:lnSpc>
                <a:spcPts val="2659"/>
              </a:lnSpc>
              <a:spcBef>
                <a:spcPct val="0"/>
              </a:spcBef>
            </a:pPr>
            <a:r>
              <a:rPr lang="en-US" sz="1899">
                <a:solidFill>
                  <a:srgbClr val="FFFFFF"/>
                </a:solidFill>
                <a:latin typeface="Poppins"/>
                <a:ea typeface="Poppins"/>
                <a:cs typeface="Poppins"/>
                <a:sym typeface="Poppins"/>
              </a:rPr>
              <a:t>- Nhầm lẫn nhiều giữa các lớp liền kề do dữ liệu có quan hệ phi tuyến, các nhóm BMI gần nhau có đặc điểm tương đồng</a:t>
            </a:r>
          </a:p>
          <a:p>
            <a:pPr algn="just">
              <a:lnSpc>
                <a:spcPts val="2659"/>
              </a:lnSpc>
              <a:spcBef>
                <a:spcPct val="0"/>
              </a:spcBef>
            </a:pPr>
            <a:endParaRPr lang="en-US" sz="1899">
              <a:solidFill>
                <a:srgbClr val="FFFFFF"/>
              </a:solidFill>
              <a:latin typeface="Poppins"/>
              <a:ea typeface="Poppins"/>
              <a:cs typeface="Poppins"/>
              <a:sym typeface="Poppins"/>
            </a:endParaRPr>
          </a:p>
          <a:p>
            <a:pPr algn="just">
              <a:lnSpc>
                <a:spcPts val="2659"/>
              </a:lnSpc>
              <a:spcBef>
                <a:spcPct val="0"/>
              </a:spcBef>
            </a:pPr>
            <a:r>
              <a:rPr lang="en-US" sz="1899">
                <a:solidFill>
                  <a:srgbClr val="FFFFFF"/>
                </a:solidFill>
                <a:latin typeface="Poppins"/>
                <a:ea typeface="Poppins"/>
                <a:cs typeface="Poppins"/>
                <a:sym typeface="Poppins"/>
              </a:rPr>
              <a:t>Kết lu</a:t>
            </a:r>
            <a:r>
              <a:rPr lang="en-US" sz="1899" b="1">
                <a:solidFill>
                  <a:srgbClr val="FFFFFF"/>
                </a:solidFill>
                <a:latin typeface="Poppins Bold"/>
                <a:ea typeface="Poppins Bold"/>
                <a:cs typeface="Poppins Bold"/>
                <a:sym typeface="Poppins Bold"/>
              </a:rPr>
              <a:t>ận</a:t>
            </a:r>
          </a:p>
          <a:p>
            <a:pPr algn="just">
              <a:lnSpc>
                <a:spcPts val="2659"/>
              </a:lnSpc>
              <a:spcBef>
                <a:spcPct val="0"/>
              </a:spcBef>
            </a:pPr>
            <a:r>
              <a:rPr lang="en-US" sz="1899" b="1">
                <a:solidFill>
                  <a:srgbClr val="FFFFFF"/>
                </a:solidFill>
                <a:latin typeface="Poppins Bold"/>
                <a:ea typeface="Poppins Bold"/>
                <a:cs typeface="Poppins Bold"/>
                <a:sym typeface="Poppins Bold"/>
              </a:rPr>
              <a:t>            Logistic Regression chưa đủ tốt</a:t>
            </a:r>
            <a:endParaRPr lang="en-US" sz="1899">
              <a:solidFill>
                <a:srgbClr val="FFFFFF"/>
              </a:solidFill>
              <a:latin typeface="Poppins"/>
              <a:ea typeface="Poppins"/>
              <a:cs typeface="Poppins"/>
              <a:sym typeface="Poppins"/>
            </a:endParaRPr>
          </a:p>
        </p:txBody>
      </p:sp>
      <p:sp>
        <p:nvSpPr>
          <p:cNvPr id="10" name="Freeform 10"/>
          <p:cNvSpPr/>
          <p:nvPr/>
        </p:nvSpPr>
        <p:spPr>
          <a:xfrm>
            <a:off x="96437" y="3760000"/>
            <a:ext cx="8633224" cy="5814212"/>
          </a:xfrm>
          <a:custGeom>
            <a:avLst/>
            <a:gdLst/>
            <a:ahLst/>
            <a:cxnLst/>
            <a:rect l="l" t="t" r="r" b="b"/>
            <a:pathLst>
              <a:path w="8633224" h="5814212">
                <a:moveTo>
                  <a:pt x="0" y="0"/>
                </a:moveTo>
                <a:lnTo>
                  <a:pt x="8633224" y="0"/>
                </a:lnTo>
                <a:lnTo>
                  <a:pt x="8633224" y="5814212"/>
                </a:lnTo>
                <a:lnTo>
                  <a:pt x="0" y="5814212"/>
                </a:lnTo>
                <a:lnTo>
                  <a:pt x="0" y="0"/>
                </a:lnTo>
                <a:close/>
              </a:path>
            </a:pathLst>
          </a:custGeom>
          <a:blipFill>
            <a:blip r:embed="rId3"/>
            <a:stretch>
              <a:fillRect/>
            </a:stretch>
          </a:blipFill>
        </p:spPr>
        <p:txBody>
          <a:bodyPr/>
          <a:lstStyle/>
          <a:p>
            <a:endParaRPr lang="en-US"/>
          </a:p>
        </p:txBody>
      </p:sp>
      <p:sp>
        <p:nvSpPr>
          <p:cNvPr id="11" name="TextBox 11"/>
          <p:cNvSpPr txBox="1"/>
          <p:nvPr/>
        </p:nvSpPr>
        <p:spPr>
          <a:xfrm>
            <a:off x="1472825" y="2166361"/>
            <a:ext cx="16336546" cy="752141"/>
          </a:xfrm>
          <a:prstGeom prst="rect">
            <a:avLst/>
          </a:prstGeom>
        </p:spPr>
        <p:txBody>
          <a:bodyPr lIns="0" tIns="0" rIns="0" bIns="0" rtlCol="0" anchor="t">
            <a:spAutoFit/>
          </a:bodyPr>
          <a:lstStyle/>
          <a:p>
            <a:pPr algn="l">
              <a:lnSpc>
                <a:spcPts val="2988"/>
              </a:lnSpc>
              <a:spcBef>
                <a:spcPct val="0"/>
              </a:spcBef>
            </a:pPr>
            <a:r>
              <a:rPr lang="en-US" sz="2134" b="1">
                <a:solidFill>
                  <a:srgbClr val="FFFFFF"/>
                </a:solidFill>
                <a:latin typeface="Poppins Bold"/>
                <a:ea typeface="Poppins Bold"/>
                <a:cs typeface="Poppins Bold"/>
                <a:sym typeface="Poppins Bold"/>
              </a:rPr>
              <a:t>Cơ Chế</a:t>
            </a:r>
            <a:r>
              <a:rPr lang="en-US" sz="2134">
                <a:solidFill>
                  <a:srgbClr val="FFFFFF"/>
                </a:solidFill>
                <a:latin typeface="Poppins"/>
                <a:ea typeface="Poppins"/>
                <a:cs typeface="Poppins"/>
                <a:sym typeface="Poppins"/>
              </a:rPr>
              <a:t>:mô hình phân loại và tìm ra các hệ số tuyến tính bi dựa dựa trên xác suất và phép biến đổi Logit </a:t>
            </a:r>
          </a:p>
          <a:p>
            <a:pPr algn="l">
              <a:lnSpc>
                <a:spcPts val="2988"/>
              </a:lnSpc>
              <a:spcBef>
                <a:spcPct val="0"/>
              </a:spcBef>
            </a:pPr>
            <a:r>
              <a:rPr lang="en-US" sz="2134" b="1">
                <a:solidFill>
                  <a:srgbClr val="FFFFFF"/>
                </a:solidFill>
                <a:latin typeface="Poppins Bold"/>
                <a:ea typeface="Poppins Bold"/>
                <a:cs typeface="Poppins Bold"/>
                <a:sym typeface="Poppins Bold"/>
              </a:rPr>
              <a:t>Mục tiêu</a:t>
            </a:r>
            <a:r>
              <a:rPr lang="en-US" sz="2134">
                <a:solidFill>
                  <a:srgbClr val="FFFFFF"/>
                </a:solidFill>
                <a:latin typeface="Poppins"/>
                <a:ea typeface="Poppins"/>
                <a:cs typeface="Poppins"/>
                <a:sym typeface="Poppins"/>
              </a:rPr>
              <a:t>: tìm được Xác Suất của các biến danh mục(7 mức độ béo phì) </a:t>
            </a:r>
          </a:p>
        </p:txBody>
      </p:sp>
      <p:sp>
        <p:nvSpPr>
          <p:cNvPr id="13" name="Slide Number Placeholder 12">
            <a:extLst>
              <a:ext uri="{FF2B5EF4-FFF2-40B4-BE49-F238E27FC236}">
                <a16:creationId xmlns:a16="http://schemas.microsoft.com/office/drawing/2014/main" id="{E37BBB81-2DAD-C311-070F-89713F5F751B}"/>
              </a:ext>
            </a:extLst>
          </p:cNvPr>
          <p:cNvSpPr>
            <a:spLocks noGrp="1"/>
          </p:cNvSpPr>
          <p:nvPr>
            <p:ph type="sldNum" sz="quarter" idx="12"/>
          </p:nvPr>
        </p:nvSpPr>
        <p:spPr/>
        <p:txBody>
          <a:bodyPr/>
          <a:lstStyle/>
          <a:p>
            <a:fld id="{B6F15528-21DE-4FAA-801E-634DDDAF4B2B}" type="slidenum">
              <a:rPr lang="en-US" smtClean="0"/>
              <a:pPr/>
              <a:t>15</a:t>
            </a:fld>
            <a:endParaRPr lang="en-US"/>
          </a:p>
        </p:txBody>
      </p:sp>
    </p:spTree>
  </p:cSld>
  <p:clrMapOvr>
    <a:masterClrMapping/>
  </p:clrMapOvr>
  <p:transition spd="med">
    <p:pull/>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1868720"/>
            <a:ext cx="18288000" cy="22788804"/>
            <a:chOff x="0" y="0"/>
            <a:chExt cx="4991115" cy="6219463"/>
          </a:xfrm>
        </p:grpSpPr>
        <p:sp>
          <p:nvSpPr>
            <p:cNvPr id="3" name="Freeform 3"/>
            <p:cNvSpPr/>
            <p:nvPr/>
          </p:nvSpPr>
          <p:spPr>
            <a:xfrm>
              <a:off x="0" y="0"/>
              <a:ext cx="4991115" cy="6219463"/>
            </a:xfrm>
            <a:custGeom>
              <a:avLst/>
              <a:gdLst/>
              <a:ahLst/>
              <a:cxnLst/>
              <a:rect l="l" t="t" r="r" b="b"/>
              <a:pathLst>
                <a:path w="4991115" h="6219463">
                  <a:moveTo>
                    <a:pt x="0" y="0"/>
                  </a:moveTo>
                  <a:lnTo>
                    <a:pt x="4991115" y="0"/>
                  </a:lnTo>
                  <a:lnTo>
                    <a:pt x="4991115" y="6219463"/>
                  </a:lnTo>
                  <a:lnTo>
                    <a:pt x="0" y="6219463"/>
                  </a:lnTo>
                  <a:close/>
                </a:path>
              </a:pathLst>
            </a:custGeom>
            <a:gradFill rotWithShape="1">
              <a:gsLst>
                <a:gs pos="0">
                  <a:srgbClr val="398DFA">
                    <a:alpha val="100000"/>
                  </a:srgbClr>
                </a:gs>
                <a:gs pos="50000">
                  <a:srgbClr val="0151B8">
                    <a:alpha val="24000"/>
                  </a:srgbClr>
                </a:gs>
                <a:gs pos="100000">
                  <a:srgbClr val="0151B8">
                    <a:alpha val="0"/>
                  </a:srgbClr>
                </a:gs>
              </a:gsLst>
              <a:lin ang="5400000"/>
            </a:gradFill>
          </p:spPr>
          <p:txBody>
            <a:bodyPr/>
            <a:lstStyle/>
            <a:p>
              <a:endParaRPr lang="en-US"/>
            </a:p>
          </p:txBody>
        </p:sp>
        <p:sp>
          <p:nvSpPr>
            <p:cNvPr id="4" name="TextBox 4"/>
            <p:cNvSpPr txBox="1"/>
            <p:nvPr/>
          </p:nvSpPr>
          <p:spPr>
            <a:xfrm>
              <a:off x="0" y="-57150"/>
              <a:ext cx="4991115" cy="6276613"/>
            </a:xfrm>
            <a:prstGeom prst="rect">
              <a:avLst/>
            </a:prstGeom>
          </p:spPr>
          <p:txBody>
            <a:bodyPr lIns="50800" tIns="50800" rIns="50800" bIns="50800" rtlCol="0" anchor="ctr"/>
            <a:lstStyle/>
            <a:p>
              <a:pPr algn="ctr">
                <a:lnSpc>
                  <a:spcPts val="2735"/>
                </a:lnSpc>
              </a:pPr>
              <a:endParaRPr/>
            </a:p>
          </p:txBody>
        </p:sp>
      </p:grpSp>
      <p:grpSp>
        <p:nvGrpSpPr>
          <p:cNvPr id="5" name="Group 5"/>
          <p:cNvGrpSpPr/>
          <p:nvPr/>
        </p:nvGrpSpPr>
        <p:grpSpPr>
          <a:xfrm rot="4525757">
            <a:off x="3029927" y="-8051541"/>
            <a:ext cx="3943967" cy="16511139"/>
            <a:chOff x="0" y="0"/>
            <a:chExt cx="1076377" cy="4506179"/>
          </a:xfrm>
        </p:grpSpPr>
        <p:sp>
          <p:nvSpPr>
            <p:cNvPr id="6" name="Freeform 6"/>
            <p:cNvSpPr/>
            <p:nvPr/>
          </p:nvSpPr>
          <p:spPr>
            <a:xfrm>
              <a:off x="0" y="0"/>
              <a:ext cx="1076377" cy="4506178"/>
            </a:xfrm>
            <a:custGeom>
              <a:avLst/>
              <a:gdLst/>
              <a:ahLst/>
              <a:cxnLst/>
              <a:rect l="l" t="t" r="r" b="b"/>
              <a:pathLst>
                <a:path w="1076377" h="4506178">
                  <a:moveTo>
                    <a:pt x="0" y="0"/>
                  </a:moveTo>
                  <a:lnTo>
                    <a:pt x="1076377" y="0"/>
                  </a:lnTo>
                  <a:lnTo>
                    <a:pt x="1076377" y="4506178"/>
                  </a:lnTo>
                  <a:lnTo>
                    <a:pt x="0" y="4506178"/>
                  </a:lnTo>
                  <a:close/>
                </a:path>
              </a:pathLst>
            </a:custGeom>
            <a:solidFill>
              <a:srgbClr val="5A8FD4"/>
            </a:solidFill>
          </p:spPr>
          <p:txBody>
            <a:bodyPr/>
            <a:lstStyle/>
            <a:p>
              <a:endParaRPr lang="en-US"/>
            </a:p>
          </p:txBody>
        </p:sp>
        <p:sp>
          <p:nvSpPr>
            <p:cNvPr id="7" name="TextBox 7"/>
            <p:cNvSpPr txBox="1"/>
            <p:nvPr/>
          </p:nvSpPr>
          <p:spPr>
            <a:xfrm>
              <a:off x="0" y="-57150"/>
              <a:ext cx="1076377" cy="4563329"/>
            </a:xfrm>
            <a:prstGeom prst="rect">
              <a:avLst/>
            </a:prstGeom>
          </p:spPr>
          <p:txBody>
            <a:bodyPr lIns="50800" tIns="50800" rIns="50800" bIns="50800" rtlCol="0" anchor="ctr"/>
            <a:lstStyle/>
            <a:p>
              <a:pPr algn="ctr">
                <a:lnSpc>
                  <a:spcPts val="2735"/>
                </a:lnSpc>
              </a:pPr>
              <a:endParaRPr/>
            </a:p>
          </p:txBody>
        </p:sp>
      </p:grpSp>
      <p:grpSp>
        <p:nvGrpSpPr>
          <p:cNvPr id="8" name="Group 8"/>
          <p:cNvGrpSpPr/>
          <p:nvPr/>
        </p:nvGrpSpPr>
        <p:grpSpPr>
          <a:xfrm rot="2889583">
            <a:off x="-794455" y="-1458097"/>
            <a:ext cx="1833864" cy="4699825"/>
            <a:chOff x="0" y="0"/>
            <a:chExt cx="500494" cy="1282664"/>
          </a:xfrm>
        </p:grpSpPr>
        <p:sp>
          <p:nvSpPr>
            <p:cNvPr id="9" name="Freeform 9"/>
            <p:cNvSpPr/>
            <p:nvPr/>
          </p:nvSpPr>
          <p:spPr>
            <a:xfrm>
              <a:off x="0" y="0"/>
              <a:ext cx="500494" cy="1282665"/>
            </a:xfrm>
            <a:custGeom>
              <a:avLst/>
              <a:gdLst/>
              <a:ahLst/>
              <a:cxnLst/>
              <a:rect l="l" t="t" r="r" b="b"/>
              <a:pathLst>
                <a:path w="500494" h="1282665">
                  <a:moveTo>
                    <a:pt x="0" y="0"/>
                  </a:moveTo>
                  <a:lnTo>
                    <a:pt x="500494" y="0"/>
                  </a:lnTo>
                  <a:lnTo>
                    <a:pt x="500494" y="1282665"/>
                  </a:lnTo>
                  <a:lnTo>
                    <a:pt x="0" y="1282665"/>
                  </a:lnTo>
                  <a:close/>
                </a:path>
              </a:pathLst>
            </a:custGeom>
            <a:gradFill rotWithShape="1">
              <a:gsLst>
                <a:gs pos="0">
                  <a:srgbClr val="398DFA">
                    <a:alpha val="100000"/>
                  </a:srgbClr>
                </a:gs>
                <a:gs pos="50000">
                  <a:srgbClr val="0151B8">
                    <a:alpha val="24000"/>
                  </a:srgbClr>
                </a:gs>
                <a:gs pos="100000">
                  <a:srgbClr val="0151B8">
                    <a:alpha val="0"/>
                  </a:srgbClr>
                </a:gs>
              </a:gsLst>
              <a:lin ang="5400000"/>
            </a:gradFill>
          </p:spPr>
          <p:txBody>
            <a:bodyPr/>
            <a:lstStyle/>
            <a:p>
              <a:endParaRPr lang="en-US"/>
            </a:p>
          </p:txBody>
        </p:sp>
        <p:sp>
          <p:nvSpPr>
            <p:cNvPr id="10" name="TextBox 10"/>
            <p:cNvSpPr txBox="1"/>
            <p:nvPr/>
          </p:nvSpPr>
          <p:spPr>
            <a:xfrm>
              <a:off x="0" y="-57150"/>
              <a:ext cx="500494" cy="1339814"/>
            </a:xfrm>
            <a:prstGeom prst="rect">
              <a:avLst/>
            </a:prstGeom>
          </p:spPr>
          <p:txBody>
            <a:bodyPr lIns="50800" tIns="50800" rIns="50800" bIns="50800" rtlCol="0" anchor="ctr"/>
            <a:lstStyle/>
            <a:p>
              <a:pPr algn="ctr">
                <a:lnSpc>
                  <a:spcPts val="2735"/>
                </a:lnSpc>
              </a:pPr>
              <a:endParaRPr/>
            </a:p>
          </p:txBody>
        </p:sp>
      </p:grpSp>
      <p:sp>
        <p:nvSpPr>
          <p:cNvPr id="11" name="Freeform 11"/>
          <p:cNvSpPr/>
          <p:nvPr/>
        </p:nvSpPr>
        <p:spPr>
          <a:xfrm>
            <a:off x="15940874" y="536695"/>
            <a:ext cx="1318426" cy="710241"/>
          </a:xfrm>
          <a:custGeom>
            <a:avLst/>
            <a:gdLst/>
            <a:ahLst/>
            <a:cxnLst/>
            <a:rect l="l" t="t" r="r" b="b"/>
            <a:pathLst>
              <a:path w="1318426" h="710241">
                <a:moveTo>
                  <a:pt x="0" y="0"/>
                </a:moveTo>
                <a:lnTo>
                  <a:pt x="1318426" y="0"/>
                </a:lnTo>
                <a:lnTo>
                  <a:pt x="1318426" y="710241"/>
                </a:lnTo>
                <a:lnTo>
                  <a:pt x="0" y="710241"/>
                </a:lnTo>
                <a:lnTo>
                  <a:pt x="0" y="0"/>
                </a:lnTo>
                <a:close/>
              </a:path>
            </a:pathLst>
          </a:custGeom>
          <a:blipFill>
            <a:blip>
              <a:extLst>
                <a:ext uri="{96DAC541-7B7A-43D3-8B79-37D633B846F1}">
                  <asvg:svgBlip xmlns:asvg="http://schemas.microsoft.com/office/drawing/2016/SVG/main" r:embed="rId3"/>
                </a:ext>
              </a:extLst>
            </a:blip>
            <a:stretch>
              <a:fillRect b="-85630"/>
            </a:stretch>
          </a:blipFill>
        </p:spPr>
        <p:txBody>
          <a:bodyPr/>
          <a:lstStyle/>
          <a:p>
            <a:endParaRPr lang="en-US"/>
          </a:p>
        </p:txBody>
      </p:sp>
      <p:sp>
        <p:nvSpPr>
          <p:cNvPr id="12" name="Freeform 12"/>
          <p:cNvSpPr/>
          <p:nvPr/>
        </p:nvSpPr>
        <p:spPr>
          <a:xfrm>
            <a:off x="621359" y="3628497"/>
            <a:ext cx="8357154" cy="5685868"/>
          </a:xfrm>
          <a:custGeom>
            <a:avLst/>
            <a:gdLst/>
            <a:ahLst/>
            <a:cxnLst/>
            <a:rect l="l" t="t" r="r" b="b"/>
            <a:pathLst>
              <a:path w="8357154" h="5685868">
                <a:moveTo>
                  <a:pt x="0" y="0"/>
                </a:moveTo>
                <a:lnTo>
                  <a:pt x="8357153" y="0"/>
                </a:lnTo>
                <a:lnTo>
                  <a:pt x="8357153" y="5685868"/>
                </a:lnTo>
                <a:lnTo>
                  <a:pt x="0" y="5685868"/>
                </a:lnTo>
                <a:lnTo>
                  <a:pt x="0" y="0"/>
                </a:lnTo>
                <a:close/>
              </a:path>
            </a:pathLst>
          </a:custGeom>
          <a:blipFill>
            <a:blip r:embed="rId4"/>
            <a:stretch>
              <a:fillRect/>
            </a:stretch>
          </a:blipFill>
        </p:spPr>
        <p:txBody>
          <a:bodyPr/>
          <a:lstStyle/>
          <a:p>
            <a:endParaRPr lang="en-US"/>
          </a:p>
        </p:txBody>
      </p:sp>
      <p:sp>
        <p:nvSpPr>
          <p:cNvPr id="13" name="TextBox 13"/>
          <p:cNvSpPr txBox="1"/>
          <p:nvPr/>
        </p:nvSpPr>
        <p:spPr>
          <a:xfrm>
            <a:off x="1028700" y="379023"/>
            <a:ext cx="12277725" cy="923330"/>
          </a:xfrm>
          <a:prstGeom prst="rect">
            <a:avLst/>
          </a:prstGeom>
        </p:spPr>
        <p:txBody>
          <a:bodyPr lIns="0" tIns="0" rIns="0" bIns="0" rtlCol="0" anchor="t">
            <a:spAutoFit/>
          </a:bodyPr>
          <a:lstStyle/>
          <a:p>
            <a:pPr marL="0" lvl="0" indent="0" algn="l">
              <a:lnSpc>
                <a:spcPts val="7233"/>
              </a:lnSpc>
              <a:spcBef>
                <a:spcPct val="0"/>
              </a:spcBef>
            </a:pPr>
            <a:r>
              <a:rPr lang="en-US" sz="6290" b="1" u="none" strike="noStrike">
                <a:solidFill>
                  <a:srgbClr val="000000"/>
                </a:solidFill>
                <a:latin typeface="Poppins Bold"/>
                <a:ea typeface="Poppins Bold"/>
                <a:cs typeface="Poppins Bold"/>
                <a:sym typeface="Poppins Bold"/>
              </a:rPr>
              <a:t>Random Forest</a:t>
            </a:r>
          </a:p>
        </p:txBody>
      </p:sp>
      <p:sp>
        <p:nvSpPr>
          <p:cNvPr id="14" name="TextBox 14"/>
          <p:cNvSpPr txBox="1"/>
          <p:nvPr/>
        </p:nvSpPr>
        <p:spPr>
          <a:xfrm>
            <a:off x="1732359" y="2146001"/>
            <a:ext cx="16202125" cy="693323"/>
          </a:xfrm>
          <a:prstGeom prst="rect">
            <a:avLst/>
          </a:prstGeom>
        </p:spPr>
        <p:txBody>
          <a:bodyPr lIns="0" tIns="0" rIns="0" bIns="0" rtlCol="0" anchor="t">
            <a:spAutoFit/>
          </a:bodyPr>
          <a:lstStyle/>
          <a:p>
            <a:pPr algn="ctr">
              <a:lnSpc>
                <a:spcPts val="2735"/>
              </a:lnSpc>
              <a:spcBef>
                <a:spcPct val="0"/>
              </a:spcBef>
            </a:pPr>
            <a:r>
              <a:rPr lang="en-US" sz="1953" b="1">
                <a:solidFill>
                  <a:srgbClr val="FFFFFF"/>
                </a:solidFill>
                <a:latin typeface="Poppins Bold"/>
                <a:ea typeface="Poppins Bold"/>
                <a:cs typeface="Poppins Bold"/>
                <a:sym typeface="Poppins Bold"/>
              </a:rPr>
              <a:t>Mô Tả:</a:t>
            </a:r>
            <a:r>
              <a:rPr lang="en-US" sz="1953">
                <a:solidFill>
                  <a:srgbClr val="FFFFFF"/>
                </a:solidFill>
                <a:latin typeface="Poppins"/>
                <a:ea typeface="Poppins"/>
                <a:cs typeface="Poppins"/>
                <a:sym typeface="Poppins"/>
              </a:rPr>
              <a:t>Sử dụng phương pháp học tập hợp (Ensemble Learning) qua việc kết hợp dự đoán độc lập của 100 cây quyết định song song</a:t>
            </a:r>
          </a:p>
          <a:p>
            <a:pPr algn="ctr">
              <a:lnSpc>
                <a:spcPts val="2735"/>
              </a:lnSpc>
              <a:spcBef>
                <a:spcPct val="0"/>
              </a:spcBef>
            </a:pPr>
            <a:r>
              <a:rPr lang="en-US" sz="1953">
                <a:solidFill>
                  <a:srgbClr val="FFFFFF"/>
                </a:solidFill>
                <a:latin typeface="Poppins"/>
                <a:ea typeface="Poppins"/>
                <a:cs typeface="Poppins"/>
                <a:sym typeface="Poppins"/>
              </a:rPr>
              <a:t>để giải quyết mối quan hệ phi tuyến tính giữa các yếu tó</a:t>
            </a:r>
          </a:p>
        </p:txBody>
      </p:sp>
      <p:sp>
        <p:nvSpPr>
          <p:cNvPr id="15" name="TextBox 15"/>
          <p:cNvSpPr txBox="1"/>
          <p:nvPr/>
        </p:nvSpPr>
        <p:spPr>
          <a:xfrm>
            <a:off x="9309488" y="3710643"/>
            <a:ext cx="8357154" cy="5521576"/>
          </a:xfrm>
          <a:prstGeom prst="rect">
            <a:avLst/>
          </a:prstGeom>
        </p:spPr>
        <p:txBody>
          <a:bodyPr wrap="square" lIns="0" tIns="0" rIns="0" bIns="0" rtlCol="0" anchor="t">
            <a:spAutoFit/>
          </a:bodyPr>
          <a:lstStyle/>
          <a:p>
            <a:pPr algn="l">
              <a:lnSpc>
                <a:spcPts val="2659"/>
              </a:lnSpc>
            </a:pPr>
            <a:r>
              <a:rPr lang="en-US" sz="1899">
                <a:solidFill>
                  <a:srgbClr val="FFFFFF"/>
                </a:solidFill>
                <a:latin typeface="Poppins"/>
                <a:ea typeface="Poppins"/>
                <a:cs typeface="Poppins"/>
                <a:sym typeface="Poppins"/>
              </a:rPr>
              <a:t>📊</a:t>
            </a:r>
            <a:r>
              <a:rPr lang="en-US" sz="1899" b="1">
                <a:solidFill>
                  <a:srgbClr val="FFFFFF"/>
                </a:solidFill>
                <a:latin typeface="Poppins Bold"/>
                <a:ea typeface="Poppins Bold"/>
                <a:cs typeface="Poppins Bold"/>
                <a:sym typeface="Poppins Bold"/>
              </a:rPr>
              <a:t> NHẬN XÉT MÔ HÌNH</a:t>
            </a:r>
          </a:p>
          <a:p>
            <a:pPr algn="l">
              <a:lnSpc>
                <a:spcPts val="2659"/>
              </a:lnSpc>
              <a:spcBef>
                <a:spcPct val="0"/>
              </a:spcBef>
            </a:pPr>
            <a:r>
              <a:rPr lang="en-US" sz="1899" b="1">
                <a:solidFill>
                  <a:srgbClr val="FFFFFF"/>
                </a:solidFill>
                <a:latin typeface="Poppins Bold"/>
                <a:ea typeface="Poppins Bold"/>
                <a:cs typeface="Poppins Bold"/>
                <a:sym typeface="Poppins Bold"/>
              </a:rPr>
              <a:t>- Sử dụng 100 cây quyết định</a:t>
            </a:r>
          </a:p>
          <a:p>
            <a:pPr algn="l">
              <a:lnSpc>
                <a:spcPts val="2659"/>
              </a:lnSpc>
              <a:spcBef>
                <a:spcPct val="0"/>
              </a:spcBef>
            </a:pPr>
            <a:r>
              <a:rPr lang="en-US" sz="1899" b="1">
                <a:solidFill>
                  <a:srgbClr val="FFFFFF"/>
                </a:solidFill>
                <a:latin typeface="Poppins Bold"/>
                <a:ea typeface="Poppins Bold"/>
                <a:cs typeface="Poppins Bold"/>
                <a:sym typeface="Poppins Bold"/>
              </a:rPr>
              <a:t>- Accuracy: 89.76%</a:t>
            </a:r>
          </a:p>
          <a:p>
            <a:pPr algn="l">
              <a:lnSpc>
                <a:spcPts val="2659"/>
              </a:lnSpc>
              <a:spcBef>
                <a:spcPct val="0"/>
              </a:spcBef>
            </a:pPr>
            <a:r>
              <a:rPr lang="en-US" sz="1899" b="1">
                <a:solidFill>
                  <a:srgbClr val="FFFFFF"/>
                </a:solidFill>
                <a:latin typeface="Poppins Bold"/>
                <a:ea typeface="Poppins Bold"/>
                <a:cs typeface="Poppins Bold"/>
                <a:sym typeface="Poppins Bold"/>
              </a:rPr>
              <a:t>- Đường chéo chính rõ -&gt; dự đoán đúng nhiều</a:t>
            </a:r>
          </a:p>
          <a:p>
            <a:pPr algn="l">
              <a:lnSpc>
                <a:spcPts val="2659"/>
              </a:lnSpc>
              <a:spcBef>
                <a:spcPct val="0"/>
              </a:spcBef>
            </a:pPr>
            <a:r>
              <a:rPr lang="en-US" sz="1899" b="1">
                <a:solidFill>
                  <a:srgbClr val="FFFFFF"/>
                </a:solidFill>
                <a:latin typeface="Poppins Bold"/>
                <a:ea typeface="Poppins Bold"/>
                <a:cs typeface="Poppins Bold"/>
                <a:sym typeface="Poppins Bold"/>
              </a:rPr>
              <a:t>- Nhận diện tốt các nhóm: </a:t>
            </a:r>
            <a:r>
              <a:rPr lang="en-US" sz="1899">
                <a:solidFill>
                  <a:srgbClr val="FFFFFF"/>
                </a:solidFill>
                <a:latin typeface="Poppins Bold"/>
                <a:ea typeface="Poppins Bold"/>
                <a:cs typeface="Poppins Bold"/>
                <a:sym typeface="Poppins Bold"/>
              </a:rPr>
              <a:t>Normal Weight, Obesity Type I, II,  III</a:t>
            </a:r>
          </a:p>
          <a:p>
            <a:pPr algn="l">
              <a:lnSpc>
                <a:spcPts val="2659"/>
              </a:lnSpc>
              <a:spcBef>
                <a:spcPct val="0"/>
              </a:spcBef>
            </a:pPr>
            <a:r>
              <a:rPr lang="en-US" sz="1899" b="1">
                <a:solidFill>
                  <a:srgbClr val="FFFFFF"/>
                </a:solidFill>
                <a:latin typeface="Poppins Bold"/>
                <a:ea typeface="Poppins Bold"/>
                <a:cs typeface="Poppins Bold"/>
                <a:sym typeface="Poppins Bold"/>
              </a:rPr>
              <a:t>- Vẫn nhầm lẫn nhẹ giữa các  lớp liền kề</a:t>
            </a:r>
          </a:p>
          <a:p>
            <a:pPr algn="l">
              <a:lnSpc>
                <a:spcPts val="2659"/>
              </a:lnSpc>
              <a:spcBef>
                <a:spcPct val="0"/>
              </a:spcBef>
            </a:pPr>
            <a:endParaRPr lang="en-US" sz="1899" b="1">
              <a:solidFill>
                <a:srgbClr val="FFFFFF"/>
              </a:solidFill>
              <a:latin typeface="Poppins Bold"/>
              <a:ea typeface="Poppins Bold"/>
              <a:cs typeface="Poppins Bold"/>
              <a:sym typeface="Poppins Bold"/>
            </a:endParaRPr>
          </a:p>
          <a:p>
            <a:pPr algn="l">
              <a:lnSpc>
                <a:spcPts val="2659"/>
              </a:lnSpc>
              <a:spcBef>
                <a:spcPct val="0"/>
              </a:spcBef>
            </a:pPr>
            <a:r>
              <a:rPr lang="en-US" sz="1899" b="1">
                <a:solidFill>
                  <a:srgbClr val="FFFFFF"/>
                </a:solidFill>
                <a:latin typeface="Poppins Bold"/>
                <a:ea typeface="Poppins Bold"/>
                <a:cs typeface="Poppins Bold"/>
                <a:sym typeface="Poppins Bold"/>
              </a:rPr>
              <a:t>Kết luận</a:t>
            </a:r>
          </a:p>
          <a:p>
            <a:pPr marL="410209" lvl="1" indent="-205105" algn="l">
              <a:lnSpc>
                <a:spcPts val="2659"/>
              </a:lnSpc>
              <a:spcBef>
                <a:spcPct val="0"/>
              </a:spcBef>
              <a:buFont typeface="Arial"/>
              <a:buChar char="•"/>
            </a:pPr>
            <a:r>
              <a:rPr lang="en-US" sz="1899">
                <a:solidFill>
                  <a:srgbClr val="FFFFFF"/>
                </a:solidFill>
                <a:latin typeface="Poppins"/>
                <a:ea typeface="Poppins"/>
                <a:cs typeface="Poppins"/>
                <a:sym typeface="Poppins"/>
              </a:rPr>
              <a:t>Random Forest mô hình hóa tốt các mối quan hệ phi tuyến giữa các yếu tố sức khỏe và mức BMI.</a:t>
            </a:r>
          </a:p>
          <a:p>
            <a:pPr marL="410209" lvl="1" indent="-205105" algn="l">
              <a:lnSpc>
                <a:spcPts val="2659"/>
              </a:lnSpc>
              <a:spcBef>
                <a:spcPct val="0"/>
              </a:spcBef>
              <a:buFont typeface="Arial"/>
              <a:buChar char="•"/>
            </a:pPr>
            <a:r>
              <a:rPr lang="en-US" sz="1899">
                <a:solidFill>
                  <a:srgbClr val="FFFFFF"/>
                </a:solidFill>
                <a:latin typeface="Poppins"/>
                <a:ea typeface="Poppins"/>
                <a:cs typeface="Poppins"/>
                <a:sym typeface="Poppins"/>
              </a:rPr>
              <a:t>Cơ chế kết hợp nhiều cây quyết định (Ensemble Learning) giúp giảm sai số và tăng khả năng tổng quát hóa.</a:t>
            </a:r>
          </a:p>
          <a:p>
            <a:pPr marL="410209" lvl="1" indent="-205105" algn="l">
              <a:lnSpc>
                <a:spcPts val="2659"/>
              </a:lnSpc>
              <a:spcBef>
                <a:spcPct val="0"/>
              </a:spcBef>
              <a:buFont typeface="Arial"/>
              <a:buChar char="•"/>
            </a:pPr>
            <a:r>
              <a:rPr lang="en-US" sz="1899">
                <a:solidFill>
                  <a:srgbClr val="FFFFFF"/>
                </a:solidFill>
                <a:latin typeface="Poppins"/>
                <a:ea typeface="Poppins"/>
                <a:cs typeface="Poppins"/>
                <a:sym typeface="Poppins"/>
              </a:rPr>
              <a:t>Độ chính xác tăng mạnh từ 61.32% lên 89.76%, đồng thời giảm đáng kể sự nhầm lẫn giữa các nhóm BMI liền kề.</a:t>
            </a:r>
          </a:p>
          <a:p>
            <a:pPr algn="l">
              <a:lnSpc>
                <a:spcPts val="2659"/>
              </a:lnSpc>
              <a:spcBef>
                <a:spcPct val="0"/>
              </a:spcBef>
            </a:pPr>
            <a:endParaRPr lang="en-US" sz="1899">
              <a:solidFill>
                <a:srgbClr val="FFFFFF"/>
              </a:solidFill>
              <a:latin typeface="Poppins"/>
              <a:ea typeface="Poppins"/>
              <a:cs typeface="Poppins"/>
              <a:sym typeface="Poppins"/>
            </a:endParaRPr>
          </a:p>
          <a:p>
            <a:pPr algn="l">
              <a:lnSpc>
                <a:spcPts val="2659"/>
              </a:lnSpc>
              <a:spcBef>
                <a:spcPct val="0"/>
              </a:spcBef>
            </a:pPr>
            <a:endParaRPr lang="en-US" sz="1899">
              <a:solidFill>
                <a:srgbClr val="FFFFFF"/>
              </a:solidFill>
              <a:latin typeface="Poppins"/>
              <a:ea typeface="Poppins"/>
              <a:cs typeface="Poppins"/>
              <a:sym typeface="Poppins"/>
            </a:endParaRPr>
          </a:p>
        </p:txBody>
      </p:sp>
      <p:sp>
        <p:nvSpPr>
          <p:cNvPr id="17" name="Slide Number Placeholder 16">
            <a:extLst>
              <a:ext uri="{FF2B5EF4-FFF2-40B4-BE49-F238E27FC236}">
                <a16:creationId xmlns:a16="http://schemas.microsoft.com/office/drawing/2014/main" id="{98987D1F-FA8C-30E6-6C23-92A1CD5AA6CB}"/>
              </a:ext>
            </a:extLst>
          </p:cNvPr>
          <p:cNvSpPr>
            <a:spLocks noGrp="1"/>
          </p:cNvSpPr>
          <p:nvPr>
            <p:ph type="sldNum" sz="quarter" idx="12"/>
          </p:nvPr>
        </p:nvSpPr>
        <p:spPr/>
        <p:txBody>
          <a:bodyPr/>
          <a:lstStyle/>
          <a:p>
            <a:fld id="{B6F15528-21DE-4FAA-801E-634DDDAF4B2B}" type="slidenum">
              <a:rPr lang="en-US" smtClean="0"/>
              <a:pPr/>
              <a:t>16</a:t>
            </a:fld>
            <a:endParaRPr lang="en-US"/>
          </a:p>
        </p:txBody>
      </p:sp>
    </p:spTree>
  </p:cSld>
  <p:clrMapOvr>
    <a:masterClrMapping/>
  </p:clrMapOvr>
  <p:transition spd="med">
    <p:pull/>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2"/>
          <p:cNvGrpSpPr/>
          <p:nvPr/>
        </p:nvGrpSpPr>
        <p:grpSpPr>
          <a:xfrm>
            <a:off x="0" y="0"/>
            <a:ext cx="19326476" cy="17056816"/>
            <a:chOff x="0" y="0"/>
            <a:chExt cx="5274533" cy="4655103"/>
          </a:xfrm>
        </p:grpSpPr>
        <p:sp>
          <p:nvSpPr>
            <p:cNvPr id="3" name="Freeform 3"/>
            <p:cNvSpPr/>
            <p:nvPr/>
          </p:nvSpPr>
          <p:spPr>
            <a:xfrm>
              <a:off x="0" y="0"/>
              <a:ext cx="5274533" cy="4655103"/>
            </a:xfrm>
            <a:custGeom>
              <a:avLst/>
              <a:gdLst/>
              <a:ahLst/>
              <a:cxnLst/>
              <a:rect l="l" t="t" r="r" b="b"/>
              <a:pathLst>
                <a:path w="5274533" h="4655103">
                  <a:moveTo>
                    <a:pt x="0" y="0"/>
                  </a:moveTo>
                  <a:lnTo>
                    <a:pt x="5274533" y="0"/>
                  </a:lnTo>
                  <a:lnTo>
                    <a:pt x="5274533" y="4655103"/>
                  </a:lnTo>
                  <a:lnTo>
                    <a:pt x="0" y="4655103"/>
                  </a:lnTo>
                  <a:close/>
                </a:path>
              </a:pathLst>
            </a:custGeom>
            <a:gradFill rotWithShape="1">
              <a:gsLst>
                <a:gs pos="0">
                  <a:srgbClr val="398DFA">
                    <a:alpha val="100000"/>
                  </a:srgbClr>
                </a:gs>
                <a:gs pos="50000">
                  <a:srgbClr val="0151B8">
                    <a:alpha val="24000"/>
                  </a:srgbClr>
                </a:gs>
                <a:gs pos="100000">
                  <a:srgbClr val="0151B8">
                    <a:alpha val="0"/>
                  </a:srgbClr>
                </a:gs>
              </a:gsLst>
              <a:lin ang="5400000"/>
            </a:gradFill>
          </p:spPr>
          <p:txBody>
            <a:bodyPr/>
            <a:lstStyle/>
            <a:p>
              <a:endParaRPr lang="en-US"/>
            </a:p>
          </p:txBody>
        </p:sp>
        <p:sp>
          <p:nvSpPr>
            <p:cNvPr id="4" name="TextBox 4"/>
            <p:cNvSpPr txBox="1"/>
            <p:nvPr/>
          </p:nvSpPr>
          <p:spPr>
            <a:xfrm>
              <a:off x="0" y="-57150"/>
              <a:ext cx="5274533" cy="4712253"/>
            </a:xfrm>
            <a:prstGeom prst="rect">
              <a:avLst/>
            </a:prstGeom>
          </p:spPr>
          <p:txBody>
            <a:bodyPr lIns="50800" tIns="50800" rIns="50800" bIns="50800" rtlCol="0" anchor="ctr"/>
            <a:lstStyle/>
            <a:p>
              <a:pPr algn="ctr">
                <a:lnSpc>
                  <a:spcPts val="2735"/>
                </a:lnSpc>
              </a:pPr>
              <a:endParaRPr/>
            </a:p>
          </p:txBody>
        </p:sp>
      </p:grpSp>
      <p:grpSp>
        <p:nvGrpSpPr>
          <p:cNvPr id="5" name="Group 5"/>
          <p:cNvGrpSpPr/>
          <p:nvPr/>
        </p:nvGrpSpPr>
        <p:grpSpPr>
          <a:xfrm>
            <a:off x="4205287" y="0"/>
            <a:ext cx="9402739" cy="3037529"/>
            <a:chOff x="0" y="0"/>
            <a:chExt cx="13169900" cy="4254500"/>
          </a:xfrm>
        </p:grpSpPr>
        <p:sp>
          <p:nvSpPr>
            <p:cNvPr id="6" name="Freeform 6"/>
            <p:cNvSpPr/>
            <p:nvPr/>
          </p:nvSpPr>
          <p:spPr>
            <a:xfrm>
              <a:off x="0" y="0"/>
              <a:ext cx="13169900" cy="4254500"/>
            </a:xfrm>
            <a:custGeom>
              <a:avLst/>
              <a:gdLst/>
              <a:ahLst/>
              <a:cxnLst/>
              <a:rect l="l" t="t" r="r" b="b"/>
              <a:pathLst>
                <a:path w="13169900" h="4254500">
                  <a:moveTo>
                    <a:pt x="425450" y="0"/>
                  </a:moveTo>
                  <a:lnTo>
                    <a:pt x="12744450" y="0"/>
                  </a:lnTo>
                  <a:cubicBezTo>
                    <a:pt x="12979419" y="0"/>
                    <a:pt x="13169900" y="190480"/>
                    <a:pt x="13169900" y="425450"/>
                  </a:cubicBezTo>
                  <a:lnTo>
                    <a:pt x="13169900" y="3829050"/>
                  </a:lnTo>
                  <a:cubicBezTo>
                    <a:pt x="13169900" y="4064019"/>
                    <a:pt x="12979419" y="4254500"/>
                    <a:pt x="12744450" y="4254500"/>
                  </a:cubicBezTo>
                  <a:lnTo>
                    <a:pt x="425450" y="4254500"/>
                  </a:lnTo>
                  <a:cubicBezTo>
                    <a:pt x="190480" y="4254500"/>
                    <a:pt x="0" y="4064019"/>
                    <a:pt x="0" y="3829050"/>
                  </a:cubicBezTo>
                  <a:lnTo>
                    <a:pt x="0" y="425450"/>
                  </a:lnTo>
                  <a:cubicBezTo>
                    <a:pt x="0" y="190480"/>
                    <a:pt x="190480" y="0"/>
                    <a:pt x="425450" y="0"/>
                  </a:cubicBezTo>
                  <a:close/>
                </a:path>
              </a:pathLst>
            </a:custGeom>
            <a:gradFill rotWithShape="1">
              <a:gsLst>
                <a:gs pos="0">
                  <a:srgbClr val="7BB8FF">
                    <a:alpha val="100000"/>
                  </a:srgbClr>
                </a:gs>
                <a:gs pos="100000">
                  <a:srgbClr val="4A9AF5">
                    <a:alpha val="100000"/>
                  </a:srgbClr>
                </a:gs>
              </a:gsLst>
              <a:lin ang="5400000"/>
            </a:gradFill>
          </p:spPr>
          <p:txBody>
            <a:bodyPr/>
            <a:lstStyle/>
            <a:p>
              <a:endParaRPr lang="en-US"/>
            </a:p>
          </p:txBody>
        </p:sp>
        <p:sp>
          <p:nvSpPr>
            <p:cNvPr id="7" name="TextBox 7"/>
            <p:cNvSpPr txBox="1"/>
            <p:nvPr/>
          </p:nvSpPr>
          <p:spPr>
            <a:xfrm>
              <a:off x="0" y="-57150"/>
              <a:ext cx="13169900" cy="4311650"/>
            </a:xfrm>
            <a:prstGeom prst="rect">
              <a:avLst/>
            </a:prstGeom>
          </p:spPr>
          <p:txBody>
            <a:bodyPr lIns="50800" tIns="50800" rIns="50800" bIns="50800" rtlCol="0" anchor="ctr"/>
            <a:lstStyle/>
            <a:p>
              <a:pPr marL="0" lvl="0" indent="0" algn="ctr">
                <a:lnSpc>
                  <a:spcPts val="2659"/>
                </a:lnSpc>
                <a:spcBef>
                  <a:spcPct val="0"/>
                </a:spcBef>
              </a:pPr>
              <a:r>
                <a:rPr lang="en-US" sz="1899" u="none" strike="noStrike">
                  <a:solidFill>
                    <a:srgbClr val="FFFFFF"/>
                  </a:solidFill>
                  <a:latin typeface="Poppins"/>
                  <a:ea typeface="Poppins"/>
                  <a:cs typeface="Poppins"/>
                  <a:sym typeface="Poppins"/>
                </a:rPr>
                <a:t>⭐ Random Forest (Mô hình được lựa chọn)</a:t>
              </a:r>
            </a:p>
            <a:p>
              <a:pPr marL="0" lvl="0" indent="0" algn="ctr">
                <a:lnSpc>
                  <a:spcPts val="2659"/>
                </a:lnSpc>
                <a:spcBef>
                  <a:spcPct val="0"/>
                </a:spcBef>
              </a:pPr>
              <a:endParaRPr lang="en-US" sz="1899" u="none" strike="noStrike">
                <a:solidFill>
                  <a:srgbClr val="FFFFFF"/>
                </a:solidFill>
                <a:latin typeface="Poppins"/>
                <a:ea typeface="Poppins"/>
                <a:cs typeface="Poppins"/>
                <a:sym typeface="Poppins"/>
              </a:endParaRPr>
            </a:p>
            <a:p>
              <a:pPr marL="0" lvl="0" indent="0" algn="ctr">
                <a:lnSpc>
                  <a:spcPts val="2659"/>
                </a:lnSpc>
                <a:spcBef>
                  <a:spcPct val="0"/>
                </a:spcBef>
              </a:pPr>
              <a:r>
                <a:rPr lang="en-US" sz="1899" u="none" strike="noStrike">
                  <a:solidFill>
                    <a:srgbClr val="FFFFFF"/>
                  </a:solidFill>
                  <a:latin typeface="Poppins"/>
                  <a:ea typeface="Poppins"/>
                  <a:cs typeface="Poppins"/>
                  <a:sym typeface="Poppins"/>
                </a:rPr>
                <a:t>ACCURACY 89.76%</a:t>
              </a:r>
            </a:p>
            <a:p>
              <a:pPr marL="0" lvl="0" indent="0" algn="ctr">
                <a:lnSpc>
                  <a:spcPts val="2659"/>
                </a:lnSpc>
                <a:spcBef>
                  <a:spcPct val="0"/>
                </a:spcBef>
              </a:pPr>
              <a:r>
                <a:rPr lang="en-US" sz="1899" u="none" strike="noStrike">
                  <a:solidFill>
                    <a:srgbClr val="FFFFFF"/>
                  </a:solidFill>
                  <a:latin typeface="Poppins"/>
                  <a:ea typeface="Poppins"/>
                  <a:cs typeface="Poppins"/>
                  <a:sym typeface="Poppins"/>
                </a:rPr>
                <a:t>Precision, Recall và F1-score cao trên hầu hết các lớp BMI.</a:t>
              </a:r>
            </a:p>
            <a:p>
              <a:pPr marL="0" lvl="0" indent="0" algn="ctr">
                <a:lnSpc>
                  <a:spcPts val="2659"/>
                </a:lnSpc>
                <a:spcBef>
                  <a:spcPct val="0"/>
                </a:spcBef>
              </a:pPr>
              <a:r>
                <a:rPr lang="en-US" sz="1899" u="none" strike="noStrike">
                  <a:solidFill>
                    <a:srgbClr val="FFFFFF"/>
                  </a:solidFill>
                  <a:latin typeface="Poppins"/>
                  <a:ea typeface="Poppins"/>
                  <a:cs typeface="Poppins"/>
                  <a:sym typeface="Poppins"/>
                </a:rPr>
                <a:t>Giảm đáng kể nhầm lẫn giữa các nhóm BMI liền kề.</a:t>
              </a:r>
            </a:p>
            <a:p>
              <a:pPr marL="0" lvl="0" indent="0" algn="ctr">
                <a:lnSpc>
                  <a:spcPts val="2659"/>
                </a:lnSpc>
                <a:spcBef>
                  <a:spcPct val="0"/>
                </a:spcBef>
              </a:pPr>
              <a:r>
                <a:rPr lang="en-US" sz="1899" u="none" strike="noStrike">
                  <a:solidFill>
                    <a:srgbClr val="FFFFFF"/>
                  </a:solidFill>
                  <a:latin typeface="Poppins"/>
                  <a:ea typeface="Poppins"/>
                  <a:cs typeface="Poppins"/>
                  <a:sym typeface="Poppins"/>
                </a:rPr>
                <a:t>Mô hình hóa tốt mối quan hệ phi tuyến giữa các yếu tố sức khỏe và mức BMI.</a:t>
              </a:r>
            </a:p>
          </p:txBody>
        </p:sp>
      </p:grpSp>
      <p:sp>
        <p:nvSpPr>
          <p:cNvPr id="8" name="Freeform 8"/>
          <p:cNvSpPr/>
          <p:nvPr/>
        </p:nvSpPr>
        <p:spPr>
          <a:xfrm>
            <a:off x="0" y="6862246"/>
            <a:ext cx="18288000" cy="3332323"/>
          </a:xfrm>
          <a:custGeom>
            <a:avLst/>
            <a:gdLst/>
            <a:ahLst/>
            <a:cxnLst/>
            <a:rect l="l" t="t" r="r" b="b"/>
            <a:pathLst>
              <a:path w="18288000" h="3332323">
                <a:moveTo>
                  <a:pt x="0" y="0"/>
                </a:moveTo>
                <a:lnTo>
                  <a:pt x="18288000" y="0"/>
                </a:lnTo>
                <a:lnTo>
                  <a:pt x="18288000" y="3332324"/>
                </a:lnTo>
                <a:lnTo>
                  <a:pt x="0" y="3332324"/>
                </a:lnTo>
                <a:lnTo>
                  <a:pt x="0" y="0"/>
                </a:lnTo>
                <a:close/>
              </a:path>
            </a:pathLst>
          </a:custGeom>
          <a:blipFill>
            <a:blip r:embed="rId3"/>
            <a:stretch>
              <a:fillRect l="-1229"/>
            </a:stretch>
          </a:blipFill>
        </p:spPr>
        <p:txBody>
          <a:bodyPr/>
          <a:lstStyle/>
          <a:p>
            <a:endParaRPr lang="en-US"/>
          </a:p>
        </p:txBody>
      </p:sp>
      <p:grpSp>
        <p:nvGrpSpPr>
          <p:cNvPr id="9" name="Group 9"/>
          <p:cNvGrpSpPr/>
          <p:nvPr/>
        </p:nvGrpSpPr>
        <p:grpSpPr>
          <a:xfrm>
            <a:off x="400050" y="3037529"/>
            <a:ext cx="17115980" cy="1066800"/>
            <a:chOff x="0" y="0"/>
            <a:chExt cx="24368107" cy="1101933"/>
          </a:xfrm>
        </p:grpSpPr>
        <p:sp>
          <p:nvSpPr>
            <p:cNvPr id="10" name="Freeform 10"/>
            <p:cNvSpPr/>
            <p:nvPr/>
          </p:nvSpPr>
          <p:spPr>
            <a:xfrm>
              <a:off x="0" y="0"/>
              <a:ext cx="24368106" cy="1101933"/>
            </a:xfrm>
            <a:custGeom>
              <a:avLst/>
              <a:gdLst/>
              <a:ahLst/>
              <a:cxnLst/>
              <a:rect l="l" t="t" r="r" b="b"/>
              <a:pathLst>
                <a:path w="24368106" h="1101933">
                  <a:moveTo>
                    <a:pt x="232686" y="0"/>
                  </a:moveTo>
                  <a:lnTo>
                    <a:pt x="24135421" y="0"/>
                  </a:lnTo>
                  <a:cubicBezTo>
                    <a:pt x="24263930" y="0"/>
                    <a:pt x="24368106" y="49335"/>
                    <a:pt x="24368106" y="110193"/>
                  </a:cubicBezTo>
                  <a:lnTo>
                    <a:pt x="24368106" y="991739"/>
                  </a:lnTo>
                  <a:cubicBezTo>
                    <a:pt x="24368106" y="1052597"/>
                    <a:pt x="24263930" y="1101933"/>
                    <a:pt x="24135421" y="1101933"/>
                  </a:cubicBezTo>
                  <a:lnTo>
                    <a:pt x="232686" y="1101933"/>
                  </a:lnTo>
                  <a:cubicBezTo>
                    <a:pt x="104177" y="1101933"/>
                    <a:pt x="0" y="1052598"/>
                    <a:pt x="0" y="991739"/>
                  </a:cubicBezTo>
                  <a:lnTo>
                    <a:pt x="0" y="110193"/>
                  </a:lnTo>
                  <a:cubicBezTo>
                    <a:pt x="0" y="49335"/>
                    <a:pt x="104177" y="0"/>
                    <a:pt x="232686" y="0"/>
                  </a:cubicBezTo>
                  <a:close/>
                </a:path>
              </a:pathLst>
            </a:custGeom>
            <a:gradFill rotWithShape="1">
              <a:gsLst>
                <a:gs pos="0">
                  <a:srgbClr val="A0D0FF">
                    <a:alpha val="100000"/>
                  </a:srgbClr>
                </a:gs>
                <a:gs pos="100000">
                  <a:srgbClr val="6DB8FF">
                    <a:alpha val="100000"/>
                  </a:srgbClr>
                </a:gs>
              </a:gsLst>
              <a:lin ang="5400000"/>
            </a:gradFill>
          </p:spPr>
          <p:txBody>
            <a:bodyPr/>
            <a:lstStyle/>
            <a:p>
              <a:endParaRPr lang="en-US"/>
            </a:p>
          </p:txBody>
        </p:sp>
      </p:grpSp>
      <p:sp>
        <p:nvSpPr>
          <p:cNvPr id="11" name="TextBox 11"/>
          <p:cNvSpPr txBox="1"/>
          <p:nvPr/>
        </p:nvSpPr>
        <p:spPr>
          <a:xfrm>
            <a:off x="543176" y="3101624"/>
            <a:ext cx="16972854" cy="854435"/>
          </a:xfrm>
          <a:prstGeom prst="rect">
            <a:avLst/>
          </a:prstGeom>
        </p:spPr>
        <p:txBody>
          <a:bodyPr lIns="0" tIns="0" rIns="0" bIns="0" rtlCol="0" anchor="t">
            <a:spAutoFit/>
          </a:bodyPr>
          <a:lstStyle/>
          <a:p>
            <a:pPr marL="0" lvl="0" indent="0" algn="l">
              <a:lnSpc>
                <a:spcPts val="3305"/>
              </a:lnSpc>
              <a:spcBef>
                <a:spcPct val="0"/>
              </a:spcBef>
            </a:pPr>
            <a:r>
              <a:rPr lang="en-US" sz="2360" u="none" strike="noStrike">
                <a:solidFill>
                  <a:srgbClr val="FFFFFF"/>
                </a:solidFill>
                <a:latin typeface="Poppins"/>
                <a:ea typeface="Poppins"/>
                <a:cs typeface="Poppins"/>
                <a:sym typeface="Poppins"/>
              </a:rPr>
              <a:t>Đánh giá các yếu tố quyết định: Phân tích từ mô hình cho thấy Tiền sử gia đình (Family History), Tuổi tác (Age), và Tần suất ăn đồ chứa nhiều calo (FAVC),vân động(FAF) là 3 yếu tố hàng đầu chi phối mức độ béo phì.</a:t>
            </a:r>
          </a:p>
        </p:txBody>
      </p:sp>
      <p:grpSp>
        <p:nvGrpSpPr>
          <p:cNvPr id="12" name="Group 12"/>
          <p:cNvGrpSpPr/>
          <p:nvPr/>
        </p:nvGrpSpPr>
        <p:grpSpPr>
          <a:xfrm>
            <a:off x="352425" y="4572550"/>
            <a:ext cx="17392650" cy="2298920"/>
            <a:chOff x="0" y="0"/>
            <a:chExt cx="23444200" cy="3098800"/>
          </a:xfrm>
        </p:grpSpPr>
        <p:sp>
          <p:nvSpPr>
            <p:cNvPr id="13" name="Freeform 13"/>
            <p:cNvSpPr/>
            <p:nvPr/>
          </p:nvSpPr>
          <p:spPr>
            <a:xfrm>
              <a:off x="0" y="0"/>
              <a:ext cx="23444200" cy="3098800"/>
            </a:xfrm>
            <a:custGeom>
              <a:avLst/>
              <a:gdLst/>
              <a:ahLst/>
              <a:cxnLst/>
              <a:rect l="l" t="t" r="r" b="b"/>
              <a:pathLst>
                <a:path w="23444200" h="3098800">
                  <a:moveTo>
                    <a:pt x="255755" y="0"/>
                  </a:moveTo>
                  <a:lnTo>
                    <a:pt x="23188445" y="0"/>
                  </a:lnTo>
                  <a:cubicBezTo>
                    <a:pt x="23329695" y="0"/>
                    <a:pt x="23444200" y="138738"/>
                    <a:pt x="23444200" y="309880"/>
                  </a:cubicBezTo>
                  <a:lnTo>
                    <a:pt x="23444200" y="2788920"/>
                  </a:lnTo>
                  <a:cubicBezTo>
                    <a:pt x="23444200" y="2960062"/>
                    <a:pt x="23329695" y="3098800"/>
                    <a:pt x="23188445" y="3098800"/>
                  </a:cubicBezTo>
                  <a:lnTo>
                    <a:pt x="255755" y="3098800"/>
                  </a:lnTo>
                  <a:cubicBezTo>
                    <a:pt x="187924" y="3098800"/>
                    <a:pt x="122872" y="3066152"/>
                    <a:pt x="74909" y="3008038"/>
                  </a:cubicBezTo>
                  <a:cubicBezTo>
                    <a:pt x="26946" y="2949924"/>
                    <a:pt x="0" y="2871105"/>
                    <a:pt x="0" y="2788920"/>
                  </a:cubicBezTo>
                  <a:lnTo>
                    <a:pt x="0" y="309880"/>
                  </a:lnTo>
                  <a:cubicBezTo>
                    <a:pt x="0" y="138738"/>
                    <a:pt x="114505" y="0"/>
                    <a:pt x="255755" y="0"/>
                  </a:cubicBezTo>
                  <a:close/>
                </a:path>
              </a:pathLst>
            </a:custGeom>
            <a:gradFill rotWithShape="1">
              <a:gsLst>
                <a:gs pos="0">
                  <a:srgbClr val="A0D0FF">
                    <a:alpha val="100000"/>
                  </a:srgbClr>
                </a:gs>
                <a:gs pos="100000">
                  <a:srgbClr val="6DB8FF">
                    <a:alpha val="100000"/>
                  </a:srgbClr>
                </a:gs>
              </a:gsLst>
              <a:lin ang="5400000"/>
            </a:gradFill>
          </p:spPr>
          <p:txBody>
            <a:bodyPr/>
            <a:lstStyle/>
            <a:p>
              <a:endParaRPr lang="en-US"/>
            </a:p>
          </p:txBody>
        </p:sp>
      </p:grpSp>
      <p:sp>
        <p:nvSpPr>
          <p:cNvPr id="14" name="TextBox 14"/>
          <p:cNvSpPr txBox="1"/>
          <p:nvPr/>
        </p:nvSpPr>
        <p:spPr>
          <a:xfrm>
            <a:off x="542925" y="4785107"/>
            <a:ext cx="17202150" cy="1682283"/>
          </a:xfrm>
          <a:prstGeom prst="rect">
            <a:avLst/>
          </a:prstGeom>
        </p:spPr>
        <p:txBody>
          <a:bodyPr lIns="0" tIns="0" rIns="0" bIns="0" rtlCol="0" anchor="t">
            <a:spAutoFit/>
          </a:bodyPr>
          <a:lstStyle/>
          <a:p>
            <a:pPr marL="0" lvl="0" indent="0" algn="l">
              <a:lnSpc>
                <a:spcPts val="3350"/>
              </a:lnSpc>
              <a:spcBef>
                <a:spcPct val="0"/>
              </a:spcBef>
            </a:pPr>
            <a:r>
              <a:rPr lang="en-US" sz="2393" u="none" strike="noStrike">
                <a:solidFill>
                  <a:srgbClr val="FFFFFF"/>
                </a:solidFill>
                <a:latin typeface="Poppins"/>
                <a:ea typeface="Poppins"/>
                <a:cs typeface="Poppins"/>
                <a:sym typeface="Poppins"/>
              </a:rPr>
              <a:t>Tiềm năng dự đoán &amp; Thực tiễn (Kaggle Benchmark): Kết quả Accuracy 90% của nhóm đạt mức tiệm cận với các giải pháp tối ưu trên nền tảng Kaggle. điều này chứng tỏ mô hình Random Forest này hoàn toàn đủ độ tin cậy để ứng dụng vào việc dự đoán mức độ béo phì và vẫn có thể cải tiến random forset:Feature Engineering để tạo thêm đặc trưng mới từ dữ liệu gốc hoặc Grid Search để tạo siêu tham số (Hyperparameters)</a:t>
            </a:r>
          </a:p>
        </p:txBody>
      </p:sp>
      <p:sp>
        <p:nvSpPr>
          <p:cNvPr id="16" name="Slide Number Placeholder 15">
            <a:extLst>
              <a:ext uri="{FF2B5EF4-FFF2-40B4-BE49-F238E27FC236}">
                <a16:creationId xmlns:a16="http://schemas.microsoft.com/office/drawing/2014/main" id="{C1FA373F-6489-1829-82C3-3AFF954F5153}"/>
              </a:ext>
            </a:extLst>
          </p:cNvPr>
          <p:cNvSpPr>
            <a:spLocks noGrp="1"/>
          </p:cNvSpPr>
          <p:nvPr>
            <p:ph type="sldNum" sz="quarter" idx="12"/>
          </p:nvPr>
        </p:nvSpPr>
        <p:spPr/>
        <p:txBody>
          <a:bodyPr/>
          <a:lstStyle/>
          <a:p>
            <a:fld id="{B6F15528-21DE-4FAA-801E-634DDDAF4B2B}" type="slidenum">
              <a:rPr lang="en-US" smtClean="0"/>
              <a:pPr/>
              <a:t>17</a:t>
            </a:fld>
            <a:endParaRPr lang="en-US"/>
          </a:p>
        </p:txBody>
      </p:sp>
    </p:spTree>
  </p:cSld>
  <p:clrMapOvr>
    <a:masterClrMapping/>
  </p:clrMapOvr>
  <p:transition spd="med">
    <p:pull/>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2"/>
          <p:cNvSpPr txBox="1"/>
          <p:nvPr/>
        </p:nvSpPr>
        <p:spPr>
          <a:xfrm>
            <a:off x="3897350" y="4425227"/>
            <a:ext cx="10493300" cy="1535130"/>
          </a:xfrm>
          <a:prstGeom prst="rect">
            <a:avLst/>
          </a:prstGeom>
        </p:spPr>
        <p:txBody>
          <a:bodyPr lIns="0" tIns="0" rIns="0" bIns="0" rtlCol="0" anchor="t">
            <a:spAutoFit/>
          </a:bodyPr>
          <a:lstStyle/>
          <a:p>
            <a:pPr algn="ctr">
              <a:lnSpc>
                <a:spcPts val="11775"/>
              </a:lnSpc>
            </a:pPr>
            <a:r>
              <a:rPr lang="en-US" sz="10803" b="1">
                <a:solidFill>
                  <a:srgbClr val="000000"/>
                </a:solidFill>
                <a:latin typeface="Aileron Bold"/>
                <a:ea typeface="Aileron Bold"/>
                <a:cs typeface="Aileron Bold"/>
                <a:sym typeface="Aileron Bold"/>
              </a:rPr>
              <a:t>Thank You</a:t>
            </a:r>
          </a:p>
        </p:txBody>
      </p:sp>
      <p:grpSp>
        <p:nvGrpSpPr>
          <p:cNvPr id="3" name="Group 3"/>
          <p:cNvGrpSpPr/>
          <p:nvPr/>
        </p:nvGrpSpPr>
        <p:grpSpPr>
          <a:xfrm>
            <a:off x="4623159" y="6141835"/>
            <a:ext cx="8795598" cy="812910"/>
            <a:chOff x="0" y="0"/>
            <a:chExt cx="2108811" cy="194901"/>
          </a:xfrm>
        </p:grpSpPr>
        <p:sp>
          <p:nvSpPr>
            <p:cNvPr id="4" name="Freeform 4"/>
            <p:cNvSpPr/>
            <p:nvPr/>
          </p:nvSpPr>
          <p:spPr>
            <a:xfrm>
              <a:off x="0" y="0"/>
              <a:ext cx="2108811" cy="194901"/>
            </a:xfrm>
            <a:custGeom>
              <a:avLst/>
              <a:gdLst/>
              <a:ahLst/>
              <a:cxnLst/>
              <a:rect l="l" t="t" r="r" b="b"/>
              <a:pathLst>
                <a:path w="2108811" h="194901">
                  <a:moveTo>
                    <a:pt x="88020" y="0"/>
                  </a:moveTo>
                  <a:lnTo>
                    <a:pt x="2020791" y="0"/>
                  </a:lnTo>
                  <a:cubicBezTo>
                    <a:pt x="2069403" y="0"/>
                    <a:pt x="2108811" y="39408"/>
                    <a:pt x="2108811" y="88020"/>
                  </a:cubicBezTo>
                  <a:lnTo>
                    <a:pt x="2108811" y="106881"/>
                  </a:lnTo>
                  <a:cubicBezTo>
                    <a:pt x="2108811" y="155493"/>
                    <a:pt x="2069403" y="194901"/>
                    <a:pt x="2020791" y="194901"/>
                  </a:cubicBezTo>
                  <a:lnTo>
                    <a:pt x="88020" y="194901"/>
                  </a:lnTo>
                  <a:cubicBezTo>
                    <a:pt x="39408" y="194901"/>
                    <a:pt x="0" y="155493"/>
                    <a:pt x="0" y="106881"/>
                  </a:cubicBezTo>
                  <a:lnTo>
                    <a:pt x="0" y="88020"/>
                  </a:lnTo>
                  <a:cubicBezTo>
                    <a:pt x="0" y="39408"/>
                    <a:pt x="39408" y="0"/>
                    <a:pt x="88020" y="0"/>
                  </a:cubicBezTo>
                  <a:close/>
                </a:path>
              </a:pathLst>
            </a:custGeom>
            <a:gradFill rotWithShape="1">
              <a:gsLst>
                <a:gs pos="0">
                  <a:srgbClr val="398DFA">
                    <a:alpha val="60000"/>
                  </a:srgbClr>
                </a:gs>
                <a:gs pos="50000">
                  <a:srgbClr val="0151B8">
                    <a:alpha val="14400"/>
                  </a:srgbClr>
                </a:gs>
                <a:gs pos="100000">
                  <a:srgbClr val="0151B8">
                    <a:alpha val="0"/>
                  </a:srgbClr>
                </a:gs>
              </a:gsLst>
              <a:lin ang="0"/>
            </a:gradFill>
          </p:spPr>
          <p:txBody>
            <a:bodyPr/>
            <a:lstStyle/>
            <a:p>
              <a:endParaRPr lang="en-US"/>
            </a:p>
          </p:txBody>
        </p:sp>
        <p:sp>
          <p:nvSpPr>
            <p:cNvPr id="5" name="TextBox 5"/>
            <p:cNvSpPr txBox="1"/>
            <p:nvPr/>
          </p:nvSpPr>
          <p:spPr>
            <a:xfrm>
              <a:off x="0" y="-38100"/>
              <a:ext cx="2108811" cy="233001"/>
            </a:xfrm>
            <a:prstGeom prst="rect">
              <a:avLst/>
            </a:prstGeom>
          </p:spPr>
          <p:txBody>
            <a:bodyPr lIns="50800" tIns="50800" rIns="50800" bIns="50800" rtlCol="0" anchor="ctr"/>
            <a:lstStyle/>
            <a:p>
              <a:pPr algn="ctr">
                <a:lnSpc>
                  <a:spcPts val="2659"/>
                </a:lnSpc>
                <a:spcBef>
                  <a:spcPct val="0"/>
                </a:spcBef>
              </a:pPr>
              <a:endParaRPr/>
            </a:p>
          </p:txBody>
        </p:sp>
      </p:grpSp>
      <p:sp>
        <p:nvSpPr>
          <p:cNvPr id="6" name="TextBox 6"/>
          <p:cNvSpPr txBox="1"/>
          <p:nvPr/>
        </p:nvSpPr>
        <p:spPr>
          <a:xfrm>
            <a:off x="4419755" y="6188560"/>
            <a:ext cx="9448490" cy="614684"/>
          </a:xfrm>
          <a:prstGeom prst="rect">
            <a:avLst/>
          </a:prstGeom>
        </p:spPr>
        <p:txBody>
          <a:bodyPr lIns="0" tIns="0" rIns="0" bIns="0" rtlCol="0" anchor="t">
            <a:spAutoFit/>
          </a:bodyPr>
          <a:lstStyle/>
          <a:p>
            <a:pPr algn="ctr">
              <a:lnSpc>
                <a:spcPts val="4767"/>
              </a:lnSpc>
              <a:spcBef>
                <a:spcPct val="0"/>
              </a:spcBef>
            </a:pPr>
            <a:r>
              <a:rPr lang="en-US" sz="3405">
                <a:solidFill>
                  <a:srgbClr val="000000"/>
                </a:solidFill>
                <a:latin typeface="Poppins"/>
                <a:ea typeface="Poppins"/>
                <a:cs typeface="Poppins"/>
                <a:sym typeface="Poppins"/>
              </a:rPr>
              <a:t>For your attention to this presentation.</a:t>
            </a:r>
          </a:p>
        </p:txBody>
      </p:sp>
      <p:grpSp>
        <p:nvGrpSpPr>
          <p:cNvPr id="7" name="Group 7"/>
          <p:cNvGrpSpPr/>
          <p:nvPr/>
        </p:nvGrpSpPr>
        <p:grpSpPr>
          <a:xfrm rot="9689905">
            <a:off x="15694893" y="2874706"/>
            <a:ext cx="5289783" cy="5289783"/>
            <a:chOff x="0" y="0"/>
            <a:chExt cx="812800" cy="812800"/>
          </a:xfrm>
        </p:grpSpPr>
        <p:sp>
          <p:nvSpPr>
            <p:cNvPr id="8" name="Freeform 8"/>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151B8">
                    <a:alpha val="100000"/>
                  </a:srgbClr>
                </a:gs>
                <a:gs pos="50000">
                  <a:srgbClr val="0151B8">
                    <a:alpha val="24000"/>
                  </a:srgbClr>
                </a:gs>
                <a:gs pos="100000">
                  <a:srgbClr val="0151B8">
                    <a:alpha val="0"/>
                  </a:srgbClr>
                </a:gs>
              </a:gsLst>
              <a:lin ang="0"/>
            </a:gradFill>
            <a:ln cap="sq">
              <a:noFill/>
              <a:prstDash val="solid"/>
              <a:miter/>
            </a:ln>
          </p:spPr>
          <p:txBody>
            <a:bodyPr/>
            <a:lstStyle/>
            <a:p>
              <a:endParaRPr lang="en-US"/>
            </a:p>
          </p:txBody>
        </p:sp>
        <p:sp>
          <p:nvSpPr>
            <p:cNvPr id="9" name="TextBox 9"/>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0" name="Group 10"/>
          <p:cNvGrpSpPr/>
          <p:nvPr/>
        </p:nvGrpSpPr>
        <p:grpSpPr>
          <a:xfrm rot="1587174">
            <a:off x="-2587967" y="1580050"/>
            <a:ext cx="5289783" cy="5289783"/>
            <a:chOff x="0" y="0"/>
            <a:chExt cx="812800" cy="812800"/>
          </a:xfrm>
        </p:grpSpPr>
        <p:sp>
          <p:nvSpPr>
            <p:cNvPr id="11" name="Freeform 11"/>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151B8">
                    <a:alpha val="100000"/>
                  </a:srgbClr>
                </a:gs>
                <a:gs pos="50000">
                  <a:srgbClr val="0151B8">
                    <a:alpha val="24000"/>
                  </a:srgbClr>
                </a:gs>
                <a:gs pos="100000">
                  <a:srgbClr val="0151B8">
                    <a:alpha val="0"/>
                  </a:srgbClr>
                </a:gs>
              </a:gsLst>
              <a:lin ang="0"/>
            </a:gradFill>
            <a:ln cap="sq">
              <a:noFill/>
              <a:prstDash val="solid"/>
              <a:miter/>
            </a:ln>
          </p:spPr>
          <p:txBody>
            <a:bodyPr/>
            <a:lstStyle/>
            <a:p>
              <a:endParaRPr lang="en-US"/>
            </a:p>
          </p:txBody>
        </p:sp>
        <p:sp>
          <p:nvSpPr>
            <p:cNvPr id="12" name="TextBox 12"/>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3" name="Group 13"/>
          <p:cNvGrpSpPr/>
          <p:nvPr/>
        </p:nvGrpSpPr>
        <p:grpSpPr>
          <a:xfrm>
            <a:off x="16100875" y="259167"/>
            <a:ext cx="1384678" cy="1384678"/>
            <a:chOff x="0" y="0"/>
            <a:chExt cx="812800" cy="812800"/>
          </a:xfrm>
        </p:grpSpPr>
        <p:sp>
          <p:nvSpPr>
            <p:cNvPr id="14" name="Freeform 14"/>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151B8">
                    <a:alpha val="100000"/>
                  </a:srgbClr>
                </a:gs>
                <a:gs pos="100000">
                  <a:srgbClr val="0151B8">
                    <a:alpha val="24000"/>
                  </a:srgbClr>
                </a:gs>
              </a:gsLst>
              <a:lin ang="0"/>
            </a:gradFill>
            <a:ln cap="sq">
              <a:noFill/>
              <a:prstDash val="solid"/>
              <a:miter/>
            </a:ln>
          </p:spPr>
          <p:txBody>
            <a:bodyPr/>
            <a:lstStyle/>
            <a:p>
              <a:endParaRPr lang="en-US"/>
            </a:p>
          </p:txBody>
        </p:sp>
        <p:sp>
          <p:nvSpPr>
            <p:cNvPr id="15" name="TextBox 15"/>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6" name="Group 16"/>
          <p:cNvGrpSpPr/>
          <p:nvPr/>
        </p:nvGrpSpPr>
        <p:grpSpPr>
          <a:xfrm>
            <a:off x="761729" y="6243643"/>
            <a:ext cx="1384678" cy="1384678"/>
            <a:chOff x="0" y="0"/>
            <a:chExt cx="812800" cy="812800"/>
          </a:xfrm>
        </p:grpSpPr>
        <p:sp>
          <p:nvSpPr>
            <p:cNvPr id="17" name="Freeform 17"/>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151B8">
                    <a:alpha val="100000"/>
                  </a:srgbClr>
                </a:gs>
                <a:gs pos="100000">
                  <a:srgbClr val="0151B8">
                    <a:alpha val="24000"/>
                  </a:srgbClr>
                </a:gs>
              </a:gsLst>
              <a:lin ang="0"/>
            </a:gradFill>
            <a:ln cap="sq">
              <a:noFill/>
              <a:prstDash val="solid"/>
              <a:miter/>
            </a:ln>
          </p:spPr>
          <p:txBody>
            <a:bodyPr/>
            <a:lstStyle/>
            <a:p>
              <a:endParaRPr lang="en-US"/>
            </a:p>
          </p:txBody>
        </p:sp>
        <p:sp>
          <p:nvSpPr>
            <p:cNvPr id="18" name="TextBox 18"/>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19" name="Group 19"/>
          <p:cNvGrpSpPr/>
          <p:nvPr/>
        </p:nvGrpSpPr>
        <p:grpSpPr>
          <a:xfrm>
            <a:off x="15791221" y="2031709"/>
            <a:ext cx="344610" cy="344610"/>
            <a:chOff x="0" y="0"/>
            <a:chExt cx="812800" cy="812800"/>
          </a:xfrm>
        </p:grpSpPr>
        <p:sp>
          <p:nvSpPr>
            <p:cNvPr id="20" name="Freeform 20"/>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151B8">
                    <a:alpha val="100000"/>
                  </a:srgbClr>
                </a:gs>
                <a:gs pos="100000">
                  <a:srgbClr val="0151B8">
                    <a:alpha val="24000"/>
                  </a:srgbClr>
                </a:gs>
              </a:gsLst>
              <a:lin ang="0"/>
            </a:gradFill>
            <a:ln cap="sq">
              <a:noFill/>
              <a:prstDash val="solid"/>
              <a:miter/>
            </a:ln>
          </p:spPr>
          <p:txBody>
            <a:bodyPr/>
            <a:lstStyle/>
            <a:p>
              <a:endParaRPr lang="en-US"/>
            </a:p>
          </p:txBody>
        </p:sp>
        <p:sp>
          <p:nvSpPr>
            <p:cNvPr id="21" name="TextBox 21"/>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grpSp>
        <p:nvGrpSpPr>
          <p:cNvPr id="22" name="Group 22"/>
          <p:cNvGrpSpPr/>
          <p:nvPr/>
        </p:nvGrpSpPr>
        <p:grpSpPr>
          <a:xfrm>
            <a:off x="2363892" y="8024847"/>
            <a:ext cx="344610" cy="344610"/>
            <a:chOff x="0" y="0"/>
            <a:chExt cx="812800" cy="812800"/>
          </a:xfrm>
        </p:grpSpPr>
        <p:sp>
          <p:nvSpPr>
            <p:cNvPr id="23" name="Freeform 23"/>
            <p:cNvSpPr/>
            <p:nvPr/>
          </p:nvSpPr>
          <p:spPr>
            <a:xfrm>
              <a:off x="0" y="0"/>
              <a:ext cx="812800" cy="812800"/>
            </a:xfrm>
            <a:custGeom>
              <a:avLst/>
              <a:gdLst/>
              <a:ahLst/>
              <a:cxnLst/>
              <a:rect l="l" t="t" r="r" b="b"/>
              <a:pathLst>
                <a:path w="812800" h="812800">
                  <a:moveTo>
                    <a:pt x="406400" y="0"/>
                  </a:moveTo>
                  <a:cubicBezTo>
                    <a:pt x="181951" y="0"/>
                    <a:pt x="0" y="181951"/>
                    <a:pt x="0" y="406400"/>
                  </a:cubicBezTo>
                  <a:cubicBezTo>
                    <a:pt x="0" y="630849"/>
                    <a:pt x="181951" y="812800"/>
                    <a:pt x="406400" y="812800"/>
                  </a:cubicBezTo>
                  <a:cubicBezTo>
                    <a:pt x="630849" y="812800"/>
                    <a:pt x="812800" y="630849"/>
                    <a:pt x="812800" y="406400"/>
                  </a:cubicBezTo>
                  <a:cubicBezTo>
                    <a:pt x="812800" y="181951"/>
                    <a:pt x="630849" y="0"/>
                    <a:pt x="406400" y="0"/>
                  </a:cubicBezTo>
                  <a:close/>
                </a:path>
              </a:pathLst>
            </a:custGeom>
            <a:gradFill rotWithShape="1">
              <a:gsLst>
                <a:gs pos="0">
                  <a:srgbClr val="0151B8">
                    <a:alpha val="100000"/>
                  </a:srgbClr>
                </a:gs>
                <a:gs pos="100000">
                  <a:srgbClr val="0151B8">
                    <a:alpha val="24000"/>
                  </a:srgbClr>
                </a:gs>
              </a:gsLst>
              <a:lin ang="0"/>
            </a:gradFill>
            <a:ln cap="sq">
              <a:noFill/>
              <a:prstDash val="solid"/>
              <a:miter/>
            </a:ln>
          </p:spPr>
          <p:txBody>
            <a:bodyPr/>
            <a:lstStyle/>
            <a:p>
              <a:endParaRPr lang="en-US"/>
            </a:p>
          </p:txBody>
        </p:sp>
        <p:sp>
          <p:nvSpPr>
            <p:cNvPr id="24" name="TextBox 24"/>
            <p:cNvSpPr txBox="1"/>
            <p:nvPr/>
          </p:nvSpPr>
          <p:spPr>
            <a:xfrm>
              <a:off x="76200" y="38100"/>
              <a:ext cx="660400" cy="698500"/>
            </a:xfrm>
            <a:prstGeom prst="rect">
              <a:avLst/>
            </a:prstGeom>
          </p:spPr>
          <p:txBody>
            <a:bodyPr lIns="50800" tIns="50800" rIns="50800" bIns="50800" rtlCol="0" anchor="ctr"/>
            <a:lstStyle/>
            <a:p>
              <a:pPr marL="0" lvl="0" indent="0" algn="ctr">
                <a:lnSpc>
                  <a:spcPts val="2659"/>
                </a:lnSpc>
                <a:spcBef>
                  <a:spcPct val="0"/>
                </a:spcBef>
              </a:pPr>
              <a:endParaRPr/>
            </a:p>
          </p:txBody>
        </p:sp>
      </p:grpSp>
      <p:sp>
        <p:nvSpPr>
          <p:cNvPr id="25" name="Freeform 25"/>
          <p:cNvSpPr/>
          <p:nvPr/>
        </p:nvSpPr>
        <p:spPr>
          <a:xfrm>
            <a:off x="15130881" y="4159153"/>
            <a:ext cx="1318426" cy="710241"/>
          </a:xfrm>
          <a:custGeom>
            <a:avLst/>
            <a:gdLst/>
            <a:ahLst/>
            <a:cxnLst/>
            <a:rect l="l" t="t" r="r" b="b"/>
            <a:pathLst>
              <a:path w="1318426" h="710241">
                <a:moveTo>
                  <a:pt x="0" y="0"/>
                </a:moveTo>
                <a:lnTo>
                  <a:pt x="1318426" y="0"/>
                </a:lnTo>
                <a:lnTo>
                  <a:pt x="1318426" y="710240"/>
                </a:lnTo>
                <a:lnTo>
                  <a:pt x="0" y="710240"/>
                </a:lnTo>
                <a:lnTo>
                  <a:pt x="0" y="0"/>
                </a:lnTo>
                <a:close/>
              </a:path>
            </a:pathLst>
          </a:custGeom>
          <a:blipFill>
            <a:blip>
              <a:extLst>
                <a:ext uri="{96DAC541-7B7A-43D3-8B79-37D633B846F1}">
                  <asvg:svgBlip xmlns:asvg="http://schemas.microsoft.com/office/drawing/2016/SVG/main" r:embed="rId2"/>
                </a:ext>
              </a:extLst>
            </a:blip>
            <a:stretch>
              <a:fillRect b="-85630"/>
            </a:stretch>
          </a:blipFill>
        </p:spPr>
        <p:txBody>
          <a:bodyPr/>
          <a:lstStyle/>
          <a:p>
            <a:endParaRPr lang="en-US"/>
          </a:p>
        </p:txBody>
      </p:sp>
      <p:sp>
        <p:nvSpPr>
          <p:cNvPr id="26" name="Freeform 26"/>
          <p:cNvSpPr/>
          <p:nvPr/>
        </p:nvSpPr>
        <p:spPr>
          <a:xfrm>
            <a:off x="1838693" y="4159153"/>
            <a:ext cx="1318426" cy="710241"/>
          </a:xfrm>
          <a:custGeom>
            <a:avLst/>
            <a:gdLst/>
            <a:ahLst/>
            <a:cxnLst/>
            <a:rect l="l" t="t" r="r" b="b"/>
            <a:pathLst>
              <a:path w="1318426" h="710241">
                <a:moveTo>
                  <a:pt x="0" y="0"/>
                </a:moveTo>
                <a:lnTo>
                  <a:pt x="1318426" y="0"/>
                </a:lnTo>
                <a:lnTo>
                  <a:pt x="1318426" y="710240"/>
                </a:lnTo>
                <a:lnTo>
                  <a:pt x="0" y="710240"/>
                </a:lnTo>
                <a:lnTo>
                  <a:pt x="0" y="0"/>
                </a:lnTo>
                <a:close/>
              </a:path>
            </a:pathLst>
          </a:custGeom>
          <a:blipFill>
            <a:blip>
              <a:extLst>
                <a:ext uri="{96DAC541-7B7A-43D3-8B79-37D633B846F1}">
                  <asvg:svgBlip xmlns:asvg="http://schemas.microsoft.com/office/drawing/2016/SVG/main" r:embed="rId2"/>
                </a:ext>
              </a:extLst>
            </a:blip>
            <a:stretch>
              <a:fillRect b="-85630"/>
            </a:stretch>
          </a:blipFill>
        </p:spPr>
        <p:txBody>
          <a:bodyPr/>
          <a:lstStyle/>
          <a:p>
            <a:endParaRPr lang="en-US"/>
          </a:p>
        </p:txBody>
      </p:sp>
      <p:grpSp>
        <p:nvGrpSpPr>
          <p:cNvPr id="27" name="Group 27"/>
          <p:cNvGrpSpPr/>
          <p:nvPr/>
        </p:nvGrpSpPr>
        <p:grpSpPr>
          <a:xfrm>
            <a:off x="349873" y="383749"/>
            <a:ext cx="2568477" cy="740016"/>
            <a:chOff x="0" y="0"/>
            <a:chExt cx="676471" cy="194901"/>
          </a:xfrm>
        </p:grpSpPr>
        <p:sp>
          <p:nvSpPr>
            <p:cNvPr id="28" name="Freeform 28"/>
            <p:cNvSpPr/>
            <p:nvPr/>
          </p:nvSpPr>
          <p:spPr>
            <a:xfrm>
              <a:off x="0" y="0"/>
              <a:ext cx="676471" cy="194901"/>
            </a:xfrm>
            <a:custGeom>
              <a:avLst/>
              <a:gdLst/>
              <a:ahLst/>
              <a:cxnLst/>
              <a:rect l="l" t="t" r="r" b="b"/>
              <a:pathLst>
                <a:path w="676471" h="194901">
                  <a:moveTo>
                    <a:pt x="97451" y="0"/>
                  </a:moveTo>
                  <a:lnTo>
                    <a:pt x="579021" y="0"/>
                  </a:lnTo>
                  <a:cubicBezTo>
                    <a:pt x="604866" y="0"/>
                    <a:pt x="629653" y="10267"/>
                    <a:pt x="647929" y="28543"/>
                  </a:cubicBezTo>
                  <a:cubicBezTo>
                    <a:pt x="666204" y="46818"/>
                    <a:pt x="676471" y="71605"/>
                    <a:pt x="676471" y="97451"/>
                  </a:cubicBezTo>
                  <a:lnTo>
                    <a:pt x="676471" y="97451"/>
                  </a:lnTo>
                  <a:cubicBezTo>
                    <a:pt x="676471" y="151271"/>
                    <a:pt x="632841" y="194901"/>
                    <a:pt x="579021" y="194901"/>
                  </a:cubicBezTo>
                  <a:lnTo>
                    <a:pt x="97451" y="194901"/>
                  </a:lnTo>
                  <a:cubicBezTo>
                    <a:pt x="71605" y="194901"/>
                    <a:pt x="46818" y="184634"/>
                    <a:pt x="28543" y="166359"/>
                  </a:cubicBezTo>
                  <a:cubicBezTo>
                    <a:pt x="10267" y="148083"/>
                    <a:pt x="0" y="123296"/>
                    <a:pt x="0" y="97451"/>
                  </a:cubicBezTo>
                  <a:lnTo>
                    <a:pt x="0" y="97451"/>
                  </a:lnTo>
                  <a:cubicBezTo>
                    <a:pt x="0" y="71605"/>
                    <a:pt x="10267" y="46818"/>
                    <a:pt x="28543" y="28543"/>
                  </a:cubicBezTo>
                  <a:cubicBezTo>
                    <a:pt x="46818" y="10267"/>
                    <a:pt x="71605" y="0"/>
                    <a:pt x="97451" y="0"/>
                  </a:cubicBezTo>
                  <a:close/>
                </a:path>
              </a:pathLst>
            </a:custGeom>
            <a:gradFill rotWithShape="1">
              <a:gsLst>
                <a:gs pos="0">
                  <a:srgbClr val="398DFA">
                    <a:alpha val="60000"/>
                  </a:srgbClr>
                </a:gs>
                <a:gs pos="50000">
                  <a:srgbClr val="0151B8">
                    <a:alpha val="14400"/>
                  </a:srgbClr>
                </a:gs>
                <a:gs pos="100000">
                  <a:srgbClr val="0151B8">
                    <a:alpha val="0"/>
                  </a:srgbClr>
                </a:gs>
              </a:gsLst>
              <a:lin ang="0"/>
            </a:gradFill>
          </p:spPr>
          <p:txBody>
            <a:bodyPr/>
            <a:lstStyle/>
            <a:p>
              <a:endParaRPr lang="en-US"/>
            </a:p>
          </p:txBody>
        </p:sp>
        <p:sp>
          <p:nvSpPr>
            <p:cNvPr id="29" name="TextBox 29"/>
            <p:cNvSpPr txBox="1"/>
            <p:nvPr/>
          </p:nvSpPr>
          <p:spPr>
            <a:xfrm>
              <a:off x="0" y="-38100"/>
              <a:ext cx="676471" cy="233001"/>
            </a:xfrm>
            <a:prstGeom prst="rect">
              <a:avLst/>
            </a:prstGeom>
          </p:spPr>
          <p:txBody>
            <a:bodyPr lIns="50800" tIns="50800" rIns="50800" bIns="50800" rtlCol="0" anchor="ctr"/>
            <a:lstStyle/>
            <a:p>
              <a:pPr algn="ctr">
                <a:lnSpc>
                  <a:spcPts val="2659"/>
                </a:lnSpc>
                <a:spcBef>
                  <a:spcPct val="0"/>
                </a:spcBef>
              </a:pPr>
              <a:endParaRPr/>
            </a:p>
          </p:txBody>
        </p:sp>
      </p:grpSp>
      <p:grpSp>
        <p:nvGrpSpPr>
          <p:cNvPr id="30" name="Group 30"/>
          <p:cNvGrpSpPr/>
          <p:nvPr/>
        </p:nvGrpSpPr>
        <p:grpSpPr>
          <a:xfrm>
            <a:off x="14992289" y="7903458"/>
            <a:ext cx="2568477" cy="740016"/>
            <a:chOff x="0" y="0"/>
            <a:chExt cx="676471" cy="194901"/>
          </a:xfrm>
        </p:grpSpPr>
        <p:sp>
          <p:nvSpPr>
            <p:cNvPr id="31" name="Freeform 31"/>
            <p:cNvSpPr/>
            <p:nvPr/>
          </p:nvSpPr>
          <p:spPr>
            <a:xfrm>
              <a:off x="0" y="0"/>
              <a:ext cx="676471" cy="194901"/>
            </a:xfrm>
            <a:custGeom>
              <a:avLst/>
              <a:gdLst/>
              <a:ahLst/>
              <a:cxnLst/>
              <a:rect l="l" t="t" r="r" b="b"/>
              <a:pathLst>
                <a:path w="676471" h="194901">
                  <a:moveTo>
                    <a:pt x="97451" y="0"/>
                  </a:moveTo>
                  <a:lnTo>
                    <a:pt x="579021" y="0"/>
                  </a:lnTo>
                  <a:cubicBezTo>
                    <a:pt x="604866" y="0"/>
                    <a:pt x="629653" y="10267"/>
                    <a:pt x="647929" y="28543"/>
                  </a:cubicBezTo>
                  <a:cubicBezTo>
                    <a:pt x="666204" y="46818"/>
                    <a:pt x="676471" y="71605"/>
                    <a:pt x="676471" y="97451"/>
                  </a:cubicBezTo>
                  <a:lnTo>
                    <a:pt x="676471" y="97451"/>
                  </a:lnTo>
                  <a:cubicBezTo>
                    <a:pt x="676471" y="151271"/>
                    <a:pt x="632841" y="194901"/>
                    <a:pt x="579021" y="194901"/>
                  </a:cubicBezTo>
                  <a:lnTo>
                    <a:pt x="97451" y="194901"/>
                  </a:lnTo>
                  <a:cubicBezTo>
                    <a:pt x="71605" y="194901"/>
                    <a:pt x="46818" y="184634"/>
                    <a:pt x="28543" y="166359"/>
                  </a:cubicBezTo>
                  <a:cubicBezTo>
                    <a:pt x="10267" y="148083"/>
                    <a:pt x="0" y="123296"/>
                    <a:pt x="0" y="97451"/>
                  </a:cubicBezTo>
                  <a:lnTo>
                    <a:pt x="0" y="97451"/>
                  </a:lnTo>
                  <a:cubicBezTo>
                    <a:pt x="0" y="71605"/>
                    <a:pt x="10267" y="46818"/>
                    <a:pt x="28543" y="28543"/>
                  </a:cubicBezTo>
                  <a:cubicBezTo>
                    <a:pt x="46818" y="10267"/>
                    <a:pt x="71605" y="0"/>
                    <a:pt x="97451" y="0"/>
                  </a:cubicBezTo>
                  <a:close/>
                </a:path>
              </a:pathLst>
            </a:custGeom>
            <a:gradFill rotWithShape="1">
              <a:gsLst>
                <a:gs pos="0">
                  <a:srgbClr val="398DFA">
                    <a:alpha val="60000"/>
                  </a:srgbClr>
                </a:gs>
                <a:gs pos="50000">
                  <a:srgbClr val="0151B8">
                    <a:alpha val="14400"/>
                  </a:srgbClr>
                </a:gs>
                <a:gs pos="100000">
                  <a:srgbClr val="0151B8">
                    <a:alpha val="0"/>
                  </a:srgbClr>
                </a:gs>
              </a:gsLst>
              <a:lin ang="0"/>
            </a:gradFill>
          </p:spPr>
          <p:txBody>
            <a:bodyPr/>
            <a:lstStyle/>
            <a:p>
              <a:endParaRPr lang="en-US"/>
            </a:p>
          </p:txBody>
        </p:sp>
        <p:sp>
          <p:nvSpPr>
            <p:cNvPr id="32" name="TextBox 32"/>
            <p:cNvSpPr txBox="1"/>
            <p:nvPr/>
          </p:nvSpPr>
          <p:spPr>
            <a:xfrm>
              <a:off x="0" y="-38100"/>
              <a:ext cx="676471" cy="233001"/>
            </a:xfrm>
            <a:prstGeom prst="rect">
              <a:avLst/>
            </a:prstGeom>
          </p:spPr>
          <p:txBody>
            <a:bodyPr lIns="50800" tIns="50800" rIns="50800" bIns="50800" rtlCol="0" anchor="ctr"/>
            <a:lstStyle/>
            <a:p>
              <a:pPr algn="ctr">
                <a:lnSpc>
                  <a:spcPts val="2659"/>
                </a:lnSpc>
                <a:spcBef>
                  <a:spcPct val="0"/>
                </a:spcBef>
              </a:pPr>
              <a:endParaRPr/>
            </a:p>
          </p:txBody>
        </p:sp>
      </p:grpSp>
      <p:grpSp>
        <p:nvGrpSpPr>
          <p:cNvPr id="33" name="Group 33"/>
          <p:cNvGrpSpPr/>
          <p:nvPr/>
        </p:nvGrpSpPr>
        <p:grpSpPr>
          <a:xfrm>
            <a:off x="-115063" y="9461658"/>
            <a:ext cx="18518127" cy="798211"/>
            <a:chOff x="0" y="0"/>
            <a:chExt cx="4877202" cy="210228"/>
          </a:xfrm>
        </p:grpSpPr>
        <p:sp>
          <p:nvSpPr>
            <p:cNvPr id="34" name="Freeform 34"/>
            <p:cNvSpPr/>
            <p:nvPr/>
          </p:nvSpPr>
          <p:spPr>
            <a:xfrm>
              <a:off x="0" y="0"/>
              <a:ext cx="4877202" cy="210228"/>
            </a:xfrm>
            <a:custGeom>
              <a:avLst/>
              <a:gdLst/>
              <a:ahLst/>
              <a:cxnLst/>
              <a:rect l="l" t="t" r="r" b="b"/>
              <a:pathLst>
                <a:path w="4877202" h="210228">
                  <a:moveTo>
                    <a:pt x="0" y="0"/>
                  </a:moveTo>
                  <a:lnTo>
                    <a:pt x="4877202" y="0"/>
                  </a:lnTo>
                  <a:lnTo>
                    <a:pt x="4877202" y="210228"/>
                  </a:lnTo>
                  <a:lnTo>
                    <a:pt x="0" y="210228"/>
                  </a:lnTo>
                  <a:close/>
                </a:path>
              </a:pathLst>
            </a:custGeom>
            <a:gradFill rotWithShape="1">
              <a:gsLst>
                <a:gs pos="0">
                  <a:srgbClr val="0453B9">
                    <a:alpha val="100000"/>
                  </a:srgbClr>
                </a:gs>
                <a:gs pos="100000">
                  <a:srgbClr val="3881DF">
                    <a:alpha val="100000"/>
                  </a:srgbClr>
                </a:gs>
              </a:gsLst>
              <a:lin ang="2700000"/>
            </a:gradFill>
          </p:spPr>
          <p:txBody>
            <a:bodyPr/>
            <a:lstStyle/>
            <a:p>
              <a:endParaRPr lang="en-US"/>
            </a:p>
          </p:txBody>
        </p:sp>
        <p:sp>
          <p:nvSpPr>
            <p:cNvPr id="35" name="TextBox 35"/>
            <p:cNvSpPr txBox="1"/>
            <p:nvPr/>
          </p:nvSpPr>
          <p:spPr>
            <a:xfrm>
              <a:off x="0" y="-66675"/>
              <a:ext cx="4877202" cy="276903"/>
            </a:xfrm>
            <a:prstGeom prst="rect">
              <a:avLst/>
            </a:prstGeom>
          </p:spPr>
          <p:txBody>
            <a:bodyPr lIns="50800" tIns="50800" rIns="50800" bIns="50800" rtlCol="0" anchor="ctr"/>
            <a:lstStyle/>
            <a:p>
              <a:pPr algn="ctr">
                <a:lnSpc>
                  <a:spcPts val="3020"/>
                </a:lnSpc>
              </a:pPr>
              <a:endParaRPr/>
            </a:p>
          </p:txBody>
        </p:sp>
      </p:grpSp>
      <p:sp>
        <p:nvSpPr>
          <p:cNvPr id="37" name="Slide Number Placeholder 36">
            <a:extLst>
              <a:ext uri="{FF2B5EF4-FFF2-40B4-BE49-F238E27FC236}">
                <a16:creationId xmlns:a16="http://schemas.microsoft.com/office/drawing/2014/main" id="{25B16561-8524-9CA5-A236-1F466AB94FE2}"/>
              </a:ext>
            </a:extLst>
          </p:cNvPr>
          <p:cNvSpPr>
            <a:spLocks noGrp="1"/>
          </p:cNvSpPr>
          <p:nvPr>
            <p:ph type="sldNum" sz="quarter" idx="12"/>
          </p:nvPr>
        </p:nvSpPr>
        <p:spPr/>
        <p:txBody>
          <a:bodyPr/>
          <a:lstStyle/>
          <a:p>
            <a:fld id="{B6F15528-21DE-4FAA-801E-634DDDAF4B2B}" type="slidenum">
              <a:rPr lang="en-US" smtClean="0"/>
              <a:pPr/>
              <a:t>18</a:t>
            </a:fld>
            <a:endParaRPr lang="en-US"/>
          </a:p>
        </p:txBody>
      </p:sp>
    </p:spTree>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2000">
        <p15:prstTrans prst="fallOver"/>
      </p:transition>
    </mc:Choice>
    <mc:Fallback>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412</TotalTime>
  <Words>3661</Words>
  <Application>Microsoft Office PowerPoint</Application>
  <PresentationFormat>Custom</PresentationFormat>
  <Paragraphs>297</Paragraphs>
  <Slides>18</Slides>
  <Notes>15</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18</vt:i4>
      </vt:variant>
    </vt:vector>
  </HeadingPairs>
  <TitlesOfParts>
    <vt:vector size="27" baseType="lpstr">
      <vt:lpstr>Calibri</vt:lpstr>
      <vt:lpstr>Poppins</vt:lpstr>
      <vt:lpstr>Poppins Medium</vt:lpstr>
      <vt:lpstr>Wingdings</vt:lpstr>
      <vt:lpstr>Aileron Bold</vt:lpstr>
      <vt:lpstr>Poppins Bold</vt:lpstr>
      <vt:lpstr>Aptos</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8 June 2026</dc:title>
  <cp:lastModifiedBy>Nguyễn Văn Hoàng Anh 24021372</cp:lastModifiedBy>
  <cp:revision>21</cp:revision>
  <dcterms:created xsi:type="dcterms:W3CDTF">2006-08-16T00:00:00Z</dcterms:created>
  <dcterms:modified xsi:type="dcterms:W3CDTF">2026-06-08T09:21:47Z</dcterms:modified>
  <dc:identifier>DAHLgQwGTVU</dc:identifier>
</cp:coreProperties>
</file>